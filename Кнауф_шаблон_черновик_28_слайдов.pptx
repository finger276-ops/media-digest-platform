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2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3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notesSlides/notesSlide2.xml" ContentType="application/vnd.openxmlformats-officedocument.presentationml.notesSlide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notesSlides/notesSlide3.xml" ContentType="application/vnd.openxmlformats-officedocument.presentationml.notesSlide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notesSlides/notesSlide4.xml" ContentType="application/vnd.openxmlformats-officedocument.presentationml.notesSlide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notesSlides/notesSlide5.xml" ContentType="application/vnd.openxmlformats-officedocument.presentationml.notesSlide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3"/>
  </p:notesMasterIdLst>
  <p:sldIdLst>
    <p:sldId id="1470" r:id="rId2"/>
    <p:sldId id="2112" r:id="rId4"/>
    <p:sldId id="1931" r:id="rId11"/>
    <p:sldId id="1916" r:id="rId12"/>
    <p:sldId id="1725" r:id="rId13"/>
    <p:sldId id="2153" r:id="rId14"/>
    <p:sldId id="2117" r:id="rId15"/>
    <p:sldId id="1835" r:id="rId16"/>
    <p:sldId id="2119" r:id="rId17"/>
    <p:sldId id="1777" r:id="rId18"/>
    <p:sldId id="2124" r:id="rId19"/>
    <p:sldId id="2120" r:id="rId20"/>
    <p:sldId id="1932" r:id="rId21"/>
    <p:sldId id="2121" r:id="rId22"/>
    <p:sldId id="1769" r:id="rId23"/>
    <p:sldId id="2091" r:id="rId24"/>
    <p:sldId id="2123" r:id="rId25"/>
    <p:sldId id="2154" r:id="rId26"/>
    <p:sldId id="2092" r:id="rId27"/>
    <p:sldId id="2126" r:id="rId33"/>
    <p:sldId id="2132" r:id="rId40"/>
    <p:sldId id="2129" r:id="rId41"/>
    <p:sldId id="2097" r:id="rId44"/>
    <p:sldId id="2184" r:id="rId51"/>
    <p:sldId id="2137" r:id="rId52"/>
    <p:sldId id="2146" r:id="rId60"/>
    <p:sldId id="1821" r:id="rId61"/>
    <p:sldId id="1822" r:id="rId62"/>
  </p:sldIdLst>
  <p:sldSz cx="24377650" cy="13716000"/>
  <p:notesSz cx="6858000" cy="9144000"/>
  <p:defaultTextStyle>
    <a:defPPr>
      <a:defRPr lang="en-US"/>
    </a:defPPr>
    <a:lvl1pPr marL="0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217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434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2651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6868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1086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5303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399520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3737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405B803B-4CF2-45A6-BE75-CF1404B04CE2}">
          <p14:sldIdLst>
            <p14:sldId id="1470"/>
            <p14:sldId id="1906"/>
            <p14:sldId id="2112"/>
          </p14:sldIdLst>
        </p14:section>
        <p14:section name="Отзывы" id="{4AB69172-A6C9-446E-B797-9FF01EEC6B3D}">
          <p14:sldIdLst>
            <p14:sldId id="1912"/>
            <p14:sldId id="1928"/>
            <p14:sldId id="2115"/>
            <p14:sldId id="2114"/>
            <p14:sldId id="2192"/>
            <p14:sldId id="2259"/>
          </p14:sldIdLst>
        </p14:section>
        <p14:section name="Мониторинг" id="{C18AF823-A3BD-4DBE-97FE-DED1F7EC3C6A}">
          <p14:sldIdLst>
            <p14:sldId id="1931"/>
            <p14:sldId id="1916"/>
            <p14:sldId id="1725"/>
            <p14:sldId id="2153"/>
            <p14:sldId id="2117"/>
            <p14:sldId id="1835"/>
            <p14:sldId id="2119"/>
            <p14:sldId id="1777"/>
            <p14:sldId id="2124"/>
            <p14:sldId id="2120"/>
            <p14:sldId id="1932"/>
            <p14:sldId id="2121"/>
            <p14:sldId id="1769"/>
            <p14:sldId id="2091"/>
            <p14:sldId id="2123"/>
            <p14:sldId id="2154"/>
            <p14:sldId id="2092"/>
            <p14:sldId id="2130"/>
            <p14:sldId id="2250"/>
            <p14:sldId id="2261"/>
            <p14:sldId id="2269"/>
            <p14:sldId id="2270"/>
            <p14:sldId id="2126"/>
            <p14:sldId id="2131"/>
            <p14:sldId id="2241"/>
            <p14:sldId id="2271"/>
            <p14:sldId id="2272"/>
            <p14:sldId id="2273"/>
            <p14:sldId id="2274"/>
            <p14:sldId id="2132"/>
            <p14:sldId id="2129"/>
            <p14:sldId id="2133"/>
            <p14:sldId id="2264"/>
            <p14:sldId id="2097"/>
            <p14:sldId id="2178"/>
            <p14:sldId id="2134"/>
            <p14:sldId id="2220"/>
            <p14:sldId id="2257"/>
            <p14:sldId id="2266"/>
            <p14:sldId id="2275"/>
            <p14:sldId id="2184"/>
            <p14:sldId id="2137"/>
            <p14:sldId id="2188"/>
            <p14:sldId id="2276"/>
            <p14:sldId id="1940"/>
            <p14:sldId id="2190"/>
            <p14:sldId id="2185"/>
            <p14:sldId id="2186"/>
            <p14:sldId id="2191"/>
          </p14:sldIdLst>
        </p14:section>
        <p14:section name="Заключение" id="{9BB49FE5-55A6-4AE8-8750-99D77A837381}">
          <p14:sldIdLst>
            <p14:sldId id="2146"/>
            <p14:sldId id="1821"/>
            <p14:sldId id="1822"/>
          </p14:sldIdLst>
        </p14:section>
      </p14:sectionLst>
    </p:ext>
    <p:ext uri="{EFAFB233-063F-42B5-8137-9DF3F51BA10A}">
      <p15:sldGuideLst xmlns="" xmlns:p15="http://schemas.microsoft.com/office/powerpoint/2012/main">
        <p15:guide id="1" orient="horz" pos="8108" userDrawn="1">
          <p15:clr>
            <a:srgbClr val="A4A3A4"/>
          </p15:clr>
        </p15:guide>
        <p15:guide id="3" orient="horz" pos="504" userDrawn="1">
          <p15:clr>
            <a:srgbClr val="A4A3A4"/>
          </p15:clr>
        </p15:guide>
        <p15:guide id="4" pos="14232" userDrawn="1">
          <p15:clr>
            <a:srgbClr val="A4A3A4"/>
          </p15:clr>
        </p15:guide>
        <p15:guide id="5" pos="1318" userDrawn="1">
          <p15:clr>
            <a:srgbClr val="A4A3A4"/>
          </p15:clr>
        </p15:guide>
        <p15:guide id="6" pos="14207">
          <p15:clr>
            <a:srgbClr val="A4A3A4"/>
          </p15:clr>
        </p15:guide>
        <p15:guide id="7" pos="14216">
          <p15:clr>
            <a:srgbClr val="A4A3A4"/>
          </p15:clr>
        </p15:guide>
        <p15:guide id="8" pos="14264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BB62B"/>
    <a:srgbClr val="FBC81F"/>
    <a:srgbClr val="B78B02"/>
    <a:srgbClr val="000099"/>
    <a:srgbClr val="364D65"/>
    <a:srgbClr val="2C4054"/>
    <a:srgbClr val="19232E"/>
    <a:srgbClr val="2F2F2F"/>
    <a:srgbClr val="4454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18" autoAdjust="0"/>
    <p:restoredTop sz="99037" autoAdjust="0"/>
  </p:normalViewPr>
  <p:slideViewPr>
    <p:cSldViewPr snapToGrid="0" snapToObjects="1">
      <p:cViewPr>
        <p:scale>
          <a:sx n="47" d="100"/>
          <a:sy n="47" d="100"/>
        </p:scale>
        <p:origin x="-518" y="-206"/>
      </p:cViewPr>
      <p:guideLst>
        <p:guide orient="horz" pos="8108"/>
        <p:guide orient="horz" pos="504"/>
        <p:guide pos="14232"/>
        <p:guide pos="1318"/>
        <p:guide pos="14207"/>
        <p:guide pos="14216"/>
        <p:guide pos="14264"/>
      </p:guideLst>
    </p:cSldViewPr>
  </p:slideViewPr>
  <p:outlineViewPr>
    <p:cViewPr>
      <p:scale>
        <a:sx n="33" d="100"/>
        <a:sy n="33" d="100"/>
      </p:scale>
      <p:origin x="0" y="457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napToGrid="0" snapToObjects="1" showGuides="1">
      <p:cViewPr varScale="1">
        <p:scale>
          <a:sx n="76" d="100"/>
          <a:sy n="76" d="100"/>
        </p:scale>
        <p:origin x="-2923" y="-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6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66" Type="http://schemas.openxmlformats.org/officeDocument/2006/relationships/theme" Target="theme/theme1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64" Type="http://schemas.openxmlformats.org/officeDocument/2006/relationships/presProps" Target="presProps.xml"/><Relationship Id="rId51" Type="http://schemas.openxmlformats.org/officeDocument/2006/relationships/slide" Target="slides/slide50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Olga\Desktop\&#1042;&#1041;&#1091;&#1089;&#1090;&#1077;&#1088;\&#1055;&#1088;&#1086;&#1077;&#1082;&#1090;&#1099;\&#1056;&#1059;&#1060;&#1051;&#1045;&#1050;&#1057;\&#1054;&#1090;&#1095;&#1077;&#1090;\2026\&#1043;&#1088;&#1072;&#1092;&#1080;&#1082;&#1080;_&#1056;&#1059;&#1060;&#1051;&#1045;&#1050;&#1057;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Olga\Desktop\&#1042;&#1041;&#1091;&#1089;&#1090;&#1077;&#1088;\&#1055;&#1088;&#1086;&#1077;&#1082;&#1090;&#1099;\&#1056;&#1059;&#1060;&#1051;&#1045;&#1050;&#1057;\&#1054;&#1090;&#1095;&#1077;&#1090;\2026\&#1043;&#1088;&#1072;&#1092;&#1080;&#1082;&#1080;_&#1056;&#1059;&#1060;&#1051;&#1045;&#1050;&#1057;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Olga\Desktop\&#1042;&#1041;&#1091;&#1089;&#1090;&#1077;&#1088;\&#1055;&#1088;&#1086;&#1077;&#1082;&#1090;&#1099;\&#1056;&#1059;&#1060;&#1051;&#1045;&#1050;&#1057;\&#1054;&#1090;&#1095;&#1077;&#1090;\2026\&#1043;&#1088;&#1072;&#1092;&#1080;&#1082;&#1080;_&#1056;&#1059;&#1060;&#1051;&#1045;&#1050;&#1057;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Olga\Desktop\&#1042;&#1041;&#1091;&#1089;&#1090;&#1077;&#1088;\&#1055;&#1088;&#1086;&#1077;&#1082;&#1090;&#1099;\&#1056;&#1059;&#1060;&#1051;&#1045;&#1050;&#1057;\&#1054;&#1090;&#1095;&#1077;&#1090;\2026\&#1043;&#1088;&#1072;&#1092;&#1080;&#1082;&#1080;_&#1056;&#1059;&#1060;&#1051;&#1045;&#1050;&#1057;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Olga\Desktop\&#1042;&#1041;&#1091;&#1089;&#1090;&#1077;&#1088;\&#1055;&#1088;&#1086;&#1077;&#1082;&#1090;&#1099;\&#1056;&#1059;&#1060;&#1051;&#1045;&#1050;&#1057;\&#1054;&#1090;&#1095;&#1077;&#1090;\2026\&#1043;&#1088;&#1072;&#1092;&#1080;&#1082;&#1080;_&#1056;&#1059;&#1060;&#1051;&#1045;&#1050;&#1057;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Olga\Desktop\&#1042;&#1041;&#1091;&#1089;&#1090;&#1077;&#1088;\&#1055;&#1088;&#1086;&#1077;&#1082;&#1090;&#1099;\&#1056;&#1059;&#1060;&#1051;&#1045;&#1050;&#1057;\&#1054;&#1090;&#1095;&#1077;&#1090;\2026\&#1043;&#1088;&#1072;&#1092;&#1080;&#1082;&#1080;_&#1056;&#1059;&#1060;&#1051;&#1045;&#1050;&#1057;.xlsx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Olga\Desktop\&#1042;&#1041;&#1091;&#1089;&#1090;&#1077;&#1088;\&#1055;&#1088;&#1086;&#1077;&#1082;&#1090;&#1099;\&#1056;&#1059;&#1060;&#1051;&#1045;&#1050;&#1057;\&#1054;&#1090;&#1095;&#1077;&#1090;\2026\&#1043;&#1088;&#1072;&#1092;&#1080;&#1082;&#1080;_&#1056;&#1059;&#1060;&#1051;&#1045;&#1050;&#1057;.xlsx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Olga\Desktop\&#1042;&#1041;&#1091;&#1089;&#1090;&#1077;&#1088;\&#1055;&#1088;&#1086;&#1077;&#1082;&#1090;&#1099;\&#1056;&#1059;&#1060;&#1051;&#1045;&#1050;&#1057;\&#1054;&#1090;&#1095;&#1077;&#1090;\2026\&#1043;&#1088;&#1072;&#1092;&#1080;&#1082;&#1080;_&#1056;&#1059;&#1060;&#1051;&#1045;&#1050;&#1057;.xlsx" TargetMode="Externa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Olga\Desktop\&#1042;&#1041;&#1091;&#1089;&#1090;&#1077;&#1088;\&#1055;&#1088;&#1086;&#1077;&#1082;&#1090;&#1099;\&#1056;&#1059;&#1060;&#1051;&#1045;&#1050;&#1057;\&#1054;&#1090;&#1095;&#1077;&#1090;\2026\&#1043;&#1088;&#1072;&#1092;&#1080;&#1082;&#1080;_&#1056;&#1059;&#1060;&#1051;&#1045;&#1050;&#1057;.xlsx" TargetMode="Externa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Olga\Desktop\&#1042;&#1041;&#1091;&#1089;&#1090;&#1077;&#1088;\&#1055;&#1088;&#1086;&#1077;&#1082;&#1090;&#1099;\&#1056;&#1059;&#1060;&#1051;&#1045;&#1050;&#1057;\&#1054;&#1090;&#1095;&#1077;&#1090;\2026\&#1043;&#1088;&#1072;&#1092;&#1080;&#1082;&#1080;_&#1056;&#1059;&#1060;&#1051;&#1045;&#1050;&#1057;.xlsx" TargetMode="Externa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Olga\Desktop\&#1042;&#1041;&#1091;&#1089;&#1090;&#1077;&#1088;\&#1055;&#1088;&#1086;&#1077;&#1082;&#1090;&#1099;\&#1056;&#1059;&#1060;&#1051;&#1045;&#1050;&#1057;\&#1054;&#1090;&#1095;&#1077;&#1090;\2026\&#1043;&#1088;&#1072;&#1092;&#1080;&#1082;&#1080;_&#1056;&#1059;&#1060;&#1051;&#1045;&#1050;&#1057;.xlsx" TargetMode="Externa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Olga\Desktop\&#1042;&#1041;&#1091;&#1089;&#1090;&#1077;&#1088;\&#1055;&#1088;&#1086;&#1077;&#1082;&#1090;&#1099;\&#1056;&#1059;&#1060;&#1051;&#1045;&#1050;&#1057;\&#1054;&#1090;&#1095;&#1077;&#1090;\2026\&#1043;&#1088;&#1072;&#1092;&#1080;&#1082;&#1080;_&#1056;&#1059;&#1060;&#1051;&#1045;&#1050;&#1057;.xlsx" TargetMode="External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Olga\Desktop\&#1042;&#1041;&#1091;&#1089;&#1090;&#1077;&#1088;\&#1055;&#1088;&#1086;&#1077;&#1082;&#1090;&#1099;\&#1056;&#1059;&#1060;&#1051;&#1045;&#1050;&#1057;\&#1054;&#1090;&#1095;&#1077;&#1090;\2026\&#1043;&#1088;&#1072;&#1092;&#1080;&#1082;&#1080;_&#1056;&#1059;&#1060;&#1051;&#1045;&#1050;&#1057;.xlsx" TargetMode="External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Olga\Desktop\&#1042;&#1041;&#1091;&#1089;&#1090;&#1077;&#1088;\&#1055;&#1088;&#1086;&#1077;&#1082;&#1090;&#1099;\&#1056;&#1059;&#1060;&#1051;&#1045;&#1050;&#1057;\&#1054;&#1090;&#1095;&#1077;&#1090;\2026\&#1043;&#1088;&#1072;&#1092;&#1080;&#1082;&#1080;_&#1056;&#1059;&#1060;&#1051;&#1045;&#1050;&#1057;.xlsx" TargetMode="External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Olga\Desktop\&#1042;&#1041;&#1091;&#1089;&#1090;&#1077;&#1088;\&#1055;&#1088;&#1086;&#1077;&#1082;&#1090;&#1099;\&#1056;&#1059;&#1060;&#1051;&#1045;&#1050;&#1057;\&#1054;&#1090;&#1095;&#1077;&#1090;\2026\&#1043;&#1088;&#1072;&#1092;&#1080;&#1082;&#1080;_&#1056;&#1059;&#1060;&#1051;&#1045;&#1050;&#1057;.xlsx" TargetMode="External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Olga\Desktop\&#1042;&#1041;&#1091;&#1089;&#1090;&#1077;&#1088;\&#1055;&#1088;&#1086;&#1077;&#1082;&#1090;&#1099;\&#1056;&#1059;&#1060;&#1051;&#1045;&#1050;&#1057;\&#1054;&#1090;&#1095;&#1077;&#1090;\2026\&#1043;&#1088;&#1072;&#1092;&#1080;&#1082;&#1080;_&#1056;&#1059;&#1060;&#1051;&#1045;&#1050;&#1057;.xlsx" TargetMode="External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Olga\Desktop\&#1042;&#1041;&#1091;&#1089;&#1090;&#1077;&#1088;\&#1055;&#1088;&#1086;&#1077;&#1082;&#1090;&#1099;\&#1056;&#1059;&#1060;&#1051;&#1045;&#1050;&#1057;\&#1054;&#1090;&#1095;&#1077;&#1090;\2026\&#1043;&#1088;&#1072;&#1092;&#1080;&#1082;&#1080;_&#1056;&#1059;&#1060;&#1051;&#1045;&#1050;&#1057;.xlsx" TargetMode="External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Olga\Desktop\&#1042;&#1041;&#1091;&#1089;&#1090;&#1077;&#1088;\&#1055;&#1088;&#1086;&#1077;&#1082;&#1090;&#1099;\&#1056;&#1059;&#1060;&#1051;&#1045;&#1050;&#1057;\&#1054;&#1090;&#1095;&#1077;&#1090;\2026\&#1043;&#1088;&#1072;&#1092;&#1080;&#1082;&#1080;_&#1056;&#1059;&#1060;&#1051;&#1045;&#1050;&#1057;.xlsx" TargetMode="External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Olga\Desktop\&#1042;&#1041;&#1091;&#1089;&#1090;&#1077;&#1088;\&#1055;&#1088;&#1086;&#1077;&#1082;&#1090;&#1099;\&#1056;&#1059;&#1060;&#1051;&#1045;&#1050;&#1057;\&#1054;&#1090;&#1095;&#1077;&#1090;\2026\&#1043;&#1088;&#1072;&#1092;&#1080;&#1082;&#1080;_&#1056;&#1059;&#1060;&#1051;&#1045;&#1050;&#1057;.xlsx" TargetMode="External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Olga\Desktop\&#1042;&#1041;&#1091;&#1089;&#1090;&#1077;&#1088;\&#1055;&#1088;&#1086;&#1077;&#1082;&#1090;&#1099;\&#1056;&#1059;&#1060;&#1051;&#1045;&#1050;&#1057;\&#1054;&#1090;&#1095;&#1077;&#1090;\2026\&#1043;&#1088;&#1072;&#1092;&#1080;&#1082;&#1080;_&#1056;&#1059;&#1060;&#1051;&#1045;&#1050;&#1057;.xlsx" TargetMode="External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Olga\Desktop\&#1042;&#1041;&#1091;&#1089;&#1090;&#1077;&#1088;\&#1055;&#1088;&#1086;&#1077;&#1082;&#1090;&#1099;\&#1056;&#1059;&#1060;&#1051;&#1045;&#1050;&#1057;\&#1054;&#1090;&#1095;&#1077;&#1090;\2026\&#1043;&#1088;&#1072;&#1092;&#1080;&#1082;&#1080;_&#1056;&#1059;&#1060;&#1051;&#1045;&#1050;&#1057;.xlsx" TargetMode="External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Olga\Desktop\&#1042;&#1041;&#1091;&#1089;&#1090;&#1077;&#1088;\&#1055;&#1088;&#1086;&#1077;&#1082;&#1090;&#1099;\&#1056;&#1059;&#1060;&#1051;&#1045;&#1050;&#1057;\&#1054;&#1090;&#1095;&#1077;&#1090;\2026\&#1043;&#1088;&#1072;&#1092;&#1080;&#1082;&#1080;_&#1056;&#1059;&#1060;&#1051;&#1045;&#1050;&#1057;.xlsx" TargetMode="External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Olga\Desktop\&#1042;&#1041;&#1091;&#1089;&#1090;&#1077;&#1088;\&#1055;&#1088;&#1086;&#1077;&#1082;&#1090;&#1099;\&#1056;&#1059;&#1060;&#1051;&#1045;&#1050;&#1057;\&#1054;&#1090;&#1095;&#1077;&#1090;\2026\&#1043;&#1088;&#1072;&#1092;&#1080;&#1082;&#1080;_&#1056;&#1059;&#1060;&#1051;&#1045;&#1050;&#1057;.xlsx" TargetMode="External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Olga\Desktop\&#1042;&#1041;&#1091;&#1089;&#1090;&#1077;&#1088;\&#1055;&#1088;&#1086;&#1077;&#1082;&#1090;&#1099;\&#1056;&#1059;&#1060;&#1051;&#1045;&#1050;&#1057;\&#1054;&#1090;&#1095;&#1077;&#1090;\2026\&#1043;&#1088;&#1072;&#1092;&#1080;&#1082;&#1080;_&#1056;&#1059;&#1060;&#1051;&#1045;&#1050;&#1057;.xlsx" TargetMode="External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Olga\Desktop\&#1042;&#1041;&#1091;&#1089;&#1090;&#1077;&#1088;\&#1055;&#1088;&#1086;&#1077;&#1082;&#1090;&#1099;\&#1056;&#1059;&#1060;&#1051;&#1045;&#1050;&#1057;\&#1054;&#1090;&#1095;&#1077;&#1090;\2026\&#1043;&#1088;&#1072;&#1092;&#1080;&#1082;&#1080;_&#1056;&#1059;&#1060;&#1051;&#1045;&#1050;&#1057;.xlsx" TargetMode="External"/></Relationships>
</file>

<file path=ppt/charts/_rels/chart2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Olga\Desktop\&#1042;&#1041;&#1091;&#1089;&#1090;&#1077;&#1088;\&#1055;&#1088;&#1086;&#1077;&#1082;&#1090;&#1099;\&#1056;&#1059;&#1060;&#1051;&#1045;&#1050;&#1057;\&#1054;&#1090;&#1095;&#1077;&#1090;\2026\&#1043;&#1088;&#1072;&#1092;&#1080;&#1082;&#1080;_&#1056;&#1059;&#1060;&#1051;&#1045;&#1050;&#1057;.xlsx" TargetMode="External"/></Relationships>
</file>

<file path=ppt/charts/_rels/chart2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Olga\Desktop\&#1042;&#1041;&#1091;&#1089;&#1090;&#1077;&#1088;\&#1055;&#1088;&#1086;&#1077;&#1082;&#1090;&#1099;\&#1056;&#1059;&#1060;&#1051;&#1045;&#1050;&#1057;\&#1054;&#1090;&#1095;&#1077;&#1090;\2026\&#1043;&#1088;&#1072;&#1092;&#1080;&#1082;&#1080;_&#1056;&#1059;&#1060;&#1051;&#1045;&#1050;&#1057;.xlsx" TargetMode="External"/></Relationships>
</file>

<file path=ppt/charts/_rels/chart28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Olga\Desktop\&#1042;&#1041;&#1091;&#1089;&#1090;&#1077;&#1088;\&#1055;&#1088;&#1086;&#1077;&#1082;&#1090;&#1099;\&#1056;&#1059;&#1060;&#1051;&#1045;&#1050;&#1057;\&#1054;&#1090;&#1095;&#1077;&#1090;\2026\&#1043;&#1088;&#1072;&#1092;&#1080;&#1082;&#1080;_&#1056;&#1059;&#1060;&#1051;&#1045;&#1050;&#1057;.xlsx" TargetMode="External"/></Relationships>
</file>

<file path=ppt/charts/_rels/chart29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Olga\Desktop\&#1042;&#1041;&#1091;&#1089;&#1090;&#1077;&#1088;\&#1055;&#1088;&#1086;&#1077;&#1082;&#1090;&#1099;\&#1056;&#1059;&#1060;&#1051;&#1045;&#1050;&#1057;\&#1054;&#1090;&#1095;&#1077;&#1090;\2026\&#1043;&#1088;&#1072;&#1092;&#1080;&#1082;&#1080;_&#1056;&#1059;&#1060;&#1051;&#1045;&#1050;&#1057;.xlsx" TargetMode="External"/></Relationships>
</file>

<file path=ppt/charts/_rels/chart30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Olga\Desktop\&#1042;&#1041;&#1091;&#1089;&#1090;&#1077;&#1088;\&#1055;&#1088;&#1086;&#1077;&#1082;&#1090;&#1099;\&#1056;&#1059;&#1060;&#1051;&#1045;&#1050;&#1057;\&#1054;&#1090;&#1095;&#1077;&#1090;\2026\&#1043;&#1088;&#1072;&#1092;&#1080;&#1082;&#1080;_&#1056;&#1059;&#1060;&#1051;&#1045;&#1050;&#1057;.xlsx" TargetMode="External"/></Relationships>
</file>

<file path=ppt/charts/_rels/chart3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Olga\Desktop\&#1042;&#1041;&#1091;&#1089;&#1090;&#1077;&#1088;\&#1055;&#1088;&#1086;&#1077;&#1082;&#1090;&#1099;\&#1056;&#1059;&#1060;&#1051;&#1045;&#1050;&#1057;\&#1054;&#1090;&#1095;&#1077;&#1090;\2026\&#1043;&#1088;&#1072;&#1092;&#1080;&#1082;&#1080;_&#1056;&#1059;&#1060;&#1051;&#1045;&#1050;&#1057;.xlsx" TargetMode="External"/></Relationships>
</file>

<file path=ppt/charts/_rels/chart3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Olga\Desktop\&#1042;&#1041;&#1091;&#1089;&#1090;&#1077;&#1088;\&#1055;&#1088;&#1086;&#1077;&#1082;&#1090;&#1099;\&#1056;&#1059;&#1060;&#1051;&#1045;&#1050;&#1057;\&#1054;&#1090;&#1095;&#1077;&#1090;\2026\&#1043;&#1088;&#1072;&#1092;&#1080;&#1082;&#1080;_&#1056;&#1059;&#1060;&#1051;&#1045;&#1050;&#1057;.xlsx" TargetMode="External"/></Relationships>
</file>

<file path=ppt/charts/_rels/chart3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Olga\Desktop\&#1042;&#1041;&#1091;&#1089;&#1090;&#1077;&#1088;\&#1055;&#1088;&#1086;&#1077;&#1082;&#1090;&#1099;\&#1056;&#1059;&#1060;&#1051;&#1045;&#1050;&#1057;\&#1054;&#1090;&#1095;&#1077;&#1090;\2026\&#1043;&#1088;&#1072;&#1092;&#1080;&#1082;&#1080;_&#1056;&#1059;&#1060;&#1051;&#1045;&#1050;&#1057;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ru-RU"/>
              <a:t>Доли упоминаний по брендам</a:t>
            </a:r>
          </a:p>
        </c:rich>
      </c:tx>
      <c:layout>
        <c:manualLayout>
          <c:xMode val="edge"/>
          <c:yMode val="edge"/>
          <c:x val="0.25149921459761931"/>
          <c:y val="2.3914798388962738E-2"/>
        </c:manualLayout>
      </c:layout>
      <c:overlay val="0"/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rgbClr val="FF0000"/>
              </a:solidFill>
            </c:spPr>
          </c:dPt>
          <c:dPt>
            <c:idx val="1"/>
            <c:bubble3D val="0"/>
            <c:spPr>
              <a:solidFill>
                <a:srgbClr val="0070C0"/>
              </a:solidFill>
            </c:spPr>
          </c:dPt>
          <c:dPt>
            <c:idx val="2"/>
            <c:bubble3D val="0"/>
            <c:spPr>
              <a:solidFill>
                <a:schemeClr val="accent1"/>
              </a:solidFill>
            </c:spPr>
          </c:dPt>
          <c:dPt>
            <c:idx val="3"/>
            <c:bubble3D val="0"/>
            <c:spPr>
              <a:solidFill>
                <a:schemeClr val="accent3"/>
              </a:solidFill>
            </c:spPr>
          </c:dPt>
          <c:dPt>
            <c:idx val="4"/>
            <c:bubble3D val="0"/>
            <c:spPr>
              <a:solidFill>
                <a:srgbClr val="7030A0"/>
              </a:solidFill>
            </c:spPr>
          </c:dPt>
          <c:dPt>
            <c:idx val="5"/>
            <c:bubble3D val="0"/>
            <c:spPr>
              <a:solidFill>
                <a:srgbClr val="FFFF00"/>
              </a:solidFill>
            </c:spPr>
          </c:dPt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июл26!$A$3:$A$8</c:f>
              <c:strCache>
                <c:ptCount val="6"/>
                <c:pt idx="0">
                  <c:v>RUFLEX</c:v>
                </c:pt>
                <c:pt idx="1">
                  <c:v>Docke</c:v>
                </c:pt>
                <c:pt idx="2">
                  <c:v>Tegola</c:v>
                </c:pt>
                <c:pt idx="3">
                  <c:v>Roofshield</c:v>
                </c:pt>
                <c:pt idx="4">
                  <c:v>Faracs</c:v>
                </c:pt>
                <c:pt idx="5">
                  <c:v>Quiet Tile</c:v>
                </c:pt>
              </c:strCache>
            </c:strRef>
          </c:cat>
          <c:val>
            <c:numRef>
              <c:f>июл26!$O$3:$O$8</c:f>
              <c:numCache>
                <c:formatCode>0%</c:formatCode>
                <c:ptCount val="6"/>
                <c:pt idx="0">
                  <c:v>8.2901554404145081E-2</c:v>
                </c:pt>
                <c:pt idx="1">
                  <c:v>0.46943005181347153</c:v>
                </c:pt>
                <c:pt idx="2">
                  <c:v>0.36373056994818653</c:v>
                </c:pt>
                <c:pt idx="3">
                  <c:v>5.4922279792746116E-2</c:v>
                </c:pt>
                <c:pt idx="4">
                  <c:v>1.7616580310880828E-2</c:v>
                </c:pt>
                <c:pt idx="5">
                  <c:v>1.1398963730569948E-2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layout>
        <c:manualLayout>
          <c:xMode val="edge"/>
          <c:yMode val="edge"/>
          <c:x val="0.75797048153897506"/>
          <c:y val="8.7251004525158923E-2"/>
          <c:w val="0.18616499740251971"/>
          <c:h val="0.82976764311640705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2000">
          <a:solidFill>
            <a:srgbClr val="000000"/>
          </a:solidFill>
          <a:latin typeface="PF DinDisplay Pro" panose="02000506030000020004" pitchFamily="2" charset="0"/>
        </a:defRPr>
      </a:pPr>
      <a:endParaRPr lang="ru-RU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RUFLEX - </a:t>
            </a:r>
            <a:r>
              <a:rPr lang="ru-RU"/>
              <a:t>типы контента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rgbClr val="0070C0"/>
              </a:solidFill>
            </c:spPr>
          </c:dPt>
          <c:dPt>
            <c:idx val="4"/>
            <c:bubble3D val="0"/>
            <c:spPr>
              <a:solidFill>
                <a:srgbClr val="FFFF00"/>
              </a:solidFill>
            </c:spPr>
          </c:dPt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июл26!$A$21:$A$25</c:f>
              <c:strCache>
                <c:ptCount val="5"/>
                <c:pt idx="0">
                  <c:v>СоцС</c:v>
                </c:pt>
                <c:pt idx="1">
                  <c:v>Монтаж</c:v>
                </c:pt>
                <c:pt idx="2">
                  <c:v>ЗМК</c:v>
                </c:pt>
                <c:pt idx="3">
                  <c:v>КП</c:v>
                </c:pt>
                <c:pt idx="4">
                  <c:v>PR</c:v>
                </c:pt>
              </c:strCache>
            </c:strRef>
          </c:cat>
          <c:val>
            <c:numRef>
              <c:f>июл26!$C$21:$C$25</c:f>
              <c:numCache>
                <c:formatCode>0%</c:formatCode>
                <c:ptCount val="5"/>
                <c:pt idx="0">
                  <c:v>0.71250000000000002</c:v>
                </c:pt>
                <c:pt idx="1">
                  <c:v>0.1125</c:v>
                </c:pt>
                <c:pt idx="2">
                  <c:v>8.7499999999999994E-2</c:v>
                </c:pt>
                <c:pt idx="3">
                  <c:v>7.4999999999999997E-2</c:v>
                </c:pt>
                <c:pt idx="4">
                  <c:v>1.2500000000000001E-2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layout>
        <c:manualLayout>
          <c:xMode val="edge"/>
          <c:yMode val="edge"/>
          <c:x val="0.76232675192047361"/>
          <c:y val="0.15874031098803268"/>
          <c:w val="0.18497605687470528"/>
          <c:h val="0.70993988793551299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2000">
          <a:solidFill>
            <a:srgbClr val="000000"/>
          </a:solidFill>
          <a:latin typeface="PF DinDisplay Pro" panose="02000506030000020004" pitchFamily="2" charset="0"/>
        </a:defRPr>
      </a:pPr>
      <a:endParaRPr lang="ru-RU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ru-RU"/>
              <a:t>Типы контента: все бренды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июл26!$A$14</c:f>
              <c:strCache>
                <c:ptCount val="1"/>
                <c:pt idx="0">
                  <c:v>RUFLEX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июл26!$B$13:$G$13</c:f>
              <c:strCache>
                <c:ptCount val="6"/>
                <c:pt idx="0">
                  <c:v>КП</c:v>
                </c:pt>
                <c:pt idx="1">
                  <c:v>Монтаж</c:v>
                </c:pt>
                <c:pt idx="2">
                  <c:v>ЗМК</c:v>
                </c:pt>
                <c:pt idx="3">
                  <c:v>PR</c:v>
                </c:pt>
                <c:pt idx="4">
                  <c:v>СоцС</c:v>
                </c:pt>
                <c:pt idx="5">
                  <c:v>Статья</c:v>
                </c:pt>
              </c:strCache>
            </c:strRef>
          </c:cat>
          <c:val>
            <c:numRef>
              <c:f>июл26!$B$14:$G$14</c:f>
              <c:numCache>
                <c:formatCode>General</c:formatCode>
                <c:ptCount val="6"/>
                <c:pt idx="0">
                  <c:v>6</c:v>
                </c:pt>
                <c:pt idx="1">
                  <c:v>9</c:v>
                </c:pt>
                <c:pt idx="2">
                  <c:v>7</c:v>
                </c:pt>
                <c:pt idx="3">
                  <c:v>1</c:v>
                </c:pt>
                <c:pt idx="4">
                  <c:v>57</c:v>
                </c:pt>
                <c:pt idx="5">
                  <c:v>1</c:v>
                </c:pt>
              </c:numCache>
            </c:numRef>
          </c:val>
        </c:ser>
        <c:ser>
          <c:idx val="1"/>
          <c:order val="1"/>
          <c:tx>
            <c:strRef>
              <c:f>июл26!$A$15</c:f>
              <c:strCache>
                <c:ptCount val="1"/>
                <c:pt idx="0">
                  <c:v>Docke</c:v>
                </c:pt>
              </c:strCache>
            </c:strRef>
          </c:tx>
          <c:spPr>
            <a:solidFill>
              <a:srgbClr val="0070C0"/>
            </a:solidFill>
          </c:spPr>
          <c:invertIfNegative val="0"/>
          <c:dLbls>
            <c:dLbl>
              <c:idx val="0"/>
              <c:layout/>
              <c:tx>
                <c:rich>
                  <a:bodyPr/>
                  <a:lstStyle/>
                  <a:p>
                    <a:r>
                      <a:rPr lang="en-US" smtClean="0"/>
                      <a:t>20</a:t>
                    </a:r>
                    <a:r>
                      <a:rPr lang="ru-RU" smtClean="0"/>
                      <a:t>6</a:t>
                    </a:r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/>
              <c:tx>
                <c:rich>
                  <a:bodyPr/>
                  <a:lstStyle/>
                  <a:p>
                    <a:r>
                      <a:rPr lang="en-US" smtClean="0"/>
                      <a:t>4</a:t>
                    </a:r>
                    <a:r>
                      <a:rPr lang="ru-RU" smtClean="0"/>
                      <a:t>4</a:t>
                    </a:r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июл26!$B$13:$G$13</c:f>
              <c:strCache>
                <c:ptCount val="6"/>
                <c:pt idx="0">
                  <c:v>КП</c:v>
                </c:pt>
                <c:pt idx="1">
                  <c:v>Монтаж</c:v>
                </c:pt>
                <c:pt idx="2">
                  <c:v>ЗМК</c:v>
                </c:pt>
                <c:pt idx="3">
                  <c:v>PR</c:v>
                </c:pt>
                <c:pt idx="4">
                  <c:v>СоцС</c:v>
                </c:pt>
                <c:pt idx="5">
                  <c:v>Статья</c:v>
                </c:pt>
              </c:strCache>
            </c:strRef>
          </c:cat>
          <c:val>
            <c:numRef>
              <c:f>июл26!$B$15:$G$15</c:f>
              <c:numCache>
                <c:formatCode>General</c:formatCode>
                <c:ptCount val="6"/>
                <c:pt idx="0">
                  <c:v>208</c:v>
                </c:pt>
                <c:pt idx="1">
                  <c:v>42</c:v>
                </c:pt>
                <c:pt idx="2">
                  <c:v>114</c:v>
                </c:pt>
                <c:pt idx="3">
                  <c:v>22</c:v>
                </c:pt>
                <c:pt idx="4">
                  <c:v>76</c:v>
                </c:pt>
                <c:pt idx="5">
                  <c:v>2</c:v>
                </c:pt>
              </c:numCache>
            </c:numRef>
          </c:val>
        </c:ser>
        <c:ser>
          <c:idx val="2"/>
          <c:order val="2"/>
          <c:tx>
            <c:strRef>
              <c:f>июл26!$A$16</c:f>
              <c:strCache>
                <c:ptCount val="1"/>
                <c:pt idx="0">
                  <c:v>Tegola</c:v>
                </c:pt>
              </c:strCache>
            </c:strRef>
          </c:tx>
          <c:spPr>
            <a:solidFill>
              <a:schemeClr val="accent1"/>
            </a:solidFill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июл26!$B$13:$G$13</c:f>
              <c:strCache>
                <c:ptCount val="6"/>
                <c:pt idx="0">
                  <c:v>КП</c:v>
                </c:pt>
                <c:pt idx="1">
                  <c:v>Монтаж</c:v>
                </c:pt>
                <c:pt idx="2">
                  <c:v>ЗМК</c:v>
                </c:pt>
                <c:pt idx="3">
                  <c:v>PR</c:v>
                </c:pt>
                <c:pt idx="4">
                  <c:v>СоцС</c:v>
                </c:pt>
                <c:pt idx="5">
                  <c:v>Статья</c:v>
                </c:pt>
              </c:strCache>
            </c:strRef>
          </c:cat>
          <c:val>
            <c:numRef>
              <c:f>июл26!$B$16:$G$16</c:f>
              <c:numCache>
                <c:formatCode>General</c:formatCode>
                <c:ptCount val="6"/>
                <c:pt idx="0">
                  <c:v>141</c:v>
                </c:pt>
                <c:pt idx="1">
                  <c:v>21</c:v>
                </c:pt>
                <c:pt idx="2">
                  <c:v>9</c:v>
                </c:pt>
                <c:pt idx="3">
                  <c:v>181</c:v>
                </c:pt>
                <c:pt idx="4">
                  <c:v>17</c:v>
                </c:pt>
              </c:numCache>
            </c:numRef>
          </c:val>
        </c:ser>
        <c:ser>
          <c:idx val="3"/>
          <c:order val="3"/>
          <c:tx>
            <c:strRef>
              <c:f>июл26!$A$17</c:f>
              <c:strCache>
                <c:ptCount val="1"/>
                <c:pt idx="0">
                  <c:v>Roofshield</c:v>
                </c:pt>
              </c:strCache>
            </c:strRef>
          </c:tx>
          <c:spPr>
            <a:solidFill>
              <a:schemeClr val="accent3"/>
            </a:solidFill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июл26!$B$13:$G$13</c:f>
              <c:strCache>
                <c:ptCount val="6"/>
                <c:pt idx="0">
                  <c:v>КП</c:v>
                </c:pt>
                <c:pt idx="1">
                  <c:v>Монтаж</c:v>
                </c:pt>
                <c:pt idx="2">
                  <c:v>ЗМК</c:v>
                </c:pt>
                <c:pt idx="3">
                  <c:v>PR</c:v>
                </c:pt>
                <c:pt idx="4">
                  <c:v>СоцС</c:v>
                </c:pt>
                <c:pt idx="5">
                  <c:v>Статья</c:v>
                </c:pt>
              </c:strCache>
            </c:strRef>
          </c:cat>
          <c:val>
            <c:numRef>
              <c:f>июл26!$B$17:$G$17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2</c:v>
                </c:pt>
                <c:pt idx="4">
                  <c:v>44</c:v>
                </c:pt>
              </c:numCache>
            </c:numRef>
          </c:val>
        </c:ser>
        <c:ser>
          <c:idx val="4"/>
          <c:order val="4"/>
          <c:tx>
            <c:strRef>
              <c:f>июл26!$A$18</c:f>
              <c:strCache>
                <c:ptCount val="1"/>
                <c:pt idx="0">
                  <c:v>Faracs</c:v>
                </c:pt>
              </c:strCache>
            </c:strRef>
          </c:tx>
          <c:spPr>
            <a:solidFill>
              <a:srgbClr val="7030A0"/>
            </a:solidFill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июл26!$B$13:$G$13</c:f>
              <c:strCache>
                <c:ptCount val="6"/>
                <c:pt idx="0">
                  <c:v>КП</c:v>
                </c:pt>
                <c:pt idx="1">
                  <c:v>Монтаж</c:v>
                </c:pt>
                <c:pt idx="2">
                  <c:v>ЗМК</c:v>
                </c:pt>
                <c:pt idx="3">
                  <c:v>PR</c:v>
                </c:pt>
                <c:pt idx="4">
                  <c:v>СоцС</c:v>
                </c:pt>
                <c:pt idx="5">
                  <c:v>Статья</c:v>
                </c:pt>
              </c:strCache>
            </c:strRef>
          </c:cat>
          <c:val>
            <c:numRef>
              <c:f>июл26!$B$18:$G$18</c:f>
              <c:numCache>
                <c:formatCode>General</c:formatCode>
                <c:ptCount val="6"/>
                <c:pt idx="0">
                  <c:v>1</c:v>
                </c:pt>
                <c:pt idx="1">
                  <c:v>8</c:v>
                </c:pt>
                <c:pt idx="2">
                  <c:v>8</c:v>
                </c:pt>
              </c:numCache>
            </c:numRef>
          </c:val>
        </c:ser>
        <c:ser>
          <c:idx val="5"/>
          <c:order val="5"/>
          <c:tx>
            <c:strRef>
              <c:f>июл26!$A$19</c:f>
              <c:strCache>
                <c:ptCount val="1"/>
                <c:pt idx="0">
                  <c:v>Quiet Tile</c:v>
                </c:pt>
              </c:strCache>
            </c:strRef>
          </c:tx>
          <c:spPr>
            <a:solidFill>
              <a:srgbClr val="FFFF00"/>
            </a:solidFill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июл26!$B$13:$G$13</c:f>
              <c:strCache>
                <c:ptCount val="6"/>
                <c:pt idx="0">
                  <c:v>КП</c:v>
                </c:pt>
                <c:pt idx="1">
                  <c:v>Монтаж</c:v>
                </c:pt>
                <c:pt idx="2">
                  <c:v>ЗМК</c:v>
                </c:pt>
                <c:pt idx="3">
                  <c:v>PR</c:v>
                </c:pt>
                <c:pt idx="4">
                  <c:v>СоцС</c:v>
                </c:pt>
                <c:pt idx="5">
                  <c:v>Статья</c:v>
                </c:pt>
              </c:strCache>
            </c:strRef>
          </c:cat>
          <c:val>
            <c:numRef>
              <c:f>июл26!$B$19:$G$19</c:f>
              <c:numCache>
                <c:formatCode>General</c:formatCode>
                <c:ptCount val="6"/>
                <c:pt idx="0">
                  <c:v>11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5169792"/>
        <c:axId val="145183872"/>
      </c:barChart>
      <c:catAx>
        <c:axId val="145169792"/>
        <c:scaling>
          <c:orientation val="minMax"/>
        </c:scaling>
        <c:delete val="0"/>
        <c:axPos val="b"/>
        <c:majorTickMark val="out"/>
        <c:minorTickMark val="none"/>
        <c:tickLblPos val="nextTo"/>
        <c:crossAx val="145183872"/>
        <c:crosses val="autoZero"/>
        <c:auto val="1"/>
        <c:lblAlgn val="ctr"/>
        <c:lblOffset val="100"/>
        <c:noMultiLvlLbl val="0"/>
      </c:catAx>
      <c:valAx>
        <c:axId val="14518387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45169792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92304806038619824"/>
          <c:y val="0.19182371823072575"/>
          <c:w val="7.3069965436696957E-2"/>
          <c:h val="0.53937867651945937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2000">
          <a:solidFill>
            <a:srgbClr val="000000"/>
          </a:solidFill>
          <a:latin typeface="PF DinDisplay Pro" panose="02000506030000020004" pitchFamily="2" charset="0"/>
        </a:defRPr>
      </a:pPr>
      <a:endParaRPr lang="ru-RU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ru-RU"/>
              <a:t>Типы источников (все бренды)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rgbClr val="0070C0"/>
              </a:solidFill>
            </c:spPr>
          </c:dPt>
          <c:dPt>
            <c:idx val="1"/>
            <c:bubble3D val="0"/>
            <c:spPr>
              <a:solidFill>
                <a:schemeClr val="accent1"/>
              </a:solidFill>
            </c:spPr>
          </c:dPt>
          <c:dPt>
            <c:idx val="3"/>
            <c:bubble3D val="0"/>
            <c:spPr>
              <a:solidFill>
                <a:srgbClr val="FF0000"/>
              </a:solidFill>
            </c:spPr>
          </c:dPt>
          <c:dPt>
            <c:idx val="4"/>
            <c:bubble3D val="0"/>
            <c:spPr>
              <a:solidFill>
                <a:schemeClr val="accent6">
                  <a:lumMod val="40000"/>
                  <a:lumOff val="60000"/>
                </a:schemeClr>
              </a:solidFill>
            </c:spPr>
          </c:dPt>
          <c:dPt>
            <c:idx val="5"/>
            <c:bubble3D val="0"/>
            <c:spPr>
              <a:solidFill>
                <a:srgbClr val="FFFF00"/>
              </a:solidFill>
            </c:spPr>
          </c:dPt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июл26!$A$45:$A$51</c:f>
              <c:strCache>
                <c:ptCount val="7"/>
                <c:pt idx="0">
                  <c:v>Соцсети </c:v>
                </c:pt>
                <c:pt idx="1">
                  <c:v>Мессенджеры</c:v>
                </c:pt>
                <c:pt idx="2">
                  <c:v>Отзывы </c:v>
                </c:pt>
                <c:pt idx="3">
                  <c:v>Видео </c:v>
                </c:pt>
                <c:pt idx="4">
                  <c:v>Блоги </c:v>
                </c:pt>
                <c:pt idx="5">
                  <c:v>Онлайн-СМИ</c:v>
                </c:pt>
                <c:pt idx="6">
                  <c:v>Форумы</c:v>
                </c:pt>
              </c:strCache>
            </c:strRef>
          </c:cat>
          <c:val>
            <c:numRef>
              <c:f>июл26!$C$45:$C$51</c:f>
              <c:numCache>
                <c:formatCode>0%</c:formatCode>
                <c:ptCount val="7"/>
                <c:pt idx="0">
                  <c:v>0.45374878286270692</c:v>
                </c:pt>
                <c:pt idx="1">
                  <c:v>0.32424537487828625</c:v>
                </c:pt>
                <c:pt idx="2">
                  <c:v>0.11489776046738072</c:v>
                </c:pt>
                <c:pt idx="3">
                  <c:v>5.1606621226874393E-2</c:v>
                </c:pt>
                <c:pt idx="4">
                  <c:v>3.7000973709834468E-2</c:v>
                </c:pt>
                <c:pt idx="5">
                  <c:v>1.5579357351509251E-2</c:v>
                </c:pt>
                <c:pt idx="6">
                  <c:v>2.9211295034079843E-3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layout>
        <c:manualLayout>
          <c:xMode val="edge"/>
          <c:yMode val="edge"/>
          <c:x val="0.67048577740146564"/>
          <c:y val="0.23009760628978826"/>
          <c:w val="0.2420395574085982"/>
          <c:h val="0.74325194014838891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2000">
          <a:solidFill>
            <a:srgbClr val="000000"/>
          </a:solidFill>
          <a:latin typeface="PF DinDisplay Pro" panose="02000506030000020004" pitchFamily="2" charset="0"/>
        </a:defRPr>
      </a:pPr>
      <a:endParaRPr lang="ru-RU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ru-RU"/>
              <a:t>Топ источников (все бренды)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0070C0"/>
            </a:solidFill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июл26!$A$30:$A$39</c:f>
              <c:strCache>
                <c:ptCount val="10"/>
                <c:pt idx="0">
                  <c:v>vk.com</c:v>
                </c:pt>
                <c:pt idx="1">
                  <c:v>telegram.org</c:v>
                </c:pt>
                <c:pt idx="2">
                  <c:v>wildberries.ru</c:v>
                </c:pt>
                <c:pt idx="3">
                  <c:v>instagram.com</c:v>
                </c:pt>
                <c:pt idx="4">
                  <c:v>max.ru</c:v>
                </c:pt>
                <c:pt idx="5">
                  <c:v>youtube.com</c:v>
                </c:pt>
                <c:pt idx="6">
                  <c:v>dzen.ru</c:v>
                </c:pt>
                <c:pt idx="7">
                  <c:v>ok.ru</c:v>
                </c:pt>
                <c:pt idx="8">
                  <c:v>rutube.ru</c:v>
                </c:pt>
                <c:pt idx="9">
                  <c:v>x.com</c:v>
                </c:pt>
              </c:strCache>
            </c:strRef>
          </c:cat>
          <c:val>
            <c:numRef>
              <c:f>июл26!$B$30:$B$39</c:f>
              <c:numCache>
                <c:formatCode>General</c:formatCode>
                <c:ptCount val="10"/>
                <c:pt idx="0" formatCode="#,##0">
                  <c:v>336</c:v>
                </c:pt>
                <c:pt idx="1">
                  <c:v>291</c:v>
                </c:pt>
                <c:pt idx="2">
                  <c:v>107</c:v>
                </c:pt>
                <c:pt idx="3">
                  <c:v>100</c:v>
                </c:pt>
                <c:pt idx="4">
                  <c:v>42</c:v>
                </c:pt>
                <c:pt idx="5">
                  <c:v>42</c:v>
                </c:pt>
                <c:pt idx="6">
                  <c:v>30</c:v>
                </c:pt>
                <c:pt idx="7">
                  <c:v>25</c:v>
                </c:pt>
                <c:pt idx="8">
                  <c:v>11</c:v>
                </c:pt>
                <c:pt idx="9">
                  <c:v>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4824192"/>
        <c:axId val="144825728"/>
      </c:barChart>
      <c:catAx>
        <c:axId val="144824192"/>
        <c:scaling>
          <c:orientation val="minMax"/>
        </c:scaling>
        <c:delete val="0"/>
        <c:axPos val="b"/>
        <c:majorTickMark val="out"/>
        <c:minorTickMark val="none"/>
        <c:tickLblPos val="nextTo"/>
        <c:crossAx val="144825728"/>
        <c:crosses val="autoZero"/>
        <c:auto val="1"/>
        <c:lblAlgn val="ctr"/>
        <c:lblOffset val="100"/>
        <c:noMultiLvlLbl val="0"/>
      </c:catAx>
      <c:valAx>
        <c:axId val="144825728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crossAx val="14482419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2000">
          <a:solidFill>
            <a:srgbClr val="000000"/>
          </a:solidFill>
          <a:latin typeface="PF DinDisplay Pro" panose="02000506030000020004" pitchFamily="2" charset="0"/>
        </a:defRPr>
      </a:pPr>
      <a:endParaRPr lang="ru-RU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ru-RU"/>
              <a:t>Типы источников по брендам</a:t>
            </a:r>
          </a:p>
        </c:rich>
      </c:tx>
      <c:layout>
        <c:manualLayout>
          <c:xMode val="edge"/>
          <c:yMode val="edge"/>
          <c:x val="0.39960695902263443"/>
          <c:y val="2.7777853808008311E-2"/>
        </c:manualLayout>
      </c:layout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июл26!$A$56</c:f>
              <c:strCache>
                <c:ptCount val="1"/>
                <c:pt idx="0">
                  <c:v>RUFLEX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июл26!$B$55:$H$55</c:f>
              <c:strCache>
                <c:ptCount val="7"/>
                <c:pt idx="0">
                  <c:v>Соцсети </c:v>
                </c:pt>
                <c:pt idx="1">
                  <c:v>Мессенджеры</c:v>
                </c:pt>
                <c:pt idx="2">
                  <c:v>Отзывы </c:v>
                </c:pt>
                <c:pt idx="3">
                  <c:v>Видео </c:v>
                </c:pt>
                <c:pt idx="4">
                  <c:v>Блоги </c:v>
                </c:pt>
                <c:pt idx="5">
                  <c:v>Онлайн-СМИ</c:v>
                </c:pt>
                <c:pt idx="6">
                  <c:v>Форумы</c:v>
                </c:pt>
              </c:strCache>
            </c:strRef>
          </c:cat>
          <c:val>
            <c:numRef>
              <c:f>июл26!$B$56:$H$56</c:f>
              <c:numCache>
                <c:formatCode>General</c:formatCode>
                <c:ptCount val="7"/>
                <c:pt idx="0">
                  <c:v>34</c:v>
                </c:pt>
                <c:pt idx="1">
                  <c:v>20</c:v>
                </c:pt>
                <c:pt idx="2">
                  <c:v>6</c:v>
                </c:pt>
                <c:pt idx="3">
                  <c:v>6</c:v>
                </c:pt>
                <c:pt idx="4">
                  <c:v>13</c:v>
                </c:pt>
                <c:pt idx="5">
                  <c:v>1</c:v>
                </c:pt>
              </c:numCache>
            </c:numRef>
          </c:val>
        </c:ser>
        <c:ser>
          <c:idx val="1"/>
          <c:order val="1"/>
          <c:tx>
            <c:strRef>
              <c:f>июл26!$A$57</c:f>
              <c:strCache>
                <c:ptCount val="1"/>
                <c:pt idx="0">
                  <c:v>Docke</c:v>
                </c:pt>
              </c:strCache>
            </c:strRef>
          </c:tx>
          <c:spPr>
            <a:solidFill>
              <a:srgbClr val="0070C0"/>
            </a:solidFill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июл26!$B$55:$H$55</c:f>
              <c:strCache>
                <c:ptCount val="7"/>
                <c:pt idx="0">
                  <c:v>Соцсети </c:v>
                </c:pt>
                <c:pt idx="1">
                  <c:v>Мессенджеры</c:v>
                </c:pt>
                <c:pt idx="2">
                  <c:v>Отзывы </c:v>
                </c:pt>
                <c:pt idx="3">
                  <c:v>Видео </c:v>
                </c:pt>
                <c:pt idx="4">
                  <c:v>Блоги </c:v>
                </c:pt>
                <c:pt idx="5">
                  <c:v>Онлайн-СМИ</c:v>
                </c:pt>
                <c:pt idx="6">
                  <c:v>Форумы</c:v>
                </c:pt>
              </c:strCache>
            </c:strRef>
          </c:cat>
          <c:val>
            <c:numRef>
              <c:f>июл26!$B$57:$H$57</c:f>
              <c:numCache>
                <c:formatCode>General</c:formatCode>
                <c:ptCount val="7"/>
                <c:pt idx="0">
                  <c:v>141</c:v>
                </c:pt>
                <c:pt idx="1">
                  <c:v>186</c:v>
                </c:pt>
                <c:pt idx="2">
                  <c:v>102</c:v>
                </c:pt>
                <c:pt idx="3">
                  <c:v>14</c:v>
                </c:pt>
                <c:pt idx="4">
                  <c:v>5</c:v>
                </c:pt>
                <c:pt idx="5">
                  <c:v>3</c:v>
                </c:pt>
                <c:pt idx="6">
                  <c:v>2</c:v>
                </c:pt>
              </c:numCache>
            </c:numRef>
          </c:val>
        </c:ser>
        <c:ser>
          <c:idx val="2"/>
          <c:order val="2"/>
          <c:tx>
            <c:strRef>
              <c:f>июл26!$A$58</c:f>
              <c:strCache>
                <c:ptCount val="1"/>
                <c:pt idx="0">
                  <c:v>Tegola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июл26!$B$55:$H$55</c:f>
              <c:strCache>
                <c:ptCount val="7"/>
                <c:pt idx="0">
                  <c:v>Соцсети </c:v>
                </c:pt>
                <c:pt idx="1">
                  <c:v>Мессенджеры</c:v>
                </c:pt>
                <c:pt idx="2">
                  <c:v>Отзывы </c:v>
                </c:pt>
                <c:pt idx="3">
                  <c:v>Видео </c:v>
                </c:pt>
                <c:pt idx="4">
                  <c:v>Блоги </c:v>
                </c:pt>
                <c:pt idx="5">
                  <c:v>Онлайн-СМИ</c:v>
                </c:pt>
                <c:pt idx="6">
                  <c:v>Форумы</c:v>
                </c:pt>
              </c:strCache>
            </c:strRef>
          </c:cat>
          <c:val>
            <c:numRef>
              <c:f>июл26!$B$58:$H$58</c:f>
              <c:numCache>
                <c:formatCode>General</c:formatCode>
                <c:ptCount val="7"/>
                <c:pt idx="0">
                  <c:v>99</c:v>
                </c:pt>
                <c:pt idx="1">
                  <c:v>213</c:v>
                </c:pt>
                <c:pt idx="2">
                  <c:v>1</c:v>
                </c:pt>
                <c:pt idx="3">
                  <c:v>16</c:v>
                </c:pt>
                <c:pt idx="4">
                  <c:v>9</c:v>
                </c:pt>
                <c:pt idx="5">
                  <c:v>12</c:v>
                </c:pt>
                <c:pt idx="6">
                  <c:v>1</c:v>
                </c:pt>
              </c:numCache>
            </c:numRef>
          </c:val>
        </c:ser>
        <c:ser>
          <c:idx val="3"/>
          <c:order val="3"/>
          <c:tx>
            <c:strRef>
              <c:f>июл26!$A$59</c:f>
              <c:strCache>
                <c:ptCount val="1"/>
                <c:pt idx="0">
                  <c:v>Roofshield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июл26!$B$55:$H$55</c:f>
              <c:strCache>
                <c:ptCount val="7"/>
                <c:pt idx="0">
                  <c:v>Соцсети </c:v>
                </c:pt>
                <c:pt idx="1">
                  <c:v>Мессенджеры</c:v>
                </c:pt>
                <c:pt idx="2">
                  <c:v>Отзывы </c:v>
                </c:pt>
                <c:pt idx="3">
                  <c:v>Видео </c:v>
                </c:pt>
                <c:pt idx="4">
                  <c:v>Блоги </c:v>
                </c:pt>
                <c:pt idx="5">
                  <c:v>Онлайн-СМИ</c:v>
                </c:pt>
                <c:pt idx="6">
                  <c:v>Форумы</c:v>
                </c:pt>
              </c:strCache>
            </c:strRef>
          </c:cat>
          <c:val>
            <c:numRef>
              <c:f>июл26!$B$59:$H$59</c:f>
              <c:numCache>
                <c:formatCode>General</c:formatCode>
                <c:ptCount val="7"/>
                <c:pt idx="0">
                  <c:v>35</c:v>
                </c:pt>
                <c:pt idx="1">
                  <c:v>16</c:v>
                </c:pt>
                <c:pt idx="2">
                  <c:v>1</c:v>
                </c:pt>
                <c:pt idx="4">
                  <c:v>1</c:v>
                </c:pt>
              </c:numCache>
            </c:numRef>
          </c:val>
        </c:ser>
        <c:ser>
          <c:idx val="4"/>
          <c:order val="4"/>
          <c:tx>
            <c:strRef>
              <c:f>июл26!$A$61</c:f>
              <c:strCache>
                <c:ptCount val="1"/>
                <c:pt idx="0">
                  <c:v>Faracs</c:v>
                </c:pt>
              </c:strCache>
            </c:strRef>
          </c:tx>
          <c:spPr>
            <a:solidFill>
              <a:srgbClr val="7030A0"/>
            </a:solidFill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июл26!$B$55:$H$55</c:f>
              <c:strCache>
                <c:ptCount val="7"/>
                <c:pt idx="0">
                  <c:v>Соцсети </c:v>
                </c:pt>
                <c:pt idx="1">
                  <c:v>Мессенджеры</c:v>
                </c:pt>
                <c:pt idx="2">
                  <c:v>Отзывы </c:v>
                </c:pt>
                <c:pt idx="3">
                  <c:v>Видео </c:v>
                </c:pt>
                <c:pt idx="4">
                  <c:v>Блоги </c:v>
                </c:pt>
                <c:pt idx="5">
                  <c:v>Онлайн-СМИ</c:v>
                </c:pt>
                <c:pt idx="6">
                  <c:v>Форумы</c:v>
                </c:pt>
              </c:strCache>
            </c:strRef>
          </c:cat>
          <c:val>
            <c:numRef>
              <c:f>июл26!$B$61:$H$61</c:f>
              <c:numCache>
                <c:formatCode>General</c:formatCode>
                <c:ptCount val="7"/>
                <c:pt idx="0">
                  <c:v>5</c:v>
                </c:pt>
                <c:pt idx="1">
                  <c:v>3</c:v>
                </c:pt>
                <c:pt idx="2">
                  <c:v>8</c:v>
                </c:pt>
                <c:pt idx="4">
                  <c:v>1</c:v>
                </c:pt>
              </c:numCache>
            </c:numRef>
          </c:val>
        </c:ser>
        <c:ser>
          <c:idx val="5"/>
          <c:order val="5"/>
          <c:tx>
            <c:strRef>
              <c:f>июл26!$A$60</c:f>
              <c:strCache>
                <c:ptCount val="1"/>
                <c:pt idx="0">
                  <c:v>Quiet Tile</c:v>
                </c:pt>
              </c:strCache>
            </c:strRef>
          </c:tx>
          <c:spPr>
            <a:solidFill>
              <a:srgbClr val="FFFF00"/>
            </a:solidFill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июл26!$B$55:$H$55</c:f>
              <c:strCache>
                <c:ptCount val="7"/>
                <c:pt idx="0">
                  <c:v>Соцсети </c:v>
                </c:pt>
                <c:pt idx="1">
                  <c:v>Мессенджеры</c:v>
                </c:pt>
                <c:pt idx="2">
                  <c:v>Отзывы </c:v>
                </c:pt>
                <c:pt idx="3">
                  <c:v>Видео </c:v>
                </c:pt>
                <c:pt idx="4">
                  <c:v>Блоги </c:v>
                </c:pt>
                <c:pt idx="5">
                  <c:v>Онлайн-СМИ</c:v>
                </c:pt>
                <c:pt idx="6">
                  <c:v>Форумы</c:v>
                </c:pt>
              </c:strCache>
            </c:strRef>
          </c:cat>
          <c:val>
            <c:numRef>
              <c:f>июл26!$B$60:$H$60</c:f>
              <c:numCache>
                <c:formatCode>General</c:formatCode>
                <c:ptCount val="7"/>
                <c:pt idx="0">
                  <c:v>7</c:v>
                </c:pt>
                <c:pt idx="1">
                  <c:v>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4958976"/>
        <c:axId val="144960512"/>
      </c:barChart>
      <c:catAx>
        <c:axId val="144958976"/>
        <c:scaling>
          <c:orientation val="minMax"/>
        </c:scaling>
        <c:delete val="0"/>
        <c:axPos val="b"/>
        <c:majorTickMark val="out"/>
        <c:minorTickMark val="none"/>
        <c:tickLblPos val="nextTo"/>
        <c:crossAx val="144960512"/>
        <c:crosses val="autoZero"/>
        <c:auto val="1"/>
        <c:lblAlgn val="ctr"/>
        <c:lblOffset val="100"/>
        <c:noMultiLvlLbl val="0"/>
      </c:catAx>
      <c:valAx>
        <c:axId val="1449605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44958976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92050142012951974"/>
          <c:y val="0.21248358602360598"/>
          <c:w val="7.5893133431989446E-2"/>
          <c:h val="0.65911104846220125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2000">
          <a:solidFill>
            <a:srgbClr val="000000"/>
          </a:solidFill>
          <a:latin typeface="PF DinDisplay Pro" panose="02000506030000020004" pitchFamily="2" charset="0"/>
        </a:defRPr>
      </a:pPr>
      <a:endParaRPr lang="ru-RU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ru-RU"/>
              <a:t>Топ источников по брендам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июл26!$A$66</c:f>
              <c:strCache>
                <c:ptCount val="1"/>
                <c:pt idx="0">
                  <c:v>RUFLEX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июл26!$B$65:$K$65</c:f>
              <c:strCache>
                <c:ptCount val="10"/>
                <c:pt idx="0">
                  <c:v>vk.com</c:v>
                </c:pt>
                <c:pt idx="1">
                  <c:v>telegram.org</c:v>
                </c:pt>
                <c:pt idx="2">
                  <c:v>wildberries.ru</c:v>
                </c:pt>
                <c:pt idx="3">
                  <c:v>instagram.com</c:v>
                </c:pt>
                <c:pt idx="4">
                  <c:v>max.ru</c:v>
                </c:pt>
                <c:pt idx="5">
                  <c:v>youtube.com</c:v>
                </c:pt>
                <c:pt idx="6">
                  <c:v>dzen.ru</c:v>
                </c:pt>
                <c:pt idx="7">
                  <c:v>ok.ru</c:v>
                </c:pt>
                <c:pt idx="8">
                  <c:v>rutube.ru</c:v>
                </c:pt>
                <c:pt idx="9">
                  <c:v>x.com</c:v>
                </c:pt>
              </c:strCache>
            </c:strRef>
          </c:cat>
          <c:val>
            <c:numRef>
              <c:f>июл26!$B$66:$K$66</c:f>
              <c:numCache>
                <c:formatCode>General</c:formatCode>
                <c:ptCount val="10"/>
                <c:pt idx="0">
                  <c:v>19</c:v>
                </c:pt>
                <c:pt idx="1">
                  <c:v>20</c:v>
                </c:pt>
                <c:pt idx="3">
                  <c:v>13</c:v>
                </c:pt>
                <c:pt idx="5">
                  <c:v>6</c:v>
                </c:pt>
                <c:pt idx="6">
                  <c:v>5</c:v>
                </c:pt>
                <c:pt idx="9">
                  <c:v>8</c:v>
                </c:pt>
              </c:numCache>
            </c:numRef>
          </c:val>
        </c:ser>
        <c:ser>
          <c:idx val="1"/>
          <c:order val="1"/>
          <c:tx>
            <c:strRef>
              <c:f>июл26!$A$67</c:f>
              <c:strCache>
                <c:ptCount val="1"/>
                <c:pt idx="0">
                  <c:v>Docke</c:v>
                </c:pt>
              </c:strCache>
            </c:strRef>
          </c:tx>
          <c:spPr>
            <a:solidFill>
              <a:srgbClr val="0070C0"/>
            </a:solidFill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июл26!$B$65:$K$65</c:f>
              <c:strCache>
                <c:ptCount val="10"/>
                <c:pt idx="0">
                  <c:v>vk.com</c:v>
                </c:pt>
                <c:pt idx="1">
                  <c:v>telegram.org</c:v>
                </c:pt>
                <c:pt idx="2">
                  <c:v>wildberries.ru</c:v>
                </c:pt>
                <c:pt idx="3">
                  <c:v>instagram.com</c:v>
                </c:pt>
                <c:pt idx="4">
                  <c:v>max.ru</c:v>
                </c:pt>
                <c:pt idx="5">
                  <c:v>youtube.com</c:v>
                </c:pt>
                <c:pt idx="6">
                  <c:v>dzen.ru</c:v>
                </c:pt>
                <c:pt idx="7">
                  <c:v>ok.ru</c:v>
                </c:pt>
                <c:pt idx="8">
                  <c:v>rutube.ru</c:v>
                </c:pt>
                <c:pt idx="9">
                  <c:v>x.com</c:v>
                </c:pt>
              </c:strCache>
            </c:strRef>
          </c:cat>
          <c:val>
            <c:numRef>
              <c:f>июл26!$B$67:$K$67</c:f>
              <c:numCache>
                <c:formatCode>General</c:formatCode>
                <c:ptCount val="10"/>
                <c:pt idx="0">
                  <c:v>108</c:v>
                </c:pt>
                <c:pt idx="1">
                  <c:v>171</c:v>
                </c:pt>
                <c:pt idx="2">
                  <c:v>99</c:v>
                </c:pt>
                <c:pt idx="3">
                  <c:v>9</c:v>
                </c:pt>
                <c:pt idx="4">
                  <c:v>15</c:v>
                </c:pt>
                <c:pt idx="5">
                  <c:v>13</c:v>
                </c:pt>
                <c:pt idx="6">
                  <c:v>5</c:v>
                </c:pt>
                <c:pt idx="7">
                  <c:v>21</c:v>
                </c:pt>
                <c:pt idx="8">
                  <c:v>1</c:v>
                </c:pt>
              </c:numCache>
            </c:numRef>
          </c:val>
        </c:ser>
        <c:ser>
          <c:idx val="2"/>
          <c:order val="2"/>
          <c:tx>
            <c:strRef>
              <c:f>июл26!$A$68</c:f>
              <c:strCache>
                <c:ptCount val="1"/>
                <c:pt idx="0">
                  <c:v>Tegola</c:v>
                </c:pt>
              </c:strCache>
            </c:strRef>
          </c:tx>
          <c:spPr>
            <a:solidFill>
              <a:schemeClr val="accent1"/>
            </a:solidFill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июл26!$B$65:$K$65</c:f>
              <c:strCache>
                <c:ptCount val="10"/>
                <c:pt idx="0">
                  <c:v>vk.com</c:v>
                </c:pt>
                <c:pt idx="1">
                  <c:v>telegram.org</c:v>
                </c:pt>
                <c:pt idx="2">
                  <c:v>wildberries.ru</c:v>
                </c:pt>
                <c:pt idx="3">
                  <c:v>instagram.com</c:v>
                </c:pt>
                <c:pt idx="4">
                  <c:v>max.ru</c:v>
                </c:pt>
                <c:pt idx="5">
                  <c:v>youtube.com</c:v>
                </c:pt>
                <c:pt idx="6">
                  <c:v>dzen.ru</c:v>
                </c:pt>
                <c:pt idx="7">
                  <c:v>ok.ru</c:v>
                </c:pt>
                <c:pt idx="8">
                  <c:v>rutube.ru</c:v>
                </c:pt>
                <c:pt idx="9">
                  <c:v>x.com</c:v>
                </c:pt>
              </c:strCache>
            </c:strRef>
          </c:cat>
          <c:val>
            <c:numRef>
              <c:f>июл26!$B$68:$K$68</c:f>
              <c:numCache>
                <c:formatCode>General</c:formatCode>
                <c:ptCount val="10"/>
                <c:pt idx="0">
                  <c:v>42</c:v>
                </c:pt>
                <c:pt idx="1">
                  <c:v>201</c:v>
                </c:pt>
                <c:pt idx="3">
                  <c:v>56</c:v>
                </c:pt>
                <c:pt idx="4">
                  <c:v>12</c:v>
                </c:pt>
                <c:pt idx="5">
                  <c:v>10</c:v>
                </c:pt>
                <c:pt idx="6">
                  <c:v>9</c:v>
                </c:pt>
                <c:pt idx="8">
                  <c:v>6</c:v>
                </c:pt>
              </c:numCache>
            </c:numRef>
          </c:val>
        </c:ser>
        <c:ser>
          <c:idx val="3"/>
          <c:order val="3"/>
          <c:tx>
            <c:strRef>
              <c:f>июл26!$A$69</c:f>
              <c:strCache>
                <c:ptCount val="1"/>
                <c:pt idx="0">
                  <c:v>Roofshield</c:v>
                </c:pt>
              </c:strCache>
            </c:strRef>
          </c:tx>
          <c:spPr>
            <a:solidFill>
              <a:schemeClr val="accent3"/>
            </a:solidFill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июл26!$B$65:$K$65</c:f>
              <c:strCache>
                <c:ptCount val="10"/>
                <c:pt idx="0">
                  <c:v>vk.com</c:v>
                </c:pt>
                <c:pt idx="1">
                  <c:v>telegram.org</c:v>
                </c:pt>
                <c:pt idx="2">
                  <c:v>wildberries.ru</c:v>
                </c:pt>
                <c:pt idx="3">
                  <c:v>instagram.com</c:v>
                </c:pt>
                <c:pt idx="4">
                  <c:v>max.ru</c:v>
                </c:pt>
                <c:pt idx="5">
                  <c:v>youtube.com</c:v>
                </c:pt>
                <c:pt idx="6">
                  <c:v>dzen.ru</c:v>
                </c:pt>
                <c:pt idx="7">
                  <c:v>ok.ru</c:v>
                </c:pt>
                <c:pt idx="8">
                  <c:v>rutube.ru</c:v>
                </c:pt>
                <c:pt idx="9">
                  <c:v>x.com</c:v>
                </c:pt>
              </c:strCache>
            </c:strRef>
          </c:cat>
          <c:val>
            <c:numRef>
              <c:f>июл26!$B$69:$K$69</c:f>
              <c:numCache>
                <c:formatCode>General</c:formatCode>
                <c:ptCount val="10"/>
                <c:pt idx="0">
                  <c:v>32</c:v>
                </c:pt>
                <c:pt idx="1">
                  <c:v>16</c:v>
                </c:pt>
                <c:pt idx="3">
                  <c:v>3</c:v>
                </c:pt>
                <c:pt idx="6">
                  <c:v>1</c:v>
                </c:pt>
              </c:numCache>
            </c:numRef>
          </c:val>
        </c:ser>
        <c:ser>
          <c:idx val="4"/>
          <c:order val="4"/>
          <c:tx>
            <c:strRef>
              <c:f>июл26!$A$71</c:f>
              <c:strCache>
                <c:ptCount val="1"/>
                <c:pt idx="0">
                  <c:v>Faracs</c:v>
                </c:pt>
              </c:strCache>
            </c:strRef>
          </c:tx>
          <c:spPr>
            <a:solidFill>
              <a:srgbClr val="7030A0"/>
            </a:solidFill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июл26!$B$65:$K$65</c:f>
              <c:strCache>
                <c:ptCount val="10"/>
                <c:pt idx="0">
                  <c:v>vk.com</c:v>
                </c:pt>
                <c:pt idx="1">
                  <c:v>telegram.org</c:v>
                </c:pt>
                <c:pt idx="2">
                  <c:v>wildberries.ru</c:v>
                </c:pt>
                <c:pt idx="3">
                  <c:v>instagram.com</c:v>
                </c:pt>
                <c:pt idx="4">
                  <c:v>max.ru</c:v>
                </c:pt>
                <c:pt idx="5">
                  <c:v>youtube.com</c:v>
                </c:pt>
                <c:pt idx="6">
                  <c:v>dzen.ru</c:v>
                </c:pt>
                <c:pt idx="7">
                  <c:v>ok.ru</c:v>
                </c:pt>
                <c:pt idx="8">
                  <c:v>rutube.ru</c:v>
                </c:pt>
                <c:pt idx="9">
                  <c:v>x.com</c:v>
                </c:pt>
              </c:strCache>
            </c:strRef>
          </c:cat>
          <c:val>
            <c:numRef>
              <c:f>июл26!$B$71:$K$71</c:f>
              <c:numCache>
                <c:formatCode>General</c:formatCode>
                <c:ptCount val="10"/>
                <c:pt idx="0">
                  <c:v>3</c:v>
                </c:pt>
                <c:pt idx="1">
                  <c:v>3</c:v>
                </c:pt>
                <c:pt idx="2">
                  <c:v>8</c:v>
                </c:pt>
                <c:pt idx="3">
                  <c:v>2</c:v>
                </c:pt>
                <c:pt idx="6">
                  <c:v>1</c:v>
                </c:pt>
              </c:numCache>
            </c:numRef>
          </c:val>
        </c:ser>
        <c:ser>
          <c:idx val="5"/>
          <c:order val="5"/>
          <c:tx>
            <c:strRef>
              <c:f>июл26!$A$70</c:f>
              <c:strCache>
                <c:ptCount val="1"/>
                <c:pt idx="0">
                  <c:v>Quiet Tile</c:v>
                </c:pt>
              </c:strCache>
            </c:strRef>
          </c:tx>
          <c:spPr>
            <a:solidFill>
              <a:srgbClr val="FFFF00"/>
            </a:solidFill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июл26!$B$65:$K$65</c:f>
              <c:strCache>
                <c:ptCount val="10"/>
                <c:pt idx="0">
                  <c:v>vk.com</c:v>
                </c:pt>
                <c:pt idx="1">
                  <c:v>telegram.org</c:v>
                </c:pt>
                <c:pt idx="2">
                  <c:v>wildberries.ru</c:v>
                </c:pt>
                <c:pt idx="3">
                  <c:v>instagram.com</c:v>
                </c:pt>
                <c:pt idx="4">
                  <c:v>max.ru</c:v>
                </c:pt>
                <c:pt idx="5">
                  <c:v>youtube.com</c:v>
                </c:pt>
                <c:pt idx="6">
                  <c:v>dzen.ru</c:v>
                </c:pt>
                <c:pt idx="7">
                  <c:v>ok.ru</c:v>
                </c:pt>
                <c:pt idx="8">
                  <c:v>rutube.ru</c:v>
                </c:pt>
                <c:pt idx="9">
                  <c:v>x.com</c:v>
                </c:pt>
              </c:strCache>
            </c:strRef>
          </c:cat>
          <c:val>
            <c:numRef>
              <c:f>июл26!$B$70:$K$70</c:f>
              <c:numCache>
                <c:formatCode>General</c:formatCode>
                <c:ptCount val="10"/>
                <c:pt idx="0">
                  <c:v>6</c:v>
                </c:pt>
                <c:pt idx="3">
                  <c:v>1</c:v>
                </c:pt>
                <c:pt idx="4">
                  <c:v>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5593088"/>
        <c:axId val="145594624"/>
      </c:barChart>
      <c:catAx>
        <c:axId val="145593088"/>
        <c:scaling>
          <c:orientation val="minMax"/>
        </c:scaling>
        <c:delete val="0"/>
        <c:axPos val="b"/>
        <c:majorTickMark val="out"/>
        <c:minorTickMark val="none"/>
        <c:tickLblPos val="nextTo"/>
        <c:crossAx val="145594624"/>
        <c:crosses val="autoZero"/>
        <c:auto val="1"/>
        <c:lblAlgn val="ctr"/>
        <c:lblOffset val="100"/>
        <c:noMultiLvlLbl val="0"/>
      </c:catAx>
      <c:valAx>
        <c:axId val="14559462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45593088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92621629561544716"/>
          <c:y val="0.18212451668199478"/>
          <c:w val="7.0103642049512679E-2"/>
          <c:h val="0.58740261413046102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2000">
          <a:solidFill>
            <a:srgbClr val="000000"/>
          </a:solidFill>
          <a:latin typeface="PF DinDisplay Pro" panose="02000506030000020004" pitchFamily="2" charset="0"/>
        </a:defRPr>
      </a:pPr>
      <a:endParaRPr lang="ru-RU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ru-RU"/>
              <a:t>Аудитория по источникам, тыс. (все бренды)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июл26!$B$76</c:f>
              <c:strCache>
                <c:ptCount val="1"/>
                <c:pt idx="0">
                  <c:v>Аудитория, тыс</c:v>
                </c:pt>
              </c:strCache>
            </c:strRef>
          </c:tx>
          <c:spPr>
            <a:solidFill>
              <a:srgbClr val="0070C0"/>
            </a:solidFill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июл26!$A$77:$A$85</c:f>
              <c:strCache>
                <c:ptCount val="9"/>
                <c:pt idx="0">
                  <c:v>vk.com</c:v>
                </c:pt>
                <c:pt idx="1">
                  <c:v>youtube.com</c:v>
                </c:pt>
                <c:pt idx="2">
                  <c:v>instagram.com</c:v>
                </c:pt>
                <c:pt idx="3">
                  <c:v>telegram.org</c:v>
                </c:pt>
                <c:pt idx="4">
                  <c:v>dzen.ru</c:v>
                </c:pt>
                <c:pt idx="5">
                  <c:v>max.ru</c:v>
                </c:pt>
                <c:pt idx="6">
                  <c:v>ok.ru</c:v>
                </c:pt>
                <c:pt idx="7">
                  <c:v>x.com</c:v>
                </c:pt>
                <c:pt idx="8">
                  <c:v>rutube.ru</c:v>
                </c:pt>
              </c:strCache>
            </c:strRef>
          </c:cat>
          <c:val>
            <c:numRef>
              <c:f>июл26!$B$77:$B$85</c:f>
              <c:numCache>
                <c:formatCode>General</c:formatCode>
                <c:ptCount val="9"/>
                <c:pt idx="0">
                  <c:v>1125</c:v>
                </c:pt>
                <c:pt idx="1">
                  <c:v>1274</c:v>
                </c:pt>
                <c:pt idx="2" formatCode="0">
                  <c:v>442</c:v>
                </c:pt>
                <c:pt idx="3" formatCode="0">
                  <c:v>1271</c:v>
                </c:pt>
                <c:pt idx="4" formatCode="0">
                  <c:v>167</c:v>
                </c:pt>
                <c:pt idx="5" formatCode="0">
                  <c:v>22</c:v>
                </c:pt>
                <c:pt idx="6" formatCode="0">
                  <c:v>6</c:v>
                </c:pt>
                <c:pt idx="7" formatCode="0.0">
                  <c:v>0.8</c:v>
                </c:pt>
                <c:pt idx="8" formatCode="0.0">
                  <c:v>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5336576"/>
        <c:axId val="145367040"/>
      </c:barChart>
      <c:catAx>
        <c:axId val="145336576"/>
        <c:scaling>
          <c:orientation val="minMax"/>
        </c:scaling>
        <c:delete val="0"/>
        <c:axPos val="b"/>
        <c:majorTickMark val="out"/>
        <c:minorTickMark val="none"/>
        <c:tickLblPos val="nextTo"/>
        <c:crossAx val="145367040"/>
        <c:crosses val="autoZero"/>
        <c:auto val="1"/>
        <c:lblAlgn val="ctr"/>
        <c:lblOffset val="100"/>
        <c:noMultiLvlLbl val="0"/>
      </c:catAx>
      <c:valAx>
        <c:axId val="1453670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4533657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2000">
          <a:solidFill>
            <a:srgbClr val="000000"/>
          </a:solidFill>
          <a:latin typeface="PF DinDisplay Pro" panose="02000506030000020004" pitchFamily="2" charset="0"/>
        </a:defRPr>
      </a:pPr>
      <a:endParaRPr lang="ru-RU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ru-RU"/>
              <a:t>Активность аудитории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июл26!$C$76</c:f>
              <c:strCache>
                <c:ptCount val="1"/>
                <c:pt idx="0">
                  <c:v>Вовлеченность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июл26!$A$77:$A$85</c:f>
              <c:strCache>
                <c:ptCount val="9"/>
                <c:pt idx="0">
                  <c:v>vk.com</c:v>
                </c:pt>
                <c:pt idx="1">
                  <c:v>youtube.com</c:v>
                </c:pt>
                <c:pt idx="2">
                  <c:v>instagram.com</c:v>
                </c:pt>
                <c:pt idx="3">
                  <c:v>telegram.org</c:v>
                </c:pt>
                <c:pt idx="4">
                  <c:v>dzen.ru</c:v>
                </c:pt>
                <c:pt idx="5">
                  <c:v>max.ru</c:v>
                </c:pt>
                <c:pt idx="6">
                  <c:v>ok.ru</c:v>
                </c:pt>
                <c:pt idx="7">
                  <c:v>x.com</c:v>
                </c:pt>
                <c:pt idx="8">
                  <c:v>rutube.ru</c:v>
                </c:pt>
              </c:strCache>
            </c:strRef>
          </c:cat>
          <c:val>
            <c:numRef>
              <c:f>июл26!$C$77:$C$85</c:f>
              <c:numCache>
                <c:formatCode>General</c:formatCode>
                <c:ptCount val="9"/>
                <c:pt idx="0">
                  <c:v>1592</c:v>
                </c:pt>
                <c:pt idx="1">
                  <c:v>2963</c:v>
                </c:pt>
                <c:pt idx="2" formatCode="0">
                  <c:v>4850</c:v>
                </c:pt>
                <c:pt idx="3" formatCode="0">
                  <c:v>1238</c:v>
                </c:pt>
                <c:pt idx="4" formatCode="0">
                  <c:v>77</c:v>
                </c:pt>
                <c:pt idx="5" formatCode="0">
                  <c:v>188</c:v>
                </c:pt>
                <c:pt idx="6" formatCode="0">
                  <c:v>5</c:v>
                </c:pt>
                <c:pt idx="7" formatCode="0">
                  <c:v>25</c:v>
                </c:pt>
                <c:pt idx="8" formatCode="0">
                  <c:v>101</c:v>
                </c:pt>
              </c:numCache>
            </c:numRef>
          </c:val>
        </c:ser>
        <c:ser>
          <c:idx val="1"/>
          <c:order val="1"/>
          <c:tx>
            <c:strRef>
              <c:f>июл26!$D$76</c:f>
              <c:strCache>
                <c:ptCount val="1"/>
                <c:pt idx="0">
                  <c:v>Просмотры, тыс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dLbl>
              <c:idx val="0"/>
              <c:layout>
                <c:manualLayout>
                  <c:x val="1.4578902185706516E-2"/>
                  <c:y val="2.184768823933861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7.2894510928532578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8.5043596083288001E-3"/>
                  <c:y val="2.184768823933781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layout>
                <c:manualLayout>
                  <c:x val="7.2894510928532578E-3"/>
                  <c:y val="-8.0107264804946458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layout>
                <c:manualLayout>
                  <c:x val="8.5043596083288001E-3"/>
                  <c:y val="2.184768823933700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июл26!$A$77:$A$85</c:f>
              <c:strCache>
                <c:ptCount val="9"/>
                <c:pt idx="0">
                  <c:v>vk.com</c:v>
                </c:pt>
                <c:pt idx="1">
                  <c:v>youtube.com</c:v>
                </c:pt>
                <c:pt idx="2">
                  <c:v>instagram.com</c:v>
                </c:pt>
                <c:pt idx="3">
                  <c:v>telegram.org</c:v>
                </c:pt>
                <c:pt idx="4">
                  <c:v>dzen.ru</c:v>
                </c:pt>
                <c:pt idx="5">
                  <c:v>max.ru</c:v>
                </c:pt>
                <c:pt idx="6">
                  <c:v>ok.ru</c:v>
                </c:pt>
                <c:pt idx="7">
                  <c:v>x.com</c:v>
                </c:pt>
                <c:pt idx="8">
                  <c:v>rutube.ru</c:v>
                </c:pt>
              </c:strCache>
            </c:strRef>
          </c:cat>
          <c:val>
            <c:numRef>
              <c:f>июл26!$D$77:$D$85</c:f>
              <c:numCache>
                <c:formatCode>General</c:formatCode>
                <c:ptCount val="9"/>
                <c:pt idx="0">
                  <c:v>203</c:v>
                </c:pt>
                <c:pt idx="1">
                  <c:v>82</c:v>
                </c:pt>
                <c:pt idx="2" formatCode="0">
                  <c:v>0</c:v>
                </c:pt>
                <c:pt idx="3" formatCode="0">
                  <c:v>112</c:v>
                </c:pt>
                <c:pt idx="4" formatCode="0.0">
                  <c:v>4</c:v>
                </c:pt>
                <c:pt idx="5" formatCode="0">
                  <c:v>19</c:v>
                </c:pt>
                <c:pt idx="6" formatCode="0">
                  <c:v>0</c:v>
                </c:pt>
                <c:pt idx="7" formatCode="0.0">
                  <c:v>0.3</c:v>
                </c:pt>
                <c:pt idx="8" formatCode="0">
                  <c:v>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5400960"/>
        <c:axId val="145402496"/>
      </c:barChart>
      <c:catAx>
        <c:axId val="145400960"/>
        <c:scaling>
          <c:orientation val="minMax"/>
        </c:scaling>
        <c:delete val="0"/>
        <c:axPos val="b"/>
        <c:majorTickMark val="out"/>
        <c:minorTickMark val="none"/>
        <c:tickLblPos val="nextTo"/>
        <c:crossAx val="145402496"/>
        <c:crosses val="autoZero"/>
        <c:auto val="1"/>
        <c:lblAlgn val="ctr"/>
        <c:lblOffset val="100"/>
        <c:noMultiLvlLbl val="0"/>
      </c:catAx>
      <c:valAx>
        <c:axId val="14540249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45400960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81000093557521902"/>
          <c:y val="0.25899403966875328"/>
          <c:w val="0.18256545056556384"/>
          <c:h val="0.47009798420655591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2000">
          <a:solidFill>
            <a:srgbClr val="000000"/>
          </a:solidFill>
          <a:latin typeface="PF DinDisplay Pro" panose="02000506030000020004" pitchFamily="2" charset="0"/>
        </a:defRPr>
      </a:pPr>
      <a:endParaRPr lang="ru-RU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ru-RU"/>
              <a:t>Аудитория по брендам, тыс.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0070C0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</c:spPr>
          </c:dPt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июл26!$A$92:$A$97</c:f>
              <c:strCache>
                <c:ptCount val="6"/>
                <c:pt idx="0">
                  <c:v>RUFLEX</c:v>
                </c:pt>
                <c:pt idx="1">
                  <c:v>Docke</c:v>
                </c:pt>
                <c:pt idx="2">
                  <c:v>Tegola</c:v>
                </c:pt>
                <c:pt idx="3">
                  <c:v>Roofshield</c:v>
                </c:pt>
                <c:pt idx="4">
                  <c:v>Quiet Tile</c:v>
                </c:pt>
                <c:pt idx="5">
                  <c:v>Faracs</c:v>
                </c:pt>
              </c:strCache>
            </c:strRef>
          </c:cat>
          <c:val>
            <c:numRef>
              <c:f>июл26!$B$92:$B$97</c:f>
              <c:numCache>
                <c:formatCode>#,##0</c:formatCode>
                <c:ptCount val="6"/>
                <c:pt idx="0">
                  <c:v>142</c:v>
                </c:pt>
                <c:pt idx="1">
                  <c:v>2357</c:v>
                </c:pt>
                <c:pt idx="2">
                  <c:v>2297</c:v>
                </c:pt>
                <c:pt idx="3">
                  <c:v>120</c:v>
                </c:pt>
                <c:pt idx="4">
                  <c:v>160</c:v>
                </c:pt>
                <c:pt idx="5">
                  <c:v>72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3133312"/>
        <c:axId val="143135104"/>
      </c:barChart>
      <c:catAx>
        <c:axId val="143133312"/>
        <c:scaling>
          <c:orientation val="minMax"/>
        </c:scaling>
        <c:delete val="0"/>
        <c:axPos val="b"/>
        <c:majorTickMark val="out"/>
        <c:minorTickMark val="none"/>
        <c:tickLblPos val="nextTo"/>
        <c:crossAx val="143135104"/>
        <c:crosses val="autoZero"/>
        <c:auto val="1"/>
        <c:lblAlgn val="ctr"/>
        <c:lblOffset val="100"/>
        <c:noMultiLvlLbl val="0"/>
      </c:catAx>
      <c:valAx>
        <c:axId val="143135104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crossAx val="14313331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2000">
          <a:solidFill>
            <a:srgbClr val="000000"/>
          </a:solidFill>
          <a:latin typeface="PF DinDisplay Pro" panose="02000506030000020004" pitchFamily="2" charset="0"/>
        </a:defRPr>
      </a:pPr>
      <a:endParaRPr lang="ru-RU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ru-RU"/>
              <a:t>Активность аудитории по брендам 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июл26!$B$103</c:f>
              <c:strCache>
                <c:ptCount val="1"/>
                <c:pt idx="0">
                  <c:v>Вовлеченность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июл26!$A$104:$A$109</c:f>
              <c:strCache>
                <c:ptCount val="6"/>
                <c:pt idx="0">
                  <c:v>RUFLEX</c:v>
                </c:pt>
                <c:pt idx="1">
                  <c:v>Docke</c:v>
                </c:pt>
                <c:pt idx="2">
                  <c:v>Tegola</c:v>
                </c:pt>
                <c:pt idx="3">
                  <c:v>Roofshield</c:v>
                </c:pt>
                <c:pt idx="4">
                  <c:v>Quiet Tile</c:v>
                </c:pt>
                <c:pt idx="5">
                  <c:v>Faracs</c:v>
                </c:pt>
              </c:strCache>
            </c:strRef>
          </c:cat>
          <c:val>
            <c:numRef>
              <c:f>июл26!$B$104:$B$109</c:f>
              <c:numCache>
                <c:formatCode>#,##0</c:formatCode>
                <c:ptCount val="6"/>
                <c:pt idx="0">
                  <c:v>885</c:v>
                </c:pt>
                <c:pt idx="1">
                  <c:v>2544</c:v>
                </c:pt>
                <c:pt idx="2">
                  <c:v>8076</c:v>
                </c:pt>
                <c:pt idx="3">
                  <c:v>238</c:v>
                </c:pt>
                <c:pt idx="4">
                  <c:v>134</c:v>
                </c:pt>
                <c:pt idx="5">
                  <c:v>261</c:v>
                </c:pt>
              </c:numCache>
            </c:numRef>
          </c:val>
        </c:ser>
        <c:ser>
          <c:idx val="1"/>
          <c:order val="1"/>
          <c:tx>
            <c:strRef>
              <c:f>июл26!$C$103</c:f>
              <c:strCache>
                <c:ptCount val="1"/>
                <c:pt idx="0">
                  <c:v>Просмотры, тыс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dLbl>
              <c:idx val="1"/>
              <c:layout>
                <c:manualLayout>
                  <c:x val="1.1111111111111112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1.1111111111111112E-2"/>
                  <c:y val="8.4875562720133283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июл26!$A$104:$A$109</c:f>
              <c:strCache>
                <c:ptCount val="6"/>
                <c:pt idx="0">
                  <c:v>RUFLEX</c:v>
                </c:pt>
                <c:pt idx="1">
                  <c:v>Docke</c:v>
                </c:pt>
                <c:pt idx="2">
                  <c:v>Tegola</c:v>
                </c:pt>
                <c:pt idx="3">
                  <c:v>Roofshield</c:v>
                </c:pt>
                <c:pt idx="4">
                  <c:v>Quiet Tile</c:v>
                </c:pt>
                <c:pt idx="5">
                  <c:v>Faracs</c:v>
                </c:pt>
              </c:strCache>
            </c:strRef>
          </c:cat>
          <c:val>
            <c:numRef>
              <c:f>июл26!$C$104:$C$109</c:f>
              <c:numCache>
                <c:formatCode>#,##0</c:formatCode>
                <c:ptCount val="6"/>
                <c:pt idx="0" formatCode="General">
                  <c:v>12</c:v>
                </c:pt>
                <c:pt idx="1">
                  <c:v>351</c:v>
                </c:pt>
                <c:pt idx="2" formatCode="General">
                  <c:v>187</c:v>
                </c:pt>
                <c:pt idx="3" formatCode="General">
                  <c:v>5</c:v>
                </c:pt>
                <c:pt idx="4" formatCode="General">
                  <c:v>14</c:v>
                </c:pt>
                <c:pt idx="5" formatCode="General">
                  <c:v>13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3177216"/>
        <c:axId val="143178752"/>
      </c:barChart>
      <c:catAx>
        <c:axId val="143177216"/>
        <c:scaling>
          <c:orientation val="minMax"/>
        </c:scaling>
        <c:delete val="0"/>
        <c:axPos val="b"/>
        <c:majorTickMark val="out"/>
        <c:minorTickMark val="none"/>
        <c:tickLblPos val="nextTo"/>
        <c:crossAx val="143178752"/>
        <c:crosses val="autoZero"/>
        <c:auto val="1"/>
        <c:lblAlgn val="ctr"/>
        <c:lblOffset val="100"/>
        <c:noMultiLvlLbl val="0"/>
      </c:catAx>
      <c:valAx>
        <c:axId val="143178752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crossAx val="143177216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81597802423340582"/>
          <c:y val="0.23572725284339457"/>
          <c:w val="0.16735529608809735"/>
          <c:h val="0.51465660542432201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2000">
          <a:solidFill>
            <a:srgbClr val="000000"/>
          </a:solidFill>
          <a:latin typeface="PF DinDisplay Pro" panose="02000506030000020004" pitchFamily="2" charset="0"/>
        </a:defRPr>
      </a:pPr>
      <a:endParaRPr lang="ru-RU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ru-RU"/>
              <a:t>Пол авторов по брендам, 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июл26!$B$114</c:f>
              <c:strCache>
                <c:ptCount val="1"/>
                <c:pt idx="0">
                  <c:v>Мужчин</c:v>
                </c:pt>
              </c:strCache>
            </c:strRef>
          </c:tx>
          <c:spPr>
            <a:solidFill>
              <a:srgbClr val="0070C0"/>
            </a:solidFill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июл26!$A$115:$A$120</c:f>
              <c:strCache>
                <c:ptCount val="6"/>
                <c:pt idx="0">
                  <c:v>RUFLEX</c:v>
                </c:pt>
                <c:pt idx="1">
                  <c:v>Docke</c:v>
                </c:pt>
                <c:pt idx="2">
                  <c:v>Tegola</c:v>
                </c:pt>
                <c:pt idx="3">
                  <c:v>Roofshield</c:v>
                </c:pt>
                <c:pt idx="4">
                  <c:v>Faracs</c:v>
                </c:pt>
                <c:pt idx="5">
                  <c:v>Quiet Tile</c:v>
                </c:pt>
              </c:strCache>
            </c:strRef>
          </c:cat>
          <c:val>
            <c:numRef>
              <c:f>июл26!$B$115:$B$120</c:f>
              <c:numCache>
                <c:formatCode>General</c:formatCode>
                <c:ptCount val="6"/>
                <c:pt idx="0">
                  <c:v>83</c:v>
                </c:pt>
                <c:pt idx="1">
                  <c:v>76</c:v>
                </c:pt>
                <c:pt idx="2">
                  <c:v>43</c:v>
                </c:pt>
                <c:pt idx="3">
                  <c:v>75</c:v>
                </c:pt>
                <c:pt idx="4">
                  <c:v>25</c:v>
                </c:pt>
                <c:pt idx="5">
                  <c:v>100</c:v>
                </c:pt>
              </c:numCache>
            </c:numRef>
          </c:val>
        </c:ser>
        <c:ser>
          <c:idx val="1"/>
          <c:order val="1"/>
          <c:tx>
            <c:strRef>
              <c:f>июл26!$C$114</c:f>
              <c:strCache>
                <c:ptCount val="1"/>
                <c:pt idx="0">
                  <c:v>Женщин</c:v>
                </c:pt>
              </c:strCache>
            </c:strRef>
          </c:tx>
          <c:spPr>
            <a:solidFill>
              <a:schemeClr val="accent4">
                <a:lumMod val="60000"/>
                <a:lumOff val="40000"/>
              </a:schemeClr>
            </a:solidFill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июл26!$A$115:$A$120</c:f>
              <c:strCache>
                <c:ptCount val="6"/>
                <c:pt idx="0">
                  <c:v>RUFLEX</c:v>
                </c:pt>
                <c:pt idx="1">
                  <c:v>Docke</c:v>
                </c:pt>
                <c:pt idx="2">
                  <c:v>Tegola</c:v>
                </c:pt>
                <c:pt idx="3">
                  <c:v>Roofshield</c:v>
                </c:pt>
                <c:pt idx="4">
                  <c:v>Faracs</c:v>
                </c:pt>
                <c:pt idx="5">
                  <c:v>Quiet Tile</c:v>
                </c:pt>
              </c:strCache>
            </c:strRef>
          </c:cat>
          <c:val>
            <c:numRef>
              <c:f>июл26!$C$115:$C$120</c:f>
              <c:numCache>
                <c:formatCode>General</c:formatCode>
                <c:ptCount val="6"/>
                <c:pt idx="0">
                  <c:v>17</c:v>
                </c:pt>
                <c:pt idx="1">
                  <c:v>24</c:v>
                </c:pt>
                <c:pt idx="2">
                  <c:v>57</c:v>
                </c:pt>
                <c:pt idx="3">
                  <c:v>25</c:v>
                </c:pt>
                <c:pt idx="4">
                  <c:v>75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3257600"/>
        <c:axId val="143259136"/>
      </c:barChart>
      <c:catAx>
        <c:axId val="143257600"/>
        <c:scaling>
          <c:orientation val="minMax"/>
        </c:scaling>
        <c:delete val="0"/>
        <c:axPos val="b"/>
        <c:majorTickMark val="out"/>
        <c:minorTickMark val="none"/>
        <c:tickLblPos val="nextTo"/>
        <c:crossAx val="143259136"/>
        <c:crosses val="autoZero"/>
        <c:auto val="1"/>
        <c:lblAlgn val="ctr"/>
        <c:lblOffset val="100"/>
        <c:noMultiLvlLbl val="0"/>
      </c:catAx>
      <c:valAx>
        <c:axId val="14325913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43257600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83305374538411636"/>
          <c:y val="0.28613800124110611"/>
          <c:w val="0.15805884514762022"/>
          <c:h val="0.35591128711011066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2000">
          <a:solidFill>
            <a:srgbClr val="000000"/>
          </a:solidFill>
          <a:latin typeface="PF DinDisplay Pro" panose="02000506030000020004" pitchFamily="2" charset="0"/>
        </a:defRPr>
      </a:pPr>
      <a:endParaRPr lang="ru-RU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ru-RU"/>
              <a:t>Возраст авторов по брендам, %</a:t>
            </a:r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5.2698018835594156E-2"/>
          <c:y val="0.12885824516593955"/>
          <c:w val="0.78647702633701611"/>
          <c:h val="0.7730686911962980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июл26!$B$123</c:f>
              <c:strCache>
                <c:ptCount val="1"/>
                <c:pt idx="0">
                  <c:v>0-24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июл26!$A$124:$A$129</c:f>
              <c:strCache>
                <c:ptCount val="6"/>
                <c:pt idx="0">
                  <c:v>RUFLEX</c:v>
                </c:pt>
                <c:pt idx="1">
                  <c:v>Docke</c:v>
                </c:pt>
                <c:pt idx="2">
                  <c:v>Tegola</c:v>
                </c:pt>
                <c:pt idx="3">
                  <c:v>Roofshield</c:v>
                </c:pt>
                <c:pt idx="4">
                  <c:v>Faracs</c:v>
                </c:pt>
                <c:pt idx="5">
                  <c:v>Quiet Tile</c:v>
                </c:pt>
              </c:strCache>
            </c:strRef>
          </c:cat>
          <c:val>
            <c:numRef>
              <c:f>июл26!$B$124:$B$129</c:f>
              <c:numCache>
                <c:formatCode>General</c:formatCode>
                <c:ptCount val="6"/>
                <c:pt idx="0">
                  <c:v>50</c:v>
                </c:pt>
                <c:pt idx="1">
                  <c:v>17</c:v>
                </c:pt>
                <c:pt idx="2">
                  <c:v>14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июл26!$C$123</c:f>
              <c:strCache>
                <c:ptCount val="1"/>
                <c:pt idx="0">
                  <c:v>25-34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июл26!$A$124:$A$129</c:f>
              <c:strCache>
                <c:ptCount val="6"/>
                <c:pt idx="0">
                  <c:v>RUFLEX</c:v>
                </c:pt>
                <c:pt idx="1">
                  <c:v>Docke</c:v>
                </c:pt>
                <c:pt idx="2">
                  <c:v>Tegola</c:v>
                </c:pt>
                <c:pt idx="3">
                  <c:v>Roofshield</c:v>
                </c:pt>
                <c:pt idx="4">
                  <c:v>Faracs</c:v>
                </c:pt>
                <c:pt idx="5">
                  <c:v>Quiet Tile</c:v>
                </c:pt>
              </c:strCache>
            </c:strRef>
          </c:cat>
          <c:val>
            <c:numRef>
              <c:f>июл26!$C$124:$C$129</c:f>
              <c:numCache>
                <c:formatCode>General</c:formatCode>
                <c:ptCount val="6"/>
                <c:pt idx="1">
                  <c:v>18</c:v>
                </c:pt>
                <c:pt idx="2">
                  <c:v>14</c:v>
                </c:pt>
                <c:pt idx="3">
                  <c:v>100</c:v>
                </c:pt>
              </c:numCache>
            </c:numRef>
          </c:val>
        </c:ser>
        <c:ser>
          <c:idx val="2"/>
          <c:order val="2"/>
          <c:tx>
            <c:strRef>
              <c:f>июл26!$D$123</c:f>
              <c:strCache>
                <c:ptCount val="1"/>
                <c:pt idx="0">
                  <c:v>35-44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июл26!$A$124:$A$129</c:f>
              <c:strCache>
                <c:ptCount val="6"/>
                <c:pt idx="0">
                  <c:v>RUFLEX</c:v>
                </c:pt>
                <c:pt idx="1">
                  <c:v>Docke</c:v>
                </c:pt>
                <c:pt idx="2">
                  <c:v>Tegola</c:v>
                </c:pt>
                <c:pt idx="3">
                  <c:v>Roofshield</c:v>
                </c:pt>
                <c:pt idx="4">
                  <c:v>Faracs</c:v>
                </c:pt>
                <c:pt idx="5">
                  <c:v>Quiet Tile</c:v>
                </c:pt>
              </c:strCache>
            </c:strRef>
          </c:cat>
          <c:val>
            <c:numRef>
              <c:f>июл26!$D$124:$D$129</c:f>
              <c:numCache>
                <c:formatCode>General</c:formatCode>
                <c:ptCount val="6"/>
                <c:pt idx="1">
                  <c:v>29</c:v>
                </c:pt>
                <c:pt idx="4">
                  <c:v>50</c:v>
                </c:pt>
              </c:numCache>
            </c:numRef>
          </c:val>
        </c:ser>
        <c:ser>
          <c:idx val="3"/>
          <c:order val="3"/>
          <c:tx>
            <c:strRef>
              <c:f>июл26!$E$123</c:f>
              <c:strCache>
                <c:ptCount val="1"/>
                <c:pt idx="0">
                  <c:v>45-54</c:v>
                </c:pt>
              </c:strCache>
            </c:strRef>
          </c:tx>
          <c:spPr>
            <a:solidFill>
              <a:srgbClr val="0070C0"/>
            </a:solidFill>
          </c:spPr>
          <c:invertIfNegative val="0"/>
          <c:dLbls>
            <c:dLbl>
              <c:idx val="4"/>
              <c:layout>
                <c:manualLayout>
                  <c:x val="7.561728670715296E-3"/>
                  <c:y val="7.157465941451928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июл26!$A$124:$A$129</c:f>
              <c:strCache>
                <c:ptCount val="6"/>
                <c:pt idx="0">
                  <c:v>RUFLEX</c:v>
                </c:pt>
                <c:pt idx="1">
                  <c:v>Docke</c:v>
                </c:pt>
                <c:pt idx="2">
                  <c:v>Tegola</c:v>
                </c:pt>
                <c:pt idx="3">
                  <c:v>Roofshield</c:v>
                </c:pt>
                <c:pt idx="4">
                  <c:v>Faracs</c:v>
                </c:pt>
                <c:pt idx="5">
                  <c:v>Quiet Tile</c:v>
                </c:pt>
              </c:strCache>
            </c:strRef>
          </c:cat>
          <c:val>
            <c:numRef>
              <c:f>июл26!$E$124:$E$129</c:f>
              <c:numCache>
                <c:formatCode>General</c:formatCode>
                <c:ptCount val="6"/>
                <c:pt idx="0">
                  <c:v>50</c:v>
                </c:pt>
                <c:pt idx="1">
                  <c:v>18</c:v>
                </c:pt>
                <c:pt idx="2">
                  <c:v>43</c:v>
                </c:pt>
                <c:pt idx="4">
                  <c:v>50</c:v>
                </c:pt>
              </c:numCache>
            </c:numRef>
          </c:val>
        </c:ser>
        <c:ser>
          <c:idx val="4"/>
          <c:order val="4"/>
          <c:tx>
            <c:strRef>
              <c:f>июл26!$F$123</c:f>
              <c:strCache>
                <c:ptCount val="1"/>
                <c:pt idx="0">
                  <c:v>55 и старше</c:v>
                </c:pt>
              </c:strCache>
            </c:strRef>
          </c:tx>
          <c:spPr>
            <a:solidFill>
              <a:srgbClr val="7030A0"/>
            </a:solidFill>
          </c:spPr>
          <c:invertIfNegative val="0"/>
          <c:dLbls>
            <c:dLbl>
              <c:idx val="1"/>
              <c:layout>
                <c:manualLayout>
                  <c:x val="7.5617286707153359E-3"/>
                  <c:y val="8.7479128718052627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1.5123457341430592E-2"/>
                  <c:y val="1.670075386338792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июл26!$A$124:$A$129</c:f>
              <c:strCache>
                <c:ptCount val="6"/>
                <c:pt idx="0">
                  <c:v>RUFLEX</c:v>
                </c:pt>
                <c:pt idx="1">
                  <c:v>Docke</c:v>
                </c:pt>
                <c:pt idx="2">
                  <c:v>Tegola</c:v>
                </c:pt>
                <c:pt idx="3">
                  <c:v>Roofshield</c:v>
                </c:pt>
                <c:pt idx="4">
                  <c:v>Faracs</c:v>
                </c:pt>
                <c:pt idx="5">
                  <c:v>Quiet Tile</c:v>
                </c:pt>
              </c:strCache>
            </c:strRef>
          </c:cat>
          <c:val>
            <c:numRef>
              <c:f>июл26!$F$124:$F$129</c:f>
              <c:numCache>
                <c:formatCode>General</c:formatCode>
                <c:ptCount val="6"/>
                <c:pt idx="1">
                  <c:v>18</c:v>
                </c:pt>
                <c:pt idx="2">
                  <c:v>29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3301248"/>
        <c:axId val="143323520"/>
      </c:barChart>
      <c:catAx>
        <c:axId val="143301248"/>
        <c:scaling>
          <c:orientation val="minMax"/>
        </c:scaling>
        <c:delete val="0"/>
        <c:axPos val="b"/>
        <c:majorTickMark val="out"/>
        <c:minorTickMark val="none"/>
        <c:tickLblPos val="nextTo"/>
        <c:crossAx val="143323520"/>
        <c:crosses val="autoZero"/>
        <c:auto val="1"/>
        <c:lblAlgn val="ctr"/>
        <c:lblOffset val="100"/>
        <c:noMultiLvlLbl val="0"/>
      </c:catAx>
      <c:valAx>
        <c:axId val="14332352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43301248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843793568719995"/>
          <c:y val="0.2547182447564047"/>
          <c:w val="0.14540396175041176"/>
          <c:h val="0.57096571122950046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2000">
          <a:solidFill>
            <a:srgbClr val="000000"/>
          </a:solidFill>
          <a:latin typeface="PF DinDisplay Pro" panose="02000506030000020004" pitchFamily="2" charset="0"/>
        </a:defRPr>
      </a:pPr>
      <a:endParaRPr lang="ru-RU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ru-RU"/>
              <a:t>Топ регионов (все бренды)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0070C0"/>
            </a:solidFill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июл26!$A$145:$A$154</c:f>
              <c:strCache>
                <c:ptCount val="10"/>
                <c:pt idx="0">
                  <c:v>Москва</c:v>
                </c:pt>
                <c:pt idx="1">
                  <c:v>Рязанская область</c:v>
                </c:pt>
                <c:pt idx="2">
                  <c:v>Калужская область</c:v>
                </c:pt>
                <c:pt idx="3">
                  <c:v>Московская область</c:v>
                </c:pt>
                <c:pt idx="4">
                  <c:v>Челябинская область</c:v>
                </c:pt>
                <c:pt idx="5">
                  <c:v>Санкт-Петербург</c:v>
                </c:pt>
                <c:pt idx="6">
                  <c:v>Тульская область</c:v>
                </c:pt>
                <c:pt idx="7">
                  <c:v>Иркутская область</c:v>
                </c:pt>
                <c:pt idx="8">
                  <c:v>Удмуртская Республика</c:v>
                </c:pt>
                <c:pt idx="9">
                  <c:v>Свердловская область</c:v>
                </c:pt>
              </c:strCache>
            </c:strRef>
          </c:cat>
          <c:val>
            <c:numRef>
              <c:f>июл26!$B$145:$B$154</c:f>
              <c:numCache>
                <c:formatCode>General</c:formatCode>
                <c:ptCount val="10"/>
                <c:pt idx="0">
                  <c:v>136</c:v>
                </c:pt>
                <c:pt idx="1">
                  <c:v>71</c:v>
                </c:pt>
                <c:pt idx="2">
                  <c:v>28</c:v>
                </c:pt>
                <c:pt idx="3">
                  <c:v>28</c:v>
                </c:pt>
                <c:pt idx="4">
                  <c:v>27</c:v>
                </c:pt>
                <c:pt idx="5">
                  <c:v>24</c:v>
                </c:pt>
                <c:pt idx="6">
                  <c:v>21</c:v>
                </c:pt>
                <c:pt idx="7">
                  <c:v>19</c:v>
                </c:pt>
                <c:pt idx="8">
                  <c:v>17</c:v>
                </c:pt>
                <c:pt idx="9">
                  <c:v>17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5503360"/>
        <c:axId val="145504896"/>
      </c:barChart>
      <c:catAx>
        <c:axId val="14550336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45504896"/>
        <c:crosses val="autoZero"/>
        <c:auto val="1"/>
        <c:lblAlgn val="ctr"/>
        <c:lblOffset val="100"/>
        <c:noMultiLvlLbl val="0"/>
      </c:catAx>
      <c:valAx>
        <c:axId val="14550489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4550336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2000">
          <a:solidFill>
            <a:srgbClr val="000000"/>
          </a:solidFill>
          <a:latin typeface="PF DinDisplay Pro" panose="02000506030000020004" pitchFamily="2" charset="0"/>
        </a:defRPr>
      </a:pPr>
      <a:endParaRPr lang="ru-RU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ru-RU"/>
              <a:t>Топ городов (все бренды)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июл26!$A$133:$A$142</c:f>
              <c:strCache>
                <c:ptCount val="10"/>
                <c:pt idx="0">
                  <c:v>Москва</c:v>
                </c:pt>
                <c:pt idx="1">
                  <c:v>Рязань</c:v>
                </c:pt>
                <c:pt idx="2">
                  <c:v>Калуга</c:v>
                </c:pt>
                <c:pt idx="3">
                  <c:v>Санкт-Петербург</c:v>
                </c:pt>
                <c:pt idx="4">
                  <c:v>Иркутск</c:v>
                </c:pt>
                <c:pt idx="5">
                  <c:v>Ижевск</c:v>
                </c:pt>
                <c:pt idx="6">
                  <c:v>Челябинск</c:v>
                </c:pt>
                <c:pt idx="7">
                  <c:v>Ачит</c:v>
                </c:pt>
                <c:pt idx="8">
                  <c:v>Новомосковск</c:v>
                </c:pt>
                <c:pt idx="9">
                  <c:v>Артём</c:v>
                </c:pt>
              </c:strCache>
            </c:strRef>
          </c:cat>
          <c:val>
            <c:numRef>
              <c:f>июл26!$B$133:$B$142</c:f>
              <c:numCache>
                <c:formatCode>General</c:formatCode>
                <c:ptCount val="10"/>
                <c:pt idx="0">
                  <c:v>140</c:v>
                </c:pt>
                <c:pt idx="1">
                  <c:v>70</c:v>
                </c:pt>
                <c:pt idx="2">
                  <c:v>26</c:v>
                </c:pt>
                <c:pt idx="3">
                  <c:v>20</c:v>
                </c:pt>
                <c:pt idx="4">
                  <c:v>19</c:v>
                </c:pt>
                <c:pt idx="5">
                  <c:v>12</c:v>
                </c:pt>
                <c:pt idx="6">
                  <c:v>11</c:v>
                </c:pt>
                <c:pt idx="7">
                  <c:v>11</c:v>
                </c:pt>
                <c:pt idx="8">
                  <c:v>10</c:v>
                </c:pt>
                <c:pt idx="9">
                  <c:v>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5537664"/>
        <c:axId val="145539456"/>
      </c:barChart>
      <c:catAx>
        <c:axId val="14553766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45539456"/>
        <c:crosses val="autoZero"/>
        <c:auto val="1"/>
        <c:lblAlgn val="ctr"/>
        <c:lblOffset val="100"/>
        <c:noMultiLvlLbl val="0"/>
      </c:catAx>
      <c:valAx>
        <c:axId val="14553945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4553766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2000">
          <a:solidFill>
            <a:srgbClr val="000000"/>
          </a:solidFill>
          <a:latin typeface="PF DinDisplay Pro" panose="02000506030000020004" pitchFamily="2" charset="0"/>
        </a:defRPr>
      </a:pPr>
      <a:endParaRPr lang="ru-RU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ru-RU"/>
              <a:t>Топ регионов по брендам</a:t>
            </a:r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1.6331634144093079E-2"/>
          <c:y val="7.8745171642353812E-2"/>
          <c:w val="0.89505532008371069"/>
          <c:h val="0.8747493367316236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июл26!$A$158</c:f>
              <c:strCache>
                <c:ptCount val="1"/>
                <c:pt idx="0">
                  <c:v>RUFLEX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июл26!$B$157:$K$157</c:f>
              <c:strCache>
                <c:ptCount val="10"/>
                <c:pt idx="0">
                  <c:v>Москва</c:v>
                </c:pt>
                <c:pt idx="1">
                  <c:v>Рязанская обл</c:v>
                </c:pt>
                <c:pt idx="2">
                  <c:v>Калужская обл</c:v>
                </c:pt>
                <c:pt idx="3">
                  <c:v>Московская обл</c:v>
                </c:pt>
                <c:pt idx="4">
                  <c:v>Челябинская обл</c:v>
                </c:pt>
                <c:pt idx="5">
                  <c:v>С-Пб</c:v>
                </c:pt>
                <c:pt idx="6">
                  <c:v>Тульская обл</c:v>
                </c:pt>
                <c:pt idx="7">
                  <c:v>Иркутская обл</c:v>
                </c:pt>
                <c:pt idx="8">
                  <c:v>Удмуртия</c:v>
                </c:pt>
                <c:pt idx="9">
                  <c:v>Свердловская обл</c:v>
                </c:pt>
              </c:strCache>
            </c:strRef>
          </c:cat>
          <c:val>
            <c:numRef>
              <c:f>июл26!$B$158:$K$158</c:f>
              <c:numCache>
                <c:formatCode>General</c:formatCode>
                <c:ptCount val="10"/>
                <c:pt idx="0">
                  <c:v>45</c:v>
                </c:pt>
                <c:pt idx="3">
                  <c:v>5</c:v>
                </c:pt>
              </c:numCache>
            </c:numRef>
          </c:val>
        </c:ser>
        <c:ser>
          <c:idx val="1"/>
          <c:order val="1"/>
          <c:tx>
            <c:strRef>
              <c:f>июл26!$A$159</c:f>
              <c:strCache>
                <c:ptCount val="1"/>
                <c:pt idx="0">
                  <c:v>Docke</c:v>
                </c:pt>
              </c:strCache>
            </c:strRef>
          </c:tx>
          <c:spPr>
            <a:solidFill>
              <a:srgbClr val="0070C0"/>
            </a:solidFill>
          </c:spPr>
          <c:invertIfNegative val="0"/>
          <c:dLbls>
            <c:dLbl>
              <c:idx val="6"/>
              <c:layout>
                <c:manualLayout>
                  <c:x val="-4.0175351807963588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июл26!$B$157:$K$157</c:f>
              <c:strCache>
                <c:ptCount val="10"/>
                <c:pt idx="0">
                  <c:v>Москва</c:v>
                </c:pt>
                <c:pt idx="1">
                  <c:v>Рязанская обл</c:v>
                </c:pt>
                <c:pt idx="2">
                  <c:v>Калужская обл</c:v>
                </c:pt>
                <c:pt idx="3">
                  <c:v>Московская обл</c:v>
                </c:pt>
                <c:pt idx="4">
                  <c:v>Челябинская обл</c:v>
                </c:pt>
                <c:pt idx="5">
                  <c:v>С-Пб</c:v>
                </c:pt>
                <c:pt idx="6">
                  <c:v>Тульская обл</c:v>
                </c:pt>
                <c:pt idx="7">
                  <c:v>Иркутская обл</c:v>
                </c:pt>
                <c:pt idx="8">
                  <c:v>Удмуртия</c:v>
                </c:pt>
                <c:pt idx="9">
                  <c:v>Свердловская обл</c:v>
                </c:pt>
              </c:strCache>
            </c:strRef>
          </c:cat>
          <c:val>
            <c:numRef>
              <c:f>июл26!$B$159:$K$159</c:f>
              <c:numCache>
                <c:formatCode>General</c:formatCode>
                <c:ptCount val="10"/>
                <c:pt idx="0">
                  <c:v>47</c:v>
                </c:pt>
                <c:pt idx="1">
                  <c:v>47</c:v>
                </c:pt>
                <c:pt idx="2">
                  <c:v>28</c:v>
                </c:pt>
                <c:pt idx="3">
                  <c:v>1</c:v>
                </c:pt>
                <c:pt idx="4">
                  <c:v>22</c:v>
                </c:pt>
                <c:pt idx="5">
                  <c:v>8</c:v>
                </c:pt>
                <c:pt idx="6">
                  <c:v>19</c:v>
                </c:pt>
                <c:pt idx="7">
                  <c:v>5</c:v>
                </c:pt>
                <c:pt idx="8">
                  <c:v>14</c:v>
                </c:pt>
                <c:pt idx="9">
                  <c:v>13</c:v>
                </c:pt>
              </c:numCache>
            </c:numRef>
          </c:val>
        </c:ser>
        <c:ser>
          <c:idx val="2"/>
          <c:order val="2"/>
          <c:tx>
            <c:strRef>
              <c:f>июл26!$A$160</c:f>
              <c:strCache>
                <c:ptCount val="1"/>
                <c:pt idx="0">
                  <c:v>Tegola</c:v>
                </c:pt>
              </c:strCache>
            </c:strRef>
          </c:tx>
          <c:spPr>
            <a:solidFill>
              <a:schemeClr val="accent1"/>
            </a:solidFill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июл26!$B$157:$K$157</c:f>
              <c:strCache>
                <c:ptCount val="10"/>
                <c:pt idx="0">
                  <c:v>Москва</c:v>
                </c:pt>
                <c:pt idx="1">
                  <c:v>Рязанская обл</c:v>
                </c:pt>
                <c:pt idx="2">
                  <c:v>Калужская обл</c:v>
                </c:pt>
                <c:pt idx="3">
                  <c:v>Московская обл</c:v>
                </c:pt>
                <c:pt idx="4">
                  <c:v>Челябинская обл</c:v>
                </c:pt>
                <c:pt idx="5">
                  <c:v>С-Пб</c:v>
                </c:pt>
                <c:pt idx="6">
                  <c:v>Тульская обл</c:v>
                </c:pt>
                <c:pt idx="7">
                  <c:v>Иркутская обл</c:v>
                </c:pt>
                <c:pt idx="8">
                  <c:v>Удмуртия</c:v>
                </c:pt>
                <c:pt idx="9">
                  <c:v>Свердловская обл</c:v>
                </c:pt>
              </c:strCache>
            </c:strRef>
          </c:cat>
          <c:val>
            <c:numRef>
              <c:f>июл26!$B$160:$K$160</c:f>
              <c:numCache>
                <c:formatCode>General</c:formatCode>
                <c:ptCount val="10"/>
                <c:pt idx="0">
                  <c:v>29</c:v>
                </c:pt>
                <c:pt idx="1">
                  <c:v>42</c:v>
                </c:pt>
                <c:pt idx="2">
                  <c:v>28</c:v>
                </c:pt>
                <c:pt idx="3">
                  <c:v>8</c:v>
                </c:pt>
                <c:pt idx="4">
                  <c:v>19</c:v>
                </c:pt>
                <c:pt idx="5">
                  <c:v>2</c:v>
                </c:pt>
                <c:pt idx="6">
                  <c:v>19</c:v>
                </c:pt>
                <c:pt idx="7">
                  <c:v>11</c:v>
                </c:pt>
                <c:pt idx="9">
                  <c:v>1</c:v>
                </c:pt>
              </c:numCache>
            </c:numRef>
          </c:val>
        </c:ser>
        <c:ser>
          <c:idx val="3"/>
          <c:order val="3"/>
          <c:tx>
            <c:strRef>
              <c:f>июл26!$A$161</c:f>
              <c:strCache>
                <c:ptCount val="1"/>
                <c:pt idx="0">
                  <c:v>Roofshield</c:v>
                </c:pt>
              </c:strCache>
            </c:strRef>
          </c:tx>
          <c:spPr>
            <a:solidFill>
              <a:schemeClr val="accent3"/>
            </a:solidFill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июл26!$B$157:$K$157</c:f>
              <c:strCache>
                <c:ptCount val="10"/>
                <c:pt idx="0">
                  <c:v>Москва</c:v>
                </c:pt>
                <c:pt idx="1">
                  <c:v>Рязанская обл</c:v>
                </c:pt>
                <c:pt idx="2">
                  <c:v>Калужская обл</c:v>
                </c:pt>
                <c:pt idx="3">
                  <c:v>Московская обл</c:v>
                </c:pt>
                <c:pt idx="4">
                  <c:v>Челябинская обл</c:v>
                </c:pt>
                <c:pt idx="5">
                  <c:v>С-Пб</c:v>
                </c:pt>
                <c:pt idx="6">
                  <c:v>Тульская обл</c:v>
                </c:pt>
                <c:pt idx="7">
                  <c:v>Иркутская обл</c:v>
                </c:pt>
                <c:pt idx="8">
                  <c:v>Удмуртия</c:v>
                </c:pt>
                <c:pt idx="9">
                  <c:v>Свердловская обл</c:v>
                </c:pt>
              </c:strCache>
            </c:strRef>
          </c:cat>
          <c:val>
            <c:numRef>
              <c:f>июл26!$B$161:$K$161</c:f>
              <c:numCache>
                <c:formatCode>General</c:formatCode>
                <c:ptCount val="10"/>
                <c:pt idx="1">
                  <c:v>28</c:v>
                </c:pt>
              </c:numCache>
            </c:numRef>
          </c:val>
        </c:ser>
        <c:ser>
          <c:idx val="4"/>
          <c:order val="4"/>
          <c:tx>
            <c:strRef>
              <c:f>июл26!$A$163</c:f>
              <c:strCache>
                <c:ptCount val="1"/>
                <c:pt idx="0">
                  <c:v>Faracs</c:v>
                </c:pt>
              </c:strCache>
            </c:strRef>
          </c:tx>
          <c:spPr>
            <a:solidFill>
              <a:srgbClr val="FFFF00"/>
            </a:solidFill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июл26!$B$157:$K$157</c:f>
              <c:strCache>
                <c:ptCount val="10"/>
                <c:pt idx="0">
                  <c:v>Москва</c:v>
                </c:pt>
                <c:pt idx="1">
                  <c:v>Рязанская обл</c:v>
                </c:pt>
                <c:pt idx="2">
                  <c:v>Калужская обл</c:v>
                </c:pt>
                <c:pt idx="3">
                  <c:v>Московская обл</c:v>
                </c:pt>
                <c:pt idx="4">
                  <c:v>Челябинская обл</c:v>
                </c:pt>
                <c:pt idx="5">
                  <c:v>С-Пб</c:v>
                </c:pt>
                <c:pt idx="6">
                  <c:v>Тульская обл</c:v>
                </c:pt>
                <c:pt idx="7">
                  <c:v>Иркутская обл</c:v>
                </c:pt>
                <c:pt idx="8">
                  <c:v>Удмуртия</c:v>
                </c:pt>
                <c:pt idx="9">
                  <c:v>Свердловская обл</c:v>
                </c:pt>
              </c:strCache>
            </c:strRef>
          </c:cat>
          <c:val>
            <c:numRef>
              <c:f>июл26!$B$163:$K$163</c:f>
              <c:numCache>
                <c:formatCode>General</c:formatCode>
                <c:ptCount val="10"/>
                <c:pt idx="0">
                  <c:v>1</c:v>
                </c:pt>
                <c:pt idx="3">
                  <c:v>2</c:v>
                </c:pt>
              </c:numCache>
            </c:numRef>
          </c:val>
        </c:ser>
        <c:ser>
          <c:idx val="5"/>
          <c:order val="5"/>
          <c:tx>
            <c:strRef>
              <c:f>июл26!$A$162</c:f>
              <c:strCache>
                <c:ptCount val="1"/>
                <c:pt idx="0">
                  <c:v>Quiet Tile</c:v>
                </c:pt>
              </c:strCache>
            </c:strRef>
          </c:tx>
          <c:invertIfNegative val="0"/>
          <c:cat>
            <c:strRef>
              <c:f>июл26!$B$157:$K$157</c:f>
              <c:strCache>
                <c:ptCount val="10"/>
                <c:pt idx="0">
                  <c:v>Москва</c:v>
                </c:pt>
                <c:pt idx="1">
                  <c:v>Рязанская обл</c:v>
                </c:pt>
                <c:pt idx="2">
                  <c:v>Калужская обл</c:v>
                </c:pt>
                <c:pt idx="3">
                  <c:v>Московская обл</c:v>
                </c:pt>
                <c:pt idx="4">
                  <c:v>Челябинская обл</c:v>
                </c:pt>
                <c:pt idx="5">
                  <c:v>С-Пб</c:v>
                </c:pt>
                <c:pt idx="6">
                  <c:v>Тульская обл</c:v>
                </c:pt>
                <c:pt idx="7">
                  <c:v>Иркутская обл</c:v>
                </c:pt>
                <c:pt idx="8">
                  <c:v>Удмуртия</c:v>
                </c:pt>
                <c:pt idx="9">
                  <c:v>Свердловская обл</c:v>
                </c:pt>
              </c:strCache>
            </c:strRef>
          </c:cat>
          <c:val>
            <c:numRef>
              <c:f>июл26!$B$162:$K$162</c:f>
              <c:numCache>
                <c:formatCode>General</c:formatCode>
                <c:ptCount val="10"/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6245888"/>
        <c:axId val="146255872"/>
      </c:barChart>
      <c:catAx>
        <c:axId val="146245888"/>
        <c:scaling>
          <c:orientation val="minMax"/>
        </c:scaling>
        <c:delete val="0"/>
        <c:axPos val="b"/>
        <c:majorTickMark val="out"/>
        <c:minorTickMark val="none"/>
        <c:tickLblPos val="nextTo"/>
        <c:crossAx val="146255872"/>
        <c:crosses val="autoZero"/>
        <c:auto val="1"/>
        <c:lblAlgn val="ctr"/>
        <c:lblOffset val="100"/>
        <c:noMultiLvlLbl val="0"/>
      </c:catAx>
      <c:valAx>
        <c:axId val="14625587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46245888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90261213174432831"/>
          <c:y val="0.13754057115348139"/>
          <c:w val="8.7237041479745842E-2"/>
          <c:h val="0.60631725518484303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2000">
          <a:solidFill>
            <a:srgbClr val="000000"/>
          </a:solidFill>
          <a:latin typeface="PF DinDisplay Pro" panose="02000506030000020004" pitchFamily="2" charset="0"/>
        </a:defRPr>
      </a:pPr>
      <a:endParaRPr lang="ru-RU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ru-RU"/>
              <a:t>Географическая представленность по брендам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июл26!$P$157</c:f>
              <c:strCache>
                <c:ptCount val="1"/>
                <c:pt idx="0">
                  <c:v>Регионов</c:v>
                </c:pt>
              </c:strCache>
            </c:strRef>
          </c:tx>
          <c:spPr>
            <a:solidFill>
              <a:srgbClr val="0070C0"/>
            </a:solidFill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июл26!$O$158:$O$162</c:f>
              <c:strCache>
                <c:ptCount val="5"/>
                <c:pt idx="0">
                  <c:v>RUFLEX</c:v>
                </c:pt>
                <c:pt idx="1">
                  <c:v>Docke</c:v>
                </c:pt>
                <c:pt idx="2">
                  <c:v>Tegola</c:v>
                </c:pt>
                <c:pt idx="3">
                  <c:v>Roofshield</c:v>
                </c:pt>
                <c:pt idx="4">
                  <c:v>Quiet Tile</c:v>
                </c:pt>
              </c:strCache>
            </c:strRef>
          </c:cat>
          <c:val>
            <c:numRef>
              <c:f>июл26!$P$158:$P$162</c:f>
              <c:numCache>
                <c:formatCode>General</c:formatCode>
                <c:ptCount val="5"/>
                <c:pt idx="0">
                  <c:v>5</c:v>
                </c:pt>
                <c:pt idx="1">
                  <c:v>31</c:v>
                </c:pt>
                <c:pt idx="2">
                  <c:v>16</c:v>
                </c:pt>
                <c:pt idx="3">
                  <c:v>5</c:v>
                </c:pt>
                <c:pt idx="4">
                  <c:v>2</c:v>
                </c:pt>
              </c:numCache>
            </c:numRef>
          </c:val>
        </c:ser>
        <c:ser>
          <c:idx val="1"/>
          <c:order val="1"/>
          <c:tx>
            <c:strRef>
              <c:f>июл26!$Q$157</c:f>
              <c:strCache>
                <c:ptCount val="1"/>
                <c:pt idx="0">
                  <c:v>Городов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июл26!$O$158:$O$162</c:f>
              <c:strCache>
                <c:ptCount val="5"/>
                <c:pt idx="0">
                  <c:v>RUFLEX</c:v>
                </c:pt>
                <c:pt idx="1">
                  <c:v>Docke</c:v>
                </c:pt>
                <c:pt idx="2">
                  <c:v>Tegola</c:v>
                </c:pt>
                <c:pt idx="3">
                  <c:v>Roofshield</c:v>
                </c:pt>
                <c:pt idx="4">
                  <c:v>Quiet Tile</c:v>
                </c:pt>
              </c:strCache>
            </c:strRef>
          </c:cat>
          <c:val>
            <c:numRef>
              <c:f>июл26!$Q$158:$Q$162</c:f>
              <c:numCache>
                <c:formatCode>General</c:formatCode>
                <c:ptCount val="5"/>
                <c:pt idx="0">
                  <c:v>6</c:v>
                </c:pt>
                <c:pt idx="1">
                  <c:v>48</c:v>
                </c:pt>
                <c:pt idx="2">
                  <c:v>27</c:v>
                </c:pt>
                <c:pt idx="3">
                  <c:v>6</c:v>
                </c:pt>
                <c:pt idx="4">
                  <c:v>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5970688"/>
        <c:axId val="145972224"/>
      </c:barChart>
      <c:catAx>
        <c:axId val="145970688"/>
        <c:scaling>
          <c:orientation val="minMax"/>
        </c:scaling>
        <c:delete val="0"/>
        <c:axPos val="b"/>
        <c:majorTickMark val="out"/>
        <c:minorTickMark val="none"/>
        <c:tickLblPos val="nextTo"/>
        <c:crossAx val="145972224"/>
        <c:crosses val="autoZero"/>
        <c:auto val="1"/>
        <c:lblAlgn val="ctr"/>
        <c:lblOffset val="100"/>
        <c:noMultiLvlLbl val="0"/>
      </c:catAx>
      <c:valAx>
        <c:axId val="14597222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45970688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0937875004156481"/>
          <c:y val="0.28929181149653593"/>
          <c:w val="0.27175313482955477"/>
          <c:h val="0.31931427490482611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2000">
          <a:solidFill>
            <a:srgbClr val="000000"/>
          </a:solidFill>
          <a:latin typeface="PF DinDisplay Pro" panose="02000506030000020004" pitchFamily="2" charset="0"/>
        </a:defRPr>
      </a:pPr>
      <a:endParaRPr lang="ru-RU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RUFLEX</a:t>
            </a:r>
            <a:r>
              <a:rPr lang="ru-RU"/>
              <a:t>: топ регионов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0070C0"/>
            </a:solidFill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июл26!$A$182:$A$186</c:f>
              <c:strCache>
                <c:ptCount val="5"/>
                <c:pt idx="0">
                  <c:v>Москва</c:v>
                </c:pt>
                <c:pt idx="1">
                  <c:v>Московская область</c:v>
                </c:pt>
                <c:pt idx="2">
                  <c:v>Республика Татарстан (Татарстан)</c:v>
                </c:pt>
                <c:pt idx="3">
                  <c:v>Краснодарский край</c:v>
                </c:pt>
                <c:pt idx="4">
                  <c:v>Вологодская область</c:v>
                </c:pt>
              </c:strCache>
            </c:strRef>
          </c:cat>
          <c:val>
            <c:numRef>
              <c:f>июл26!$B$182:$B$186</c:f>
              <c:numCache>
                <c:formatCode>General</c:formatCode>
                <c:ptCount val="5"/>
                <c:pt idx="0">
                  <c:v>45</c:v>
                </c:pt>
                <c:pt idx="1">
                  <c:v>5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6108416"/>
        <c:axId val="146109952"/>
      </c:barChart>
      <c:catAx>
        <c:axId val="14610841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46109952"/>
        <c:crosses val="autoZero"/>
        <c:auto val="1"/>
        <c:lblAlgn val="ctr"/>
        <c:lblOffset val="100"/>
        <c:noMultiLvlLbl val="0"/>
      </c:catAx>
      <c:valAx>
        <c:axId val="14610995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4610841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2000">
          <a:solidFill>
            <a:srgbClr val="000000"/>
          </a:solidFill>
          <a:latin typeface="PF DinDisplay Pro" panose="02000506030000020004" pitchFamily="2" charset="0"/>
        </a:defRPr>
      </a:pPr>
      <a:endParaRPr lang="ru-RU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RUFLEX</a:t>
            </a:r>
            <a:r>
              <a:rPr lang="ru-RU"/>
              <a:t>: топ городов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июл26!$A$167:$A$172</c:f>
              <c:strCache>
                <c:ptCount val="6"/>
                <c:pt idx="0">
                  <c:v>Москва</c:v>
                </c:pt>
                <c:pt idx="1">
                  <c:v>Химки</c:v>
                </c:pt>
                <c:pt idx="2">
                  <c:v>Вологда</c:v>
                </c:pt>
                <c:pt idx="3">
                  <c:v>Казань</c:v>
                </c:pt>
                <c:pt idx="4">
                  <c:v>Краснодар</c:v>
                </c:pt>
                <c:pt idx="5">
                  <c:v>Коломна</c:v>
                </c:pt>
              </c:strCache>
            </c:strRef>
          </c:cat>
          <c:val>
            <c:numRef>
              <c:f>июл26!$B$167:$B$172</c:f>
              <c:numCache>
                <c:formatCode>General</c:formatCode>
                <c:ptCount val="6"/>
                <c:pt idx="0">
                  <c:v>45</c:v>
                </c:pt>
                <c:pt idx="1">
                  <c:v>4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6142720"/>
        <c:axId val="146144256"/>
      </c:barChart>
      <c:catAx>
        <c:axId val="1461427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46144256"/>
        <c:crosses val="autoZero"/>
        <c:auto val="1"/>
        <c:lblAlgn val="ctr"/>
        <c:lblOffset val="100"/>
        <c:noMultiLvlLbl val="0"/>
      </c:catAx>
      <c:valAx>
        <c:axId val="14614425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4614272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2000">
          <a:solidFill>
            <a:srgbClr val="000000"/>
          </a:solidFill>
          <a:latin typeface="PF DinDisplay Pro" panose="02000506030000020004" pitchFamily="2" charset="0"/>
        </a:defRPr>
      </a:pPr>
      <a:endParaRPr lang="ru-RU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ru-RU"/>
              <a:t>КП: бренды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rgbClr val="FF0000"/>
              </a:solidFill>
            </c:spPr>
          </c:dPt>
          <c:dPt>
            <c:idx val="1"/>
            <c:bubble3D val="0"/>
            <c:spPr>
              <a:solidFill>
                <a:srgbClr val="0070C0"/>
              </a:solidFill>
            </c:spPr>
          </c:dPt>
          <c:dPt>
            <c:idx val="2"/>
            <c:bubble3D val="0"/>
            <c:spPr>
              <a:solidFill>
                <a:schemeClr val="accent1"/>
              </a:solidFill>
            </c:spPr>
          </c:dPt>
          <c:dPt>
            <c:idx val="3"/>
            <c:bubble3D val="0"/>
            <c:spPr>
              <a:solidFill>
                <a:schemeClr val="accent3"/>
              </a:solidFill>
            </c:spPr>
          </c:dPt>
          <c:dPt>
            <c:idx val="4"/>
            <c:bubble3D val="0"/>
            <c:spPr>
              <a:solidFill>
                <a:srgbClr val="FFFF00"/>
              </a:solidFill>
            </c:spPr>
          </c:dPt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июл26!$A$213:$A$218</c:f>
              <c:strCache>
                <c:ptCount val="6"/>
                <c:pt idx="0">
                  <c:v>RUFLEX</c:v>
                </c:pt>
                <c:pt idx="1">
                  <c:v>Docke</c:v>
                </c:pt>
                <c:pt idx="2">
                  <c:v>Tegola</c:v>
                </c:pt>
                <c:pt idx="3">
                  <c:v>Quiet Tile</c:v>
                </c:pt>
                <c:pt idx="4">
                  <c:v>Roofshield</c:v>
                </c:pt>
                <c:pt idx="5">
                  <c:v>Faracs</c:v>
                </c:pt>
              </c:strCache>
            </c:strRef>
          </c:cat>
          <c:val>
            <c:numRef>
              <c:f>июл26!$C$213:$C$218</c:f>
              <c:numCache>
                <c:formatCode>0%</c:formatCode>
                <c:ptCount val="6"/>
                <c:pt idx="0">
                  <c:v>1.6172506738544475E-2</c:v>
                </c:pt>
                <c:pt idx="1">
                  <c:v>0.56064690026954178</c:v>
                </c:pt>
                <c:pt idx="2">
                  <c:v>0.38005390835579517</c:v>
                </c:pt>
                <c:pt idx="3">
                  <c:v>2.9649595687331536E-2</c:v>
                </c:pt>
                <c:pt idx="4">
                  <c:v>1.078167115902965E-2</c:v>
                </c:pt>
                <c:pt idx="5">
                  <c:v>2.6954177897574125E-3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layout>
        <c:manualLayout>
          <c:xMode val="edge"/>
          <c:yMode val="edge"/>
          <c:x val="0.72135108842087725"/>
          <c:y val="0.17221211972280923"/>
          <c:w val="0.23058024874586783"/>
          <c:h val="0.64740209741929911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2000">
          <a:solidFill>
            <a:srgbClr val="000000"/>
          </a:solidFill>
          <a:latin typeface="PF DinDisplay Pro" panose="02000506030000020004" pitchFamily="2" charset="0"/>
        </a:defRPr>
      </a:pPr>
      <a:endParaRPr lang="ru-RU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ru-RU"/>
              <a:t>КП: площадки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0070C0"/>
            </a:solidFill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июл26!$A$223:$A$233</c:f>
              <c:strCache>
                <c:ptCount val="11"/>
                <c:pt idx="0">
                  <c:v>vk.com</c:v>
                </c:pt>
                <c:pt idx="1">
                  <c:v>telegram.org</c:v>
                </c:pt>
                <c:pt idx="2">
                  <c:v>max.ru</c:v>
                </c:pt>
                <c:pt idx="3">
                  <c:v>instagram.com</c:v>
                </c:pt>
                <c:pt idx="4">
                  <c:v>ok.ru</c:v>
                </c:pt>
                <c:pt idx="5">
                  <c:v>dzen.ru</c:v>
                </c:pt>
                <c:pt idx="6">
                  <c:v>youtube.com</c:v>
                </c:pt>
                <c:pt idx="7">
                  <c:v>rutube.ru</c:v>
                </c:pt>
                <c:pt idx="8">
                  <c:v>my.mail.ru</c:v>
                </c:pt>
                <c:pt idx="9">
                  <c:v>grandline.ru</c:v>
                </c:pt>
                <c:pt idx="10">
                  <c:v>vprigorode.ru</c:v>
                </c:pt>
              </c:strCache>
            </c:strRef>
          </c:cat>
          <c:val>
            <c:numRef>
              <c:f>июл26!$B$223:$B$233</c:f>
              <c:numCache>
                <c:formatCode>General</c:formatCode>
                <c:ptCount val="11"/>
                <c:pt idx="0">
                  <c:v>165</c:v>
                </c:pt>
                <c:pt idx="1">
                  <c:v>136</c:v>
                </c:pt>
                <c:pt idx="2">
                  <c:v>19</c:v>
                </c:pt>
                <c:pt idx="3">
                  <c:v>7</c:v>
                </c:pt>
                <c:pt idx="4">
                  <c:v>6</c:v>
                </c:pt>
                <c:pt idx="5">
                  <c:v>4</c:v>
                </c:pt>
                <c:pt idx="6">
                  <c:v>4</c:v>
                </c:pt>
                <c:pt idx="7">
                  <c:v>2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6620800"/>
        <c:axId val="146622336"/>
      </c:barChart>
      <c:catAx>
        <c:axId val="146620800"/>
        <c:scaling>
          <c:orientation val="minMax"/>
        </c:scaling>
        <c:delete val="0"/>
        <c:axPos val="b"/>
        <c:majorTickMark val="out"/>
        <c:minorTickMark val="none"/>
        <c:tickLblPos val="nextTo"/>
        <c:crossAx val="146622336"/>
        <c:crosses val="autoZero"/>
        <c:auto val="1"/>
        <c:lblAlgn val="ctr"/>
        <c:lblOffset val="100"/>
        <c:noMultiLvlLbl val="0"/>
      </c:catAx>
      <c:valAx>
        <c:axId val="14662233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4662080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2000">
          <a:solidFill>
            <a:srgbClr val="000000"/>
          </a:solidFill>
          <a:latin typeface="PF DinDisplay Pro" panose="02000506030000020004" pitchFamily="2" charset="0"/>
        </a:defRPr>
      </a:pPr>
      <a:endParaRPr lang="ru-RU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ru-RU"/>
              <a:t>Монтаж: бренды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rgbClr val="FF0000"/>
              </a:solidFill>
            </c:spPr>
          </c:dPt>
          <c:dPt>
            <c:idx val="1"/>
            <c:bubble3D val="0"/>
            <c:spPr>
              <a:solidFill>
                <a:srgbClr val="0070C0"/>
              </a:solidFill>
            </c:spPr>
          </c:dPt>
          <c:dPt>
            <c:idx val="2"/>
            <c:bubble3D val="0"/>
            <c:spPr>
              <a:solidFill>
                <a:schemeClr val="accent1"/>
              </a:solidFill>
            </c:spPr>
          </c:dPt>
          <c:dPt>
            <c:idx val="3"/>
            <c:bubble3D val="0"/>
            <c:spPr>
              <a:solidFill>
                <a:schemeClr val="accent3"/>
              </a:solidFill>
            </c:spPr>
          </c:dPt>
          <c:dPt>
            <c:idx val="4"/>
            <c:bubble3D val="0"/>
            <c:spPr>
              <a:solidFill>
                <a:srgbClr val="FFFF00"/>
              </a:solidFill>
            </c:spPr>
          </c:dPt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июл26!$A$236:$A$241</c:f>
              <c:strCache>
                <c:ptCount val="6"/>
                <c:pt idx="0">
                  <c:v>RUFLEX</c:v>
                </c:pt>
                <c:pt idx="1">
                  <c:v>Docke</c:v>
                </c:pt>
                <c:pt idx="2">
                  <c:v>Tegola</c:v>
                </c:pt>
                <c:pt idx="3">
                  <c:v>Faracs</c:v>
                </c:pt>
                <c:pt idx="4">
                  <c:v>Roofshield</c:v>
                </c:pt>
                <c:pt idx="5">
                  <c:v>Quiet Tile</c:v>
                </c:pt>
              </c:strCache>
            </c:strRef>
          </c:cat>
          <c:val>
            <c:numRef>
              <c:f>июл26!$C$236:$C$241</c:f>
              <c:numCache>
                <c:formatCode>0%</c:formatCode>
                <c:ptCount val="6"/>
                <c:pt idx="0">
                  <c:v>0.10465116279069768</c:v>
                </c:pt>
                <c:pt idx="1">
                  <c:v>0.51162790697674421</c:v>
                </c:pt>
                <c:pt idx="2">
                  <c:v>0.2441860465116279</c:v>
                </c:pt>
                <c:pt idx="3">
                  <c:v>9.3023255813953487E-2</c:v>
                </c:pt>
                <c:pt idx="4">
                  <c:v>4.6511627906976744E-2</c:v>
                </c:pt>
                <c:pt idx="5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layout>
        <c:manualLayout>
          <c:xMode val="edge"/>
          <c:yMode val="edge"/>
          <c:x val="0.72625984911765362"/>
          <c:y val="0.1386088154848685"/>
          <c:w val="0.22219945923049211"/>
          <c:h val="0.72278236903026316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2000">
          <a:solidFill>
            <a:srgbClr val="000000"/>
          </a:solidFill>
          <a:latin typeface="PF DinDisplay Pro" panose="02000506030000020004" pitchFamily="2" charset="0"/>
        </a:defRPr>
      </a:pPr>
      <a:endParaRPr lang="ru-RU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ru-RU"/>
              <a:t>Монтаж: площадки</a:t>
            </a:r>
          </a:p>
        </c:rich>
      </c:tx>
      <c:layout>
        <c:manualLayout>
          <c:xMode val="edge"/>
          <c:yMode val="edge"/>
          <c:x val="0.36932697154316468"/>
          <c:y val="3.5436974515818204E-2"/>
        </c:manualLayout>
      </c:layout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0070C0"/>
            </a:solidFill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июл26!$E$237:$E$245</c:f>
              <c:strCache>
                <c:ptCount val="9"/>
                <c:pt idx="0">
                  <c:v>vk.com</c:v>
                </c:pt>
                <c:pt idx="1">
                  <c:v>instagram.com</c:v>
                </c:pt>
                <c:pt idx="2">
                  <c:v>dzen.ru</c:v>
                </c:pt>
                <c:pt idx="3">
                  <c:v>youtube.com</c:v>
                </c:pt>
                <c:pt idx="4">
                  <c:v>telegram.org</c:v>
                </c:pt>
                <c:pt idx="5">
                  <c:v>max.ru</c:v>
                </c:pt>
                <c:pt idx="6">
                  <c:v>rutube.ru</c:v>
                </c:pt>
                <c:pt idx="7">
                  <c:v>ok.ru</c:v>
                </c:pt>
                <c:pt idx="8">
                  <c:v>threads.com</c:v>
                </c:pt>
              </c:strCache>
            </c:strRef>
          </c:cat>
          <c:val>
            <c:numRef>
              <c:f>июл26!$F$237:$F$245</c:f>
              <c:numCache>
                <c:formatCode>General</c:formatCode>
                <c:ptCount val="9"/>
                <c:pt idx="0">
                  <c:v>79</c:v>
                </c:pt>
                <c:pt idx="1">
                  <c:v>28</c:v>
                </c:pt>
                <c:pt idx="2">
                  <c:v>21</c:v>
                </c:pt>
                <c:pt idx="3">
                  <c:v>19</c:v>
                </c:pt>
                <c:pt idx="4">
                  <c:v>17</c:v>
                </c:pt>
                <c:pt idx="5">
                  <c:v>5</c:v>
                </c:pt>
                <c:pt idx="6">
                  <c:v>4</c:v>
                </c:pt>
                <c:pt idx="7">
                  <c:v>1</c:v>
                </c:pt>
                <c:pt idx="8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5783040"/>
        <c:axId val="145788928"/>
      </c:barChart>
      <c:catAx>
        <c:axId val="145783040"/>
        <c:scaling>
          <c:orientation val="minMax"/>
        </c:scaling>
        <c:delete val="0"/>
        <c:axPos val="b"/>
        <c:majorTickMark val="out"/>
        <c:minorTickMark val="none"/>
        <c:tickLblPos val="nextTo"/>
        <c:crossAx val="145788928"/>
        <c:crosses val="autoZero"/>
        <c:auto val="1"/>
        <c:lblAlgn val="ctr"/>
        <c:lblOffset val="100"/>
        <c:noMultiLvlLbl val="0"/>
      </c:catAx>
      <c:valAx>
        <c:axId val="14578892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4578304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2000">
          <a:solidFill>
            <a:srgbClr val="000000"/>
          </a:solidFill>
          <a:latin typeface="PF DinDisplay Pro" panose="02000506030000020004" pitchFamily="2" charset="0"/>
        </a:defRPr>
      </a:pPr>
      <a:endParaRPr lang="ru-RU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ru-RU"/>
              <a:t>Бренды: постов в соцсетях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0070C0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</c:spPr>
          </c:dPt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июл26!$A$251:$A$254</c:f>
              <c:strCache>
                <c:ptCount val="4"/>
                <c:pt idx="0">
                  <c:v>RUFLEX</c:v>
                </c:pt>
                <c:pt idx="1">
                  <c:v>Docke</c:v>
                </c:pt>
                <c:pt idx="2">
                  <c:v>Tegola</c:v>
                </c:pt>
                <c:pt idx="3">
                  <c:v>Roofshield</c:v>
                </c:pt>
              </c:strCache>
            </c:strRef>
          </c:cat>
          <c:val>
            <c:numRef>
              <c:f>июл26!$B$251:$B$254</c:f>
              <c:numCache>
                <c:formatCode>General</c:formatCode>
                <c:ptCount val="4"/>
                <c:pt idx="0">
                  <c:v>57</c:v>
                </c:pt>
                <c:pt idx="1">
                  <c:v>76</c:v>
                </c:pt>
                <c:pt idx="2">
                  <c:v>17</c:v>
                </c:pt>
                <c:pt idx="3">
                  <c:v>44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5890304"/>
        <c:axId val="145892096"/>
      </c:barChart>
      <c:catAx>
        <c:axId val="145890304"/>
        <c:scaling>
          <c:orientation val="minMax"/>
        </c:scaling>
        <c:delete val="0"/>
        <c:axPos val="b"/>
        <c:majorTickMark val="out"/>
        <c:minorTickMark val="none"/>
        <c:tickLblPos val="nextTo"/>
        <c:crossAx val="145892096"/>
        <c:crosses val="autoZero"/>
        <c:auto val="1"/>
        <c:lblAlgn val="ctr"/>
        <c:lblOffset val="100"/>
        <c:noMultiLvlLbl val="0"/>
      </c:catAx>
      <c:valAx>
        <c:axId val="14589209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4589030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2000">
          <a:solidFill>
            <a:srgbClr val="000000"/>
          </a:solidFill>
          <a:latin typeface="PF DinDisplay Pro" panose="02000506030000020004" pitchFamily="2" charset="0"/>
        </a:defRPr>
      </a:pPr>
      <a:endParaRPr lang="ru-RU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ru-RU"/>
              <a:t>Соцсети: аудитория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июл26!$C$250</c:f>
              <c:strCache>
                <c:ptCount val="1"/>
                <c:pt idx="0">
                  <c:v>Аудитория, тыс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июл26!$A$251:$A$254</c:f>
              <c:strCache>
                <c:ptCount val="4"/>
                <c:pt idx="0">
                  <c:v>RUFLEX</c:v>
                </c:pt>
                <c:pt idx="1">
                  <c:v>Docke</c:v>
                </c:pt>
                <c:pt idx="2">
                  <c:v>Tegola</c:v>
                </c:pt>
                <c:pt idx="3">
                  <c:v>Roofshield</c:v>
                </c:pt>
              </c:strCache>
            </c:strRef>
          </c:cat>
          <c:val>
            <c:numRef>
              <c:f>июл26!$C$251:$C$254</c:f>
              <c:numCache>
                <c:formatCode>#,##0</c:formatCode>
                <c:ptCount val="4"/>
                <c:pt idx="0" formatCode="General">
                  <c:v>6.1</c:v>
                </c:pt>
                <c:pt idx="1">
                  <c:v>134</c:v>
                </c:pt>
                <c:pt idx="2">
                  <c:v>8</c:v>
                </c:pt>
                <c:pt idx="3" formatCode="General">
                  <c:v>4.5999999999999996</c:v>
                </c:pt>
              </c:numCache>
            </c:numRef>
          </c:val>
        </c:ser>
        <c:ser>
          <c:idx val="1"/>
          <c:order val="1"/>
          <c:tx>
            <c:strRef>
              <c:f>июл26!$E$250</c:f>
              <c:strCache>
                <c:ptCount val="1"/>
                <c:pt idx="0">
                  <c:v>Просмотров, тыс.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июл26!$A$251:$A$254</c:f>
              <c:strCache>
                <c:ptCount val="4"/>
                <c:pt idx="0">
                  <c:v>RUFLEX</c:v>
                </c:pt>
                <c:pt idx="1">
                  <c:v>Docke</c:v>
                </c:pt>
                <c:pt idx="2">
                  <c:v>Tegola</c:v>
                </c:pt>
                <c:pt idx="3">
                  <c:v>Roofshield</c:v>
                </c:pt>
              </c:strCache>
            </c:strRef>
          </c:cat>
          <c:val>
            <c:numRef>
              <c:f>июл26!$E$251:$E$254</c:f>
              <c:numCache>
                <c:formatCode>General</c:formatCode>
                <c:ptCount val="4"/>
                <c:pt idx="0">
                  <c:v>1.4</c:v>
                </c:pt>
                <c:pt idx="1">
                  <c:v>33</c:v>
                </c:pt>
                <c:pt idx="2">
                  <c:v>0</c:v>
                </c:pt>
                <c:pt idx="3">
                  <c:v>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5930112"/>
        <c:axId val="145931648"/>
      </c:barChart>
      <c:catAx>
        <c:axId val="145930112"/>
        <c:scaling>
          <c:orientation val="minMax"/>
        </c:scaling>
        <c:delete val="0"/>
        <c:axPos val="b"/>
        <c:majorTickMark val="out"/>
        <c:minorTickMark val="none"/>
        <c:tickLblPos val="nextTo"/>
        <c:crossAx val="145931648"/>
        <c:crosses val="autoZero"/>
        <c:auto val="1"/>
        <c:lblAlgn val="ctr"/>
        <c:lblOffset val="100"/>
        <c:noMultiLvlLbl val="0"/>
      </c:catAx>
      <c:valAx>
        <c:axId val="1459316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45930112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69004000932156584"/>
          <c:y val="0.32336842279699568"/>
          <c:w val="0.29628050742780271"/>
          <c:h val="0.32512589805598774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2000">
          <a:solidFill>
            <a:srgbClr val="000000"/>
          </a:solidFill>
          <a:latin typeface="PF DinDisplay Pro" panose="02000506030000020004" pitchFamily="2" charset="0"/>
        </a:defRPr>
      </a:pPr>
      <a:endParaRPr lang="ru-RU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ru-RU"/>
              <a:t>Соцсети: вовлеченность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0070C0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</c:spPr>
          </c:dPt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июл26!$A$251:$A$254</c:f>
              <c:strCache>
                <c:ptCount val="4"/>
                <c:pt idx="0">
                  <c:v>RUFLEX</c:v>
                </c:pt>
                <c:pt idx="1">
                  <c:v>Docke</c:v>
                </c:pt>
                <c:pt idx="2">
                  <c:v>Tegola</c:v>
                </c:pt>
                <c:pt idx="3">
                  <c:v>Roofshield</c:v>
                </c:pt>
              </c:strCache>
            </c:strRef>
          </c:cat>
          <c:val>
            <c:numRef>
              <c:f>июл26!$D$251:$D$254</c:f>
              <c:numCache>
                <c:formatCode>#,##0</c:formatCode>
                <c:ptCount val="4"/>
                <c:pt idx="0" formatCode="General">
                  <c:v>162</c:v>
                </c:pt>
                <c:pt idx="1">
                  <c:v>354</c:v>
                </c:pt>
                <c:pt idx="2">
                  <c:v>1236</c:v>
                </c:pt>
                <c:pt idx="3" formatCode="General">
                  <c:v>145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6936192"/>
        <c:axId val="146937728"/>
      </c:barChart>
      <c:catAx>
        <c:axId val="146936192"/>
        <c:scaling>
          <c:orientation val="minMax"/>
        </c:scaling>
        <c:delete val="0"/>
        <c:axPos val="b"/>
        <c:majorTickMark val="out"/>
        <c:minorTickMark val="none"/>
        <c:tickLblPos val="nextTo"/>
        <c:crossAx val="146937728"/>
        <c:crosses val="autoZero"/>
        <c:auto val="1"/>
        <c:lblAlgn val="ctr"/>
        <c:lblOffset val="100"/>
        <c:noMultiLvlLbl val="0"/>
      </c:catAx>
      <c:valAx>
        <c:axId val="14693772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4693619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2000">
          <a:solidFill>
            <a:srgbClr val="000000"/>
          </a:solidFill>
          <a:latin typeface="PF DinDisplay Pro" panose="02000506030000020004" pitchFamily="2" charset="0"/>
        </a:defRPr>
      </a:pPr>
      <a:endParaRPr lang="ru-RU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ru-RU"/>
              <a:t>Соцсети: площадки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июл26!$A$257:$A$265</c:f>
              <c:strCache>
                <c:ptCount val="9"/>
                <c:pt idx="0">
                  <c:v>telegram.org</c:v>
                </c:pt>
                <c:pt idx="1">
                  <c:v>vk.com</c:v>
                </c:pt>
                <c:pt idx="2">
                  <c:v>instagram.com</c:v>
                </c:pt>
                <c:pt idx="3">
                  <c:v>ok.ru</c:v>
                </c:pt>
                <c:pt idx="4">
                  <c:v>max.ru</c:v>
                </c:pt>
                <c:pt idx="5">
                  <c:v>youtube.com</c:v>
                </c:pt>
                <c:pt idx="6">
                  <c:v>x.com</c:v>
                </c:pt>
                <c:pt idx="7">
                  <c:v>threads.com</c:v>
                </c:pt>
                <c:pt idx="8">
                  <c:v>dzen.ru</c:v>
                </c:pt>
              </c:strCache>
            </c:strRef>
          </c:cat>
          <c:val>
            <c:numRef>
              <c:f>июл26!$B$257:$B$265</c:f>
              <c:numCache>
                <c:formatCode>General</c:formatCode>
                <c:ptCount val="9"/>
                <c:pt idx="0">
                  <c:v>62</c:v>
                </c:pt>
                <c:pt idx="1">
                  <c:v>55</c:v>
                </c:pt>
                <c:pt idx="2">
                  <c:v>30</c:v>
                </c:pt>
                <c:pt idx="3">
                  <c:v>18</c:v>
                </c:pt>
                <c:pt idx="4">
                  <c:v>10</c:v>
                </c:pt>
                <c:pt idx="5">
                  <c:v>8</c:v>
                </c:pt>
                <c:pt idx="6">
                  <c:v>8</c:v>
                </c:pt>
                <c:pt idx="7">
                  <c:v>2</c:v>
                </c:pt>
                <c:pt idx="8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6675584"/>
        <c:axId val="146677120"/>
      </c:barChart>
      <c:catAx>
        <c:axId val="146675584"/>
        <c:scaling>
          <c:orientation val="minMax"/>
        </c:scaling>
        <c:delete val="0"/>
        <c:axPos val="b"/>
        <c:majorTickMark val="out"/>
        <c:minorTickMark val="none"/>
        <c:tickLblPos val="nextTo"/>
        <c:crossAx val="146677120"/>
        <c:crosses val="autoZero"/>
        <c:auto val="1"/>
        <c:lblAlgn val="ctr"/>
        <c:lblOffset val="100"/>
        <c:noMultiLvlLbl val="0"/>
      </c:catAx>
      <c:valAx>
        <c:axId val="14667712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466755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2000">
          <a:solidFill>
            <a:srgbClr val="000000"/>
          </a:solidFill>
          <a:latin typeface="PF DinDisplay Pro" panose="02000506030000020004" pitchFamily="2" charset="0"/>
        </a:defRPr>
      </a:pPr>
      <a:endParaRPr lang="ru-RU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PR</a:t>
            </a:r>
            <a:r>
              <a:rPr lang="ru-RU"/>
              <a:t>: постов с упоминанием брендов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0070C0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</c:spPr>
          </c:dPt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июл26!$A$276:$A$281</c:f>
              <c:strCache>
                <c:ptCount val="6"/>
                <c:pt idx="0">
                  <c:v>RUFLEX</c:v>
                </c:pt>
                <c:pt idx="1">
                  <c:v>Tegola</c:v>
                </c:pt>
                <c:pt idx="2">
                  <c:v>Docke</c:v>
                </c:pt>
                <c:pt idx="3">
                  <c:v>Quiet Tile</c:v>
                </c:pt>
                <c:pt idx="4">
                  <c:v>Roofshield</c:v>
                </c:pt>
                <c:pt idx="5">
                  <c:v>Faracs</c:v>
                </c:pt>
              </c:strCache>
            </c:strRef>
          </c:cat>
          <c:val>
            <c:numRef>
              <c:f>июл26!$B$276:$B$281</c:f>
              <c:numCache>
                <c:formatCode>General</c:formatCode>
                <c:ptCount val="6"/>
                <c:pt idx="0">
                  <c:v>1</c:v>
                </c:pt>
                <c:pt idx="1">
                  <c:v>181</c:v>
                </c:pt>
                <c:pt idx="2">
                  <c:v>22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6738560"/>
        <c:axId val="146744448"/>
      </c:barChart>
      <c:catAx>
        <c:axId val="146738560"/>
        <c:scaling>
          <c:orientation val="minMax"/>
        </c:scaling>
        <c:delete val="0"/>
        <c:axPos val="b"/>
        <c:majorTickMark val="out"/>
        <c:minorTickMark val="none"/>
        <c:tickLblPos val="nextTo"/>
        <c:crossAx val="146744448"/>
        <c:crosses val="autoZero"/>
        <c:auto val="1"/>
        <c:lblAlgn val="ctr"/>
        <c:lblOffset val="100"/>
        <c:noMultiLvlLbl val="0"/>
      </c:catAx>
      <c:valAx>
        <c:axId val="1467444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4673856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2000">
          <a:solidFill>
            <a:srgbClr val="000000"/>
          </a:solidFill>
          <a:latin typeface="PF DinDisplay Pro" panose="02000506030000020004" pitchFamily="2" charset="0"/>
        </a:defRPr>
      </a:pPr>
      <a:endParaRPr lang="ru-RU"/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PR</a:t>
            </a:r>
            <a:r>
              <a:rPr lang="ru-RU"/>
              <a:t>: аудитория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июл26!$D$275</c:f>
              <c:strCache>
                <c:ptCount val="1"/>
                <c:pt idx="0">
                  <c:v>Аудитория, тыс.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июл26!$A$276:$A$278</c:f>
              <c:strCache>
                <c:ptCount val="3"/>
                <c:pt idx="0">
                  <c:v>RUFLEX</c:v>
                </c:pt>
                <c:pt idx="1">
                  <c:v>Tegola</c:v>
                </c:pt>
                <c:pt idx="2">
                  <c:v>Docke</c:v>
                </c:pt>
              </c:strCache>
            </c:strRef>
          </c:cat>
          <c:val>
            <c:numRef>
              <c:f>июл26!$D$276:$D$278</c:f>
              <c:numCache>
                <c:formatCode>General</c:formatCode>
                <c:ptCount val="3"/>
                <c:pt idx="0">
                  <c:v>0</c:v>
                </c:pt>
                <c:pt idx="1">
                  <c:v>892</c:v>
                </c:pt>
                <c:pt idx="2" formatCode="#,##0">
                  <c:v>371</c:v>
                </c:pt>
              </c:numCache>
            </c:numRef>
          </c:val>
        </c:ser>
        <c:ser>
          <c:idx val="1"/>
          <c:order val="1"/>
          <c:tx>
            <c:strRef>
              <c:f>июл26!$E$275</c:f>
              <c:strCache>
                <c:ptCount val="1"/>
                <c:pt idx="0">
                  <c:v>Просмотров, тыс.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июл26!$A$276:$A$278</c:f>
              <c:strCache>
                <c:ptCount val="3"/>
                <c:pt idx="0">
                  <c:v>RUFLEX</c:v>
                </c:pt>
                <c:pt idx="1">
                  <c:v>Tegola</c:v>
                </c:pt>
                <c:pt idx="2">
                  <c:v>Docke</c:v>
                </c:pt>
              </c:strCache>
            </c:strRef>
          </c:cat>
          <c:val>
            <c:numRef>
              <c:f>июл26!$E$276:$E$278</c:f>
              <c:numCache>
                <c:formatCode>General</c:formatCode>
                <c:ptCount val="3"/>
                <c:pt idx="0">
                  <c:v>0</c:v>
                </c:pt>
                <c:pt idx="1">
                  <c:v>99</c:v>
                </c:pt>
                <c:pt idx="2">
                  <c:v>12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6774272"/>
        <c:axId val="146780160"/>
      </c:barChart>
      <c:catAx>
        <c:axId val="146774272"/>
        <c:scaling>
          <c:orientation val="minMax"/>
        </c:scaling>
        <c:delete val="0"/>
        <c:axPos val="b"/>
        <c:majorTickMark val="out"/>
        <c:minorTickMark val="none"/>
        <c:tickLblPos val="nextTo"/>
        <c:crossAx val="146780160"/>
        <c:crosses val="autoZero"/>
        <c:auto val="1"/>
        <c:lblAlgn val="ctr"/>
        <c:lblOffset val="100"/>
        <c:noMultiLvlLbl val="0"/>
      </c:catAx>
      <c:valAx>
        <c:axId val="14678016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46774272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8430356665248058"/>
          <c:y val="0.2856916359633449"/>
          <c:w val="0.1956563448587656"/>
          <c:h val="0.40775079171441597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2000">
          <a:solidFill>
            <a:srgbClr val="000000"/>
          </a:solidFill>
          <a:latin typeface="PF DinDisplay Pro" panose="02000506030000020004" pitchFamily="2" charset="0"/>
        </a:defRPr>
      </a:pPr>
      <a:endParaRPr lang="ru-RU"/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ru-RU"/>
              <a:t>ЗМК: бренды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rgbClr val="FF0000"/>
              </a:solidFill>
            </c:spPr>
          </c:dPt>
          <c:dPt>
            <c:idx val="1"/>
            <c:bubble3D val="0"/>
            <c:spPr>
              <a:solidFill>
                <a:srgbClr val="0070C0"/>
              </a:solidFill>
            </c:spPr>
          </c:dPt>
          <c:dPt>
            <c:idx val="2"/>
            <c:bubble3D val="0"/>
            <c:spPr>
              <a:solidFill>
                <a:schemeClr val="accent1"/>
              </a:solidFill>
            </c:spPr>
          </c:dPt>
          <c:dPt>
            <c:idx val="3"/>
            <c:bubble3D val="0"/>
            <c:spPr>
              <a:solidFill>
                <a:srgbClr val="FFFF00"/>
              </a:solidFill>
            </c:spPr>
          </c:dPt>
          <c:dPt>
            <c:idx val="4"/>
            <c:bubble3D val="0"/>
            <c:spPr>
              <a:solidFill>
                <a:schemeClr val="accent3"/>
              </a:solidFill>
            </c:spPr>
          </c:dPt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июл26!$A$288:$A$293</c:f>
              <c:strCache>
                <c:ptCount val="6"/>
                <c:pt idx="0">
                  <c:v>RUFLEX</c:v>
                </c:pt>
                <c:pt idx="1">
                  <c:v>Docke</c:v>
                </c:pt>
                <c:pt idx="2">
                  <c:v>Tegola</c:v>
                </c:pt>
                <c:pt idx="3">
                  <c:v>Roofshield</c:v>
                </c:pt>
                <c:pt idx="4">
                  <c:v>Faracs</c:v>
                </c:pt>
                <c:pt idx="5">
                  <c:v>Quiet Tile</c:v>
                </c:pt>
              </c:strCache>
            </c:strRef>
          </c:cat>
          <c:val>
            <c:numRef>
              <c:f>июл26!$C$288:$C$293</c:f>
              <c:numCache>
                <c:formatCode>0%</c:formatCode>
                <c:ptCount val="6"/>
                <c:pt idx="0">
                  <c:v>0.05</c:v>
                </c:pt>
                <c:pt idx="1">
                  <c:v>0.81428571428571428</c:v>
                </c:pt>
                <c:pt idx="2">
                  <c:v>6.4285714285714279E-2</c:v>
                </c:pt>
                <c:pt idx="3">
                  <c:v>1.4285714285714285E-2</c:v>
                </c:pt>
                <c:pt idx="4">
                  <c:v>5.7142857142857141E-2</c:v>
                </c:pt>
                <c:pt idx="5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layout>
        <c:manualLayout>
          <c:xMode val="edge"/>
          <c:yMode val="edge"/>
          <c:x val="0.7075160937397228"/>
          <c:y val="0.19928174843529176"/>
          <c:w val="0.25706980454061623"/>
          <c:h val="0.62586123494584711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2000">
          <a:solidFill>
            <a:srgbClr val="000000"/>
          </a:solidFill>
          <a:latin typeface="PF DinDisplay Pro" panose="02000506030000020004" pitchFamily="2" charset="0"/>
        </a:defRPr>
      </a:pPr>
      <a:endParaRPr lang="ru-RU"/>
    </a:p>
  </c:tx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ru-RU"/>
              <a:t>ЗМК: тональность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июл26!$B$296</c:f>
              <c:strCache>
                <c:ptCount val="1"/>
                <c:pt idx="0">
                  <c:v>Позитив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июл26!$A$297:$A$301</c:f>
              <c:strCache>
                <c:ptCount val="5"/>
                <c:pt idx="0">
                  <c:v>RUFLEX</c:v>
                </c:pt>
                <c:pt idx="1">
                  <c:v>Docke</c:v>
                </c:pt>
                <c:pt idx="2">
                  <c:v>Tegola</c:v>
                </c:pt>
                <c:pt idx="3">
                  <c:v>Roofshield</c:v>
                </c:pt>
                <c:pt idx="4">
                  <c:v>Faracs</c:v>
                </c:pt>
              </c:strCache>
            </c:strRef>
          </c:cat>
          <c:val>
            <c:numRef>
              <c:f>июл26!$B$297:$B$301</c:f>
              <c:numCache>
                <c:formatCode>General</c:formatCode>
                <c:ptCount val="5"/>
                <c:pt idx="0">
                  <c:v>7</c:v>
                </c:pt>
                <c:pt idx="1">
                  <c:v>83</c:v>
                </c:pt>
                <c:pt idx="2">
                  <c:v>3</c:v>
                </c:pt>
                <c:pt idx="3">
                  <c:v>1</c:v>
                </c:pt>
                <c:pt idx="4">
                  <c:v>8</c:v>
                </c:pt>
              </c:numCache>
            </c:numRef>
          </c:val>
        </c:ser>
        <c:ser>
          <c:idx val="1"/>
          <c:order val="1"/>
          <c:tx>
            <c:strRef>
              <c:f>июл26!$C$296</c:f>
              <c:strCache>
                <c:ptCount val="1"/>
                <c:pt idx="0">
                  <c:v>Негатив</c:v>
                </c:pt>
              </c:strCache>
            </c:strRef>
          </c:tx>
          <c:spPr>
            <a:solidFill>
              <a:srgbClr val="0070C0"/>
            </a:solidFill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июл26!$A$297:$A$301</c:f>
              <c:strCache>
                <c:ptCount val="5"/>
                <c:pt idx="0">
                  <c:v>RUFLEX</c:v>
                </c:pt>
                <c:pt idx="1">
                  <c:v>Docke</c:v>
                </c:pt>
                <c:pt idx="2">
                  <c:v>Tegola</c:v>
                </c:pt>
                <c:pt idx="3">
                  <c:v>Roofshield</c:v>
                </c:pt>
                <c:pt idx="4">
                  <c:v>Faracs</c:v>
                </c:pt>
              </c:strCache>
            </c:strRef>
          </c:cat>
          <c:val>
            <c:numRef>
              <c:f>июл26!$C$297:$C$301</c:f>
              <c:numCache>
                <c:formatCode>General</c:formatCode>
                <c:ptCount val="5"/>
                <c:pt idx="1">
                  <c:v>19</c:v>
                </c:pt>
                <c:pt idx="2">
                  <c:v>1</c:v>
                </c:pt>
              </c:numCache>
            </c:numRef>
          </c:val>
        </c:ser>
        <c:ser>
          <c:idx val="2"/>
          <c:order val="2"/>
          <c:tx>
            <c:strRef>
              <c:f>июл26!$D$296</c:f>
              <c:strCache>
                <c:ptCount val="1"/>
                <c:pt idx="0">
                  <c:v>Нейтрально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июл26!$A$297:$A$301</c:f>
              <c:strCache>
                <c:ptCount val="5"/>
                <c:pt idx="0">
                  <c:v>RUFLEX</c:v>
                </c:pt>
                <c:pt idx="1">
                  <c:v>Docke</c:v>
                </c:pt>
                <c:pt idx="2">
                  <c:v>Tegola</c:v>
                </c:pt>
                <c:pt idx="3">
                  <c:v>Roofshield</c:v>
                </c:pt>
                <c:pt idx="4">
                  <c:v>Faracs</c:v>
                </c:pt>
              </c:strCache>
            </c:strRef>
          </c:cat>
          <c:val>
            <c:numRef>
              <c:f>июл26!$D$297:$D$301</c:f>
              <c:numCache>
                <c:formatCode>General</c:formatCode>
                <c:ptCount val="5"/>
                <c:pt idx="1">
                  <c:v>12</c:v>
                </c:pt>
                <c:pt idx="2">
                  <c:v>5</c:v>
                </c:pt>
                <c:pt idx="3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7294464"/>
        <c:axId val="147316736"/>
      </c:barChart>
      <c:catAx>
        <c:axId val="147294464"/>
        <c:scaling>
          <c:orientation val="minMax"/>
        </c:scaling>
        <c:delete val="0"/>
        <c:axPos val="b"/>
        <c:majorTickMark val="out"/>
        <c:minorTickMark val="none"/>
        <c:tickLblPos val="nextTo"/>
        <c:crossAx val="147316736"/>
        <c:crosses val="autoZero"/>
        <c:auto val="1"/>
        <c:lblAlgn val="ctr"/>
        <c:lblOffset val="100"/>
        <c:noMultiLvlLbl val="0"/>
      </c:catAx>
      <c:valAx>
        <c:axId val="14731673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47294464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9421296746638947"/>
          <c:y val="0.19534533959488959"/>
          <c:w val="0.19583676430483443"/>
          <c:h val="0.58219655448792607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2000">
          <a:solidFill>
            <a:srgbClr val="000000"/>
          </a:solidFill>
          <a:latin typeface="PF DinDisplay Pro" panose="02000506030000020004" pitchFamily="2" charset="0"/>
        </a:defRPr>
      </a:pPr>
      <a:endParaRPr lang="ru-RU"/>
    </a:p>
  </c:tx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ru-RU"/>
              <a:t>ЗМК: лояльность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0070C0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</c:spPr>
          </c:dPt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июл26!$A$297:$A$301</c:f>
              <c:strCache>
                <c:ptCount val="5"/>
                <c:pt idx="0">
                  <c:v>RUFLEX</c:v>
                </c:pt>
                <c:pt idx="1">
                  <c:v>Docke</c:v>
                </c:pt>
                <c:pt idx="2">
                  <c:v>Tegola</c:v>
                </c:pt>
                <c:pt idx="3">
                  <c:v>Roofshield</c:v>
                </c:pt>
                <c:pt idx="4">
                  <c:v>Faracs</c:v>
                </c:pt>
              </c:strCache>
            </c:strRef>
          </c:cat>
          <c:val>
            <c:numRef>
              <c:f>июл26!$E$297:$E$301</c:f>
              <c:numCache>
                <c:formatCode>0.0</c:formatCode>
                <c:ptCount val="5"/>
                <c:pt idx="0" formatCode="General">
                  <c:v>7</c:v>
                </c:pt>
                <c:pt idx="1">
                  <c:v>4.3684210526315788</c:v>
                </c:pt>
                <c:pt idx="2" formatCode="General">
                  <c:v>3</c:v>
                </c:pt>
                <c:pt idx="3" formatCode="General">
                  <c:v>1</c:v>
                </c:pt>
                <c:pt idx="4" formatCode="General">
                  <c:v>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7329792"/>
        <c:axId val="147331328"/>
      </c:barChart>
      <c:catAx>
        <c:axId val="147329792"/>
        <c:scaling>
          <c:orientation val="minMax"/>
        </c:scaling>
        <c:delete val="0"/>
        <c:axPos val="b"/>
        <c:majorTickMark val="out"/>
        <c:minorTickMark val="none"/>
        <c:tickLblPos val="nextTo"/>
        <c:crossAx val="147331328"/>
        <c:crosses val="autoZero"/>
        <c:auto val="1"/>
        <c:lblAlgn val="ctr"/>
        <c:lblOffset val="100"/>
        <c:noMultiLvlLbl val="0"/>
      </c:catAx>
      <c:valAx>
        <c:axId val="14733132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4732979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2000">
          <a:solidFill>
            <a:srgbClr val="000000"/>
          </a:solidFill>
          <a:latin typeface="PF DinDisplay Pro" panose="02000506030000020004" pitchFamily="2" charset="0"/>
        </a:defRPr>
      </a:pPr>
      <a:endParaRPr lang="ru-RU"/>
    </a:p>
  </c:tx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ru-RU"/>
              <a:t>ЗМК: площадки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0070C0"/>
            </a:solidFill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июл26!$A$308:$A$319</c:f>
              <c:strCache>
                <c:ptCount val="12"/>
                <c:pt idx="0">
                  <c:v>wildberries.ru</c:v>
                </c:pt>
                <c:pt idx="1">
                  <c:v>vk.com</c:v>
                </c:pt>
                <c:pt idx="2">
                  <c:v>telegram.org</c:v>
                </c:pt>
                <c:pt idx="3">
                  <c:v>youtube.com</c:v>
                </c:pt>
                <c:pt idx="4">
                  <c:v>market.yandex.ru</c:v>
                </c:pt>
                <c:pt idx="5">
                  <c:v>instagram.com</c:v>
                </c:pt>
                <c:pt idx="6">
                  <c:v>pikabu.ru</c:v>
                </c:pt>
                <c:pt idx="7">
                  <c:v>2gis.ru</c:v>
                </c:pt>
                <c:pt idx="8">
                  <c:v>otzovikon.com</c:v>
                </c:pt>
                <c:pt idx="9">
                  <c:v>maps.yandex.ru</c:v>
                </c:pt>
                <c:pt idx="10">
                  <c:v>flamp.ru</c:v>
                </c:pt>
                <c:pt idx="11">
                  <c:v>dreamjob.ru</c:v>
                </c:pt>
              </c:strCache>
            </c:strRef>
          </c:cat>
          <c:val>
            <c:numRef>
              <c:f>июл26!$B$308:$B$319</c:f>
              <c:numCache>
                <c:formatCode>General</c:formatCode>
                <c:ptCount val="12"/>
                <c:pt idx="0">
                  <c:v>107</c:v>
                </c:pt>
                <c:pt idx="1">
                  <c:v>7</c:v>
                </c:pt>
                <c:pt idx="2">
                  <c:v>5</c:v>
                </c:pt>
                <c:pt idx="3">
                  <c:v>5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2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7011072"/>
        <c:axId val="147012608"/>
      </c:barChart>
      <c:catAx>
        <c:axId val="147011072"/>
        <c:scaling>
          <c:orientation val="minMax"/>
        </c:scaling>
        <c:delete val="0"/>
        <c:axPos val="b"/>
        <c:majorTickMark val="out"/>
        <c:minorTickMark val="none"/>
        <c:tickLblPos val="nextTo"/>
        <c:crossAx val="147012608"/>
        <c:crosses val="autoZero"/>
        <c:auto val="1"/>
        <c:lblAlgn val="ctr"/>
        <c:lblOffset val="100"/>
        <c:noMultiLvlLbl val="0"/>
      </c:catAx>
      <c:valAx>
        <c:axId val="14701260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4701107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2000">
          <a:solidFill>
            <a:srgbClr val="000000"/>
          </a:solidFill>
          <a:latin typeface="PF DinDisplay Pro" panose="02000506030000020004" pitchFamily="2" charset="0"/>
        </a:defRPr>
      </a:pPr>
      <a:endParaRPr lang="ru-RU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Open Sans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Open Sans"/>
              </a:defRPr>
            </a:lvl1pPr>
          </a:lstStyle>
          <a:p>
            <a:fld id="{EFC10EE1-B198-C942-8235-326C972CBB30}" type="datetimeFigureOut">
              <a:rPr lang="en-US" smtClean="0"/>
              <a:pPr/>
              <a:t>8/17/2026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Open San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Open Sans"/>
              </a:defRPr>
            </a:lvl1pPr>
          </a:lstStyle>
          <a:p>
            <a:fld id="{006BE02D-20C0-F840-AFAC-BEA99C74FDC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289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17" rtl="0" eaLnBrk="1" latinLnBrk="0" hangingPunct="1">
      <a:defRPr sz="2400" kern="1200">
        <a:solidFill>
          <a:schemeClr val="tx1"/>
        </a:solidFill>
        <a:latin typeface="Open Sans"/>
        <a:ea typeface="+mn-ea"/>
        <a:cs typeface="+mn-cs"/>
      </a:defRPr>
    </a:lvl1pPr>
    <a:lvl2pPr marL="914217" algn="l" defTabSz="914217" rtl="0" eaLnBrk="1" latinLnBrk="0" hangingPunct="1">
      <a:defRPr sz="2400" kern="1200">
        <a:solidFill>
          <a:schemeClr val="tx1"/>
        </a:solidFill>
        <a:latin typeface="Open Sans"/>
        <a:ea typeface="+mn-ea"/>
        <a:cs typeface="+mn-cs"/>
      </a:defRPr>
    </a:lvl2pPr>
    <a:lvl3pPr marL="1828434" algn="l" defTabSz="914217" rtl="0" eaLnBrk="1" latinLnBrk="0" hangingPunct="1">
      <a:defRPr sz="2400" kern="1200">
        <a:solidFill>
          <a:schemeClr val="tx1"/>
        </a:solidFill>
        <a:latin typeface="Open Sans"/>
        <a:ea typeface="+mn-ea"/>
        <a:cs typeface="+mn-cs"/>
      </a:defRPr>
    </a:lvl3pPr>
    <a:lvl4pPr marL="2742651" algn="l" defTabSz="914217" rtl="0" eaLnBrk="1" latinLnBrk="0" hangingPunct="1">
      <a:defRPr sz="2400" kern="1200">
        <a:solidFill>
          <a:schemeClr val="tx1"/>
        </a:solidFill>
        <a:latin typeface="Open Sans"/>
        <a:ea typeface="+mn-ea"/>
        <a:cs typeface="+mn-cs"/>
      </a:defRPr>
    </a:lvl4pPr>
    <a:lvl5pPr marL="3656868" algn="l" defTabSz="914217" rtl="0" eaLnBrk="1" latinLnBrk="0" hangingPunct="1">
      <a:defRPr sz="2400" kern="1200">
        <a:solidFill>
          <a:schemeClr val="tx1"/>
        </a:solidFill>
        <a:latin typeface="Open Sans"/>
        <a:ea typeface="+mn-ea"/>
        <a:cs typeface="+mn-cs"/>
      </a:defRPr>
    </a:lvl5pPr>
    <a:lvl6pPr marL="4571086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5303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399520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3737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71026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6374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6374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6374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637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797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xmlns:p14="http://schemas.microsoft.com/office/powerpoint/2010/main" advClick="0" advTm="3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-Compan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8675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xmlns:p14="http://schemas.microsoft.com/office/powerpoint/2010/main" advClick="0" advTm="3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Image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-3176" y="0"/>
            <a:ext cx="24377651" cy="13716000"/>
          </a:xfrm>
          <a:effectLst/>
        </p:spPr>
        <p:txBody>
          <a:bodyPr>
            <a:normAutofit/>
          </a:bodyPr>
          <a:lstStyle>
            <a:lvl1pPr marL="0" indent="0">
              <a:buNone/>
              <a:defRPr sz="42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536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14:reveal/>
      </p:transition>
    </mc:Choice>
    <mc:Fallback xmlns="">
      <p:transition xmlns:p14="http://schemas.microsoft.com/office/powerpoint/2010/main" spd="slow" advClick="0" advTm="3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24377650" cy="822960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5020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Meet_the_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7791466" y="12512740"/>
            <a:ext cx="8807512" cy="823835"/>
          </a:xfrm>
          <a:prstGeom prst="rect">
            <a:avLst/>
          </a:prstGeom>
        </p:spPr>
        <p:txBody>
          <a:bodyPr wrap="square" lIns="175787" tIns="87894" rIns="175787" bIns="87894">
            <a:spAutoFit/>
          </a:bodyPr>
          <a:lstStyle/>
          <a:p>
            <a:pPr algn="ctr"/>
            <a:r>
              <a:rPr lang="id-ID" sz="2300" dirty="0">
                <a:solidFill>
                  <a:schemeClr val="accent1"/>
                </a:solidFill>
                <a:latin typeface="Open Sans"/>
                <a:cs typeface="Open Sans"/>
              </a:rPr>
              <a:t>www.companyname.com</a:t>
            </a:r>
          </a:p>
          <a:p>
            <a:pPr algn="ctr"/>
            <a:r>
              <a:rPr lang="en-US" sz="1900" dirty="0">
                <a:solidFill>
                  <a:schemeClr val="tx2"/>
                </a:solidFill>
                <a:latin typeface="Open Sans"/>
                <a:cs typeface="Open Sans"/>
              </a:rPr>
              <a:t>© 2016 </a:t>
            </a:r>
            <a:r>
              <a:rPr lang="en-US" sz="1900" dirty="0" err="1">
                <a:solidFill>
                  <a:schemeClr val="tx2"/>
                </a:solidFill>
                <a:latin typeface="Open Sans"/>
                <a:cs typeface="Open Sans"/>
              </a:rPr>
              <a:t>Motagua</a:t>
            </a:r>
            <a:r>
              <a:rPr lang="en-US" sz="1900" dirty="0">
                <a:solidFill>
                  <a:schemeClr val="tx2"/>
                </a:solidFill>
                <a:latin typeface="Open Sans"/>
                <a:cs typeface="Open Sans"/>
              </a:rPr>
              <a:t> </a:t>
            </a:r>
            <a:r>
              <a:rPr lang="id-ID" sz="1900" dirty="0">
                <a:solidFill>
                  <a:schemeClr val="tx2"/>
                </a:solidFill>
                <a:latin typeface="Open Sans"/>
                <a:cs typeface="Open Sans"/>
              </a:rPr>
              <a:t>PowerPoint Multipurpose Theme</a:t>
            </a:r>
            <a:r>
              <a:rPr lang="en-US" sz="1900" dirty="0">
                <a:solidFill>
                  <a:schemeClr val="tx2"/>
                </a:solidFill>
                <a:latin typeface="Open Sans"/>
                <a:cs typeface="Open Sans"/>
              </a:rPr>
              <a:t>. All Rights Reserved. </a:t>
            </a:r>
            <a:endParaRPr lang="id-ID" sz="1900" dirty="0">
              <a:solidFill>
                <a:schemeClr val="tx2"/>
              </a:solidFill>
              <a:latin typeface="Open Sans"/>
              <a:cs typeface="Open Sans"/>
            </a:endParaRPr>
          </a:p>
        </p:txBody>
      </p:sp>
      <p:sp>
        <p:nvSpPr>
          <p:cNvPr id="5" name="Picture Placeholder 22"/>
          <p:cNvSpPr>
            <a:spLocks noGrp="1" noChangeAspect="1"/>
          </p:cNvSpPr>
          <p:nvPr>
            <p:ph type="pic" sz="quarter" idx="14"/>
          </p:nvPr>
        </p:nvSpPr>
        <p:spPr>
          <a:xfrm>
            <a:off x="1976453" y="3642014"/>
            <a:ext cx="3643949" cy="3649132"/>
          </a:xfrm>
        </p:spPr>
        <p:txBody>
          <a:bodyPr>
            <a:normAutofit/>
          </a:bodyPr>
          <a:lstStyle>
            <a:lvl1pPr marL="0" indent="0">
              <a:buNone/>
              <a:defRPr sz="3100">
                <a:solidFill>
                  <a:schemeClr val="bg1"/>
                </a:solidFill>
                <a:latin typeface="Open Sans"/>
                <a:cs typeface="Open Sans"/>
              </a:defRPr>
            </a:lvl1pPr>
          </a:lstStyle>
          <a:p>
            <a:endParaRPr lang="id-ID" dirty="0"/>
          </a:p>
        </p:txBody>
      </p:sp>
      <p:sp>
        <p:nvSpPr>
          <p:cNvPr id="6" name="Oval 5"/>
          <p:cNvSpPr/>
          <p:nvPr userDrawn="1"/>
        </p:nvSpPr>
        <p:spPr>
          <a:xfrm>
            <a:off x="23019760" y="497184"/>
            <a:ext cx="959010" cy="866851"/>
          </a:xfrm>
          <a:prstGeom prst="ellipse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7911" tIns="43955" rIns="87911" bIns="43955" rtlCol="0" anchor="ctr"/>
          <a:lstStyle/>
          <a:p>
            <a:pPr algn="ctr"/>
            <a:endParaRPr lang="en-US" sz="2700" dirty="0">
              <a:latin typeface="Open Sans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23124668" y="607070"/>
            <a:ext cx="778200" cy="593003"/>
          </a:xfrm>
          <a:prstGeom prst="rect">
            <a:avLst/>
          </a:prstGeom>
          <a:noFill/>
        </p:spPr>
        <p:txBody>
          <a:bodyPr wrap="none" lIns="175787" tIns="87894" rIns="175787" bIns="87894" rtlCol="0">
            <a:spAutoFit/>
          </a:bodyPr>
          <a:lstStyle/>
          <a:p>
            <a:pPr algn="ctr"/>
            <a:fld id="{260E2A6B-A809-4840-BF14-8648BC0BDF87}" type="slidenum">
              <a:rPr lang="id-ID" sz="2700" b="1" smtClean="0">
                <a:solidFill>
                  <a:schemeClr val="bg1"/>
                </a:solidFill>
                <a:latin typeface="Raleway Light"/>
                <a:cs typeface="Raleway Light"/>
              </a:rPr>
              <a:pPr algn="ctr"/>
              <a:t>‹#›</a:t>
            </a:fld>
            <a:endParaRPr lang="id-ID" sz="2700" dirty="0">
              <a:solidFill>
                <a:schemeClr val="bg1"/>
              </a:solidFill>
              <a:latin typeface="Raleway Light"/>
              <a:cs typeface="Raleway Light"/>
            </a:endParaRPr>
          </a:p>
        </p:txBody>
      </p:sp>
    </p:spTree>
    <p:extLst>
      <p:ext uri="{BB962C8B-B14F-4D97-AF65-F5344CB8AC3E}">
        <p14:creationId xmlns:p14="http://schemas.microsoft.com/office/powerpoint/2010/main" val="1087103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7791466" y="12512740"/>
            <a:ext cx="8807512" cy="823835"/>
          </a:xfrm>
          <a:prstGeom prst="rect">
            <a:avLst/>
          </a:prstGeom>
        </p:spPr>
        <p:txBody>
          <a:bodyPr wrap="square" lIns="175787" tIns="87894" rIns="175787" bIns="87894">
            <a:spAutoFit/>
          </a:bodyPr>
          <a:lstStyle/>
          <a:p>
            <a:pPr algn="ctr"/>
            <a:r>
              <a:rPr lang="id-ID" sz="2300" dirty="0">
                <a:solidFill>
                  <a:schemeClr val="accent1"/>
                </a:solidFill>
                <a:latin typeface="Open Sans"/>
                <a:cs typeface="Open Sans"/>
              </a:rPr>
              <a:t>www.companyname.com</a:t>
            </a:r>
          </a:p>
          <a:p>
            <a:pPr algn="ctr"/>
            <a:r>
              <a:rPr lang="en-US" sz="1900" dirty="0">
                <a:solidFill>
                  <a:schemeClr val="tx2"/>
                </a:solidFill>
                <a:latin typeface="Open Sans"/>
                <a:cs typeface="Open Sans"/>
              </a:rPr>
              <a:t>© 2016 </a:t>
            </a:r>
            <a:r>
              <a:rPr lang="en-US" sz="1900" dirty="0" err="1">
                <a:solidFill>
                  <a:schemeClr val="tx2"/>
                </a:solidFill>
                <a:latin typeface="Open Sans"/>
                <a:cs typeface="Open Sans"/>
              </a:rPr>
              <a:t>Motagua</a:t>
            </a:r>
            <a:r>
              <a:rPr lang="en-US" sz="1900" dirty="0">
                <a:solidFill>
                  <a:schemeClr val="tx2"/>
                </a:solidFill>
                <a:latin typeface="Open Sans"/>
                <a:cs typeface="Open Sans"/>
              </a:rPr>
              <a:t> </a:t>
            </a:r>
            <a:r>
              <a:rPr lang="id-ID" sz="1900" dirty="0">
                <a:solidFill>
                  <a:schemeClr val="tx2"/>
                </a:solidFill>
                <a:latin typeface="Open Sans"/>
                <a:cs typeface="Open Sans"/>
              </a:rPr>
              <a:t>PowerPoint Multipurpose Theme</a:t>
            </a:r>
            <a:r>
              <a:rPr lang="en-US" sz="1900" dirty="0">
                <a:solidFill>
                  <a:schemeClr val="tx2"/>
                </a:solidFill>
                <a:latin typeface="Open Sans"/>
                <a:cs typeface="Open Sans"/>
              </a:rPr>
              <a:t>. All Rights Reserved. </a:t>
            </a:r>
            <a:endParaRPr lang="id-ID" sz="1900" dirty="0">
              <a:solidFill>
                <a:schemeClr val="tx2"/>
              </a:solidFill>
              <a:latin typeface="Open Sans"/>
              <a:cs typeface="Open Sans"/>
            </a:endParaRPr>
          </a:p>
        </p:txBody>
      </p:sp>
      <p:sp>
        <p:nvSpPr>
          <p:cNvPr id="5" name="Oval 4"/>
          <p:cNvSpPr/>
          <p:nvPr userDrawn="1"/>
        </p:nvSpPr>
        <p:spPr>
          <a:xfrm>
            <a:off x="23019760" y="497184"/>
            <a:ext cx="959010" cy="866851"/>
          </a:xfrm>
          <a:prstGeom prst="ellipse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7911" tIns="43955" rIns="87911" bIns="43955" rtlCol="0" anchor="ctr"/>
          <a:lstStyle/>
          <a:p>
            <a:pPr algn="ctr"/>
            <a:endParaRPr lang="en-US" sz="2700" dirty="0">
              <a:latin typeface="Open Sans"/>
            </a:endParaRPr>
          </a:p>
        </p:txBody>
      </p:sp>
      <p:sp>
        <p:nvSpPr>
          <p:cNvPr id="6" name="TextBox 5"/>
          <p:cNvSpPr txBox="1"/>
          <p:nvPr userDrawn="1"/>
        </p:nvSpPr>
        <p:spPr>
          <a:xfrm>
            <a:off x="23124668" y="607070"/>
            <a:ext cx="778200" cy="593003"/>
          </a:xfrm>
          <a:prstGeom prst="rect">
            <a:avLst/>
          </a:prstGeom>
          <a:noFill/>
        </p:spPr>
        <p:txBody>
          <a:bodyPr wrap="none" lIns="175787" tIns="87894" rIns="175787" bIns="87894" rtlCol="0">
            <a:spAutoFit/>
          </a:bodyPr>
          <a:lstStyle/>
          <a:p>
            <a:pPr algn="ctr"/>
            <a:fld id="{260E2A6B-A809-4840-BF14-8648BC0BDF87}" type="slidenum">
              <a:rPr lang="id-ID" sz="2700" b="1" smtClean="0">
                <a:solidFill>
                  <a:schemeClr val="bg1"/>
                </a:solidFill>
                <a:latin typeface="Raleway Light"/>
                <a:cs typeface="Raleway Light"/>
              </a:rPr>
              <a:pPr algn="ctr"/>
              <a:t>‹#›</a:t>
            </a:fld>
            <a:endParaRPr lang="id-ID" sz="2700" dirty="0">
              <a:solidFill>
                <a:schemeClr val="bg1"/>
              </a:solidFill>
              <a:latin typeface="Raleway Light"/>
              <a:cs typeface="Raleway Light"/>
            </a:endParaRPr>
          </a:p>
        </p:txBody>
      </p:sp>
    </p:spTree>
    <p:extLst>
      <p:ext uri="{BB962C8B-B14F-4D97-AF65-F5344CB8AC3E}">
        <p14:creationId xmlns:p14="http://schemas.microsoft.com/office/powerpoint/2010/main" val="1560600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7791466" y="12512740"/>
            <a:ext cx="8807512" cy="823835"/>
          </a:xfrm>
          <a:prstGeom prst="rect">
            <a:avLst/>
          </a:prstGeom>
        </p:spPr>
        <p:txBody>
          <a:bodyPr wrap="square" lIns="175787" tIns="87894" rIns="175787" bIns="87894">
            <a:spAutoFit/>
          </a:bodyPr>
          <a:lstStyle/>
          <a:p>
            <a:pPr algn="ctr"/>
            <a:r>
              <a:rPr lang="id-ID" sz="2300" dirty="0">
                <a:solidFill>
                  <a:schemeClr val="accent1"/>
                </a:solidFill>
                <a:latin typeface="Open Sans"/>
                <a:cs typeface="Open Sans"/>
              </a:rPr>
              <a:t>www.companyname.com</a:t>
            </a:r>
          </a:p>
          <a:p>
            <a:pPr algn="ctr"/>
            <a:r>
              <a:rPr lang="en-US" sz="1900" dirty="0">
                <a:solidFill>
                  <a:schemeClr val="tx2"/>
                </a:solidFill>
                <a:latin typeface="Open Sans"/>
                <a:cs typeface="Open Sans"/>
              </a:rPr>
              <a:t>© 2016 </a:t>
            </a:r>
            <a:r>
              <a:rPr lang="en-US" sz="1900" dirty="0" err="1">
                <a:solidFill>
                  <a:schemeClr val="tx2"/>
                </a:solidFill>
                <a:latin typeface="Open Sans"/>
                <a:cs typeface="Open Sans"/>
              </a:rPr>
              <a:t>Motagua</a:t>
            </a:r>
            <a:r>
              <a:rPr lang="en-US" sz="1900" dirty="0">
                <a:solidFill>
                  <a:schemeClr val="tx2"/>
                </a:solidFill>
                <a:latin typeface="Open Sans"/>
                <a:cs typeface="Open Sans"/>
              </a:rPr>
              <a:t> </a:t>
            </a:r>
            <a:r>
              <a:rPr lang="id-ID" sz="1900" dirty="0">
                <a:solidFill>
                  <a:schemeClr val="tx2"/>
                </a:solidFill>
                <a:latin typeface="Open Sans"/>
                <a:cs typeface="Open Sans"/>
              </a:rPr>
              <a:t>PowerPoint Multipurpose Theme</a:t>
            </a:r>
            <a:r>
              <a:rPr lang="en-US" sz="1900" dirty="0">
                <a:solidFill>
                  <a:schemeClr val="tx2"/>
                </a:solidFill>
                <a:latin typeface="Open Sans"/>
                <a:cs typeface="Open Sans"/>
              </a:rPr>
              <a:t>. All Rights Reserved. </a:t>
            </a:r>
            <a:endParaRPr lang="id-ID" sz="1900" dirty="0">
              <a:solidFill>
                <a:schemeClr val="tx2"/>
              </a:solidFill>
              <a:latin typeface="Open Sans"/>
              <a:cs typeface="Open Sans"/>
            </a:endParaRPr>
          </a:p>
        </p:txBody>
      </p:sp>
      <p:sp>
        <p:nvSpPr>
          <p:cNvPr id="5" name="Oval 4"/>
          <p:cNvSpPr/>
          <p:nvPr userDrawn="1"/>
        </p:nvSpPr>
        <p:spPr>
          <a:xfrm>
            <a:off x="23019760" y="497184"/>
            <a:ext cx="959010" cy="866851"/>
          </a:xfrm>
          <a:prstGeom prst="ellipse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7911" tIns="43955" rIns="87911" bIns="43955" rtlCol="0" anchor="ctr"/>
          <a:lstStyle/>
          <a:p>
            <a:pPr algn="ctr"/>
            <a:endParaRPr lang="en-US" sz="2700" dirty="0">
              <a:latin typeface="Open Sans"/>
            </a:endParaRPr>
          </a:p>
        </p:txBody>
      </p:sp>
      <p:sp>
        <p:nvSpPr>
          <p:cNvPr id="6" name="TextBox 5"/>
          <p:cNvSpPr txBox="1"/>
          <p:nvPr userDrawn="1"/>
        </p:nvSpPr>
        <p:spPr>
          <a:xfrm>
            <a:off x="23124668" y="607070"/>
            <a:ext cx="778200" cy="593003"/>
          </a:xfrm>
          <a:prstGeom prst="rect">
            <a:avLst/>
          </a:prstGeom>
          <a:noFill/>
        </p:spPr>
        <p:txBody>
          <a:bodyPr wrap="none" lIns="175787" tIns="87894" rIns="175787" bIns="87894" rtlCol="0">
            <a:spAutoFit/>
          </a:bodyPr>
          <a:lstStyle/>
          <a:p>
            <a:pPr algn="ctr"/>
            <a:fld id="{260E2A6B-A809-4840-BF14-8648BC0BDF87}" type="slidenum">
              <a:rPr lang="id-ID" sz="2700" b="1" smtClean="0">
                <a:solidFill>
                  <a:schemeClr val="bg1"/>
                </a:solidFill>
                <a:latin typeface="Raleway Light"/>
                <a:cs typeface="Raleway Light"/>
              </a:rPr>
              <a:pPr algn="ctr"/>
              <a:t>‹#›</a:t>
            </a:fld>
            <a:endParaRPr lang="id-ID" sz="2700" dirty="0">
              <a:solidFill>
                <a:schemeClr val="bg1"/>
              </a:solidFill>
              <a:latin typeface="Raleway Light"/>
              <a:cs typeface="Raleway Light"/>
            </a:endParaRPr>
          </a:p>
        </p:txBody>
      </p:sp>
    </p:spTree>
    <p:extLst>
      <p:ext uri="{BB962C8B-B14F-4D97-AF65-F5344CB8AC3E}">
        <p14:creationId xmlns:p14="http://schemas.microsoft.com/office/powerpoint/2010/main" val="1906689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7471317" y="12333248"/>
            <a:ext cx="9121698" cy="138275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043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5964" y="730259"/>
            <a:ext cx="21025723" cy="2651126"/>
          </a:xfrm>
          <a:prstGeom prst="rect">
            <a:avLst/>
          </a:prstGeom>
        </p:spPr>
        <p:txBody>
          <a:bodyPr vert="horz" lIns="182843" tIns="91422" rIns="182843" bIns="91422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5964" y="3651250"/>
            <a:ext cx="21025723" cy="8702676"/>
          </a:xfrm>
          <a:prstGeom prst="rect">
            <a:avLst/>
          </a:prstGeom>
        </p:spPr>
        <p:txBody>
          <a:bodyPr vert="horz" lIns="182843" tIns="91422" rIns="182843" bIns="91422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7791465" y="12512739"/>
            <a:ext cx="8807512" cy="861738"/>
          </a:xfrm>
          <a:prstGeom prst="rect">
            <a:avLst/>
          </a:prstGeom>
        </p:spPr>
        <p:txBody>
          <a:bodyPr wrap="square" lIns="182807" tIns="91404" rIns="182807" bIns="91404">
            <a:spAutoFit/>
          </a:bodyPr>
          <a:lstStyle/>
          <a:p>
            <a:pPr algn="ctr"/>
            <a:r>
              <a:rPr lang="id-ID" sz="2400" dirty="0">
                <a:solidFill>
                  <a:schemeClr val="accent1"/>
                </a:solidFill>
                <a:latin typeface="Open Sans"/>
                <a:cs typeface="Open Sans"/>
              </a:rPr>
              <a:t>www.companyname.com</a:t>
            </a:r>
          </a:p>
          <a:p>
            <a:pPr algn="ctr"/>
            <a:r>
              <a:rPr lang="en-US" sz="2000" dirty="0">
                <a:solidFill>
                  <a:schemeClr val="tx2"/>
                </a:solidFill>
                <a:latin typeface="Open Sans"/>
                <a:cs typeface="Open Sans"/>
              </a:rPr>
              <a:t>© 2016 </a:t>
            </a:r>
            <a:r>
              <a:rPr lang="en-US" sz="2000" dirty="0" err="1">
                <a:solidFill>
                  <a:schemeClr val="tx2"/>
                </a:solidFill>
                <a:latin typeface="Open Sans"/>
                <a:cs typeface="Open Sans"/>
              </a:rPr>
              <a:t>Jetfabrik</a:t>
            </a:r>
            <a:r>
              <a:rPr lang="en-US" sz="2000" dirty="0">
                <a:solidFill>
                  <a:schemeClr val="tx2"/>
                </a:solidFill>
                <a:latin typeface="Open Sans"/>
                <a:cs typeface="Open Sans"/>
              </a:rPr>
              <a:t> </a:t>
            </a:r>
            <a:r>
              <a:rPr lang="id-ID" sz="2000" dirty="0">
                <a:solidFill>
                  <a:schemeClr val="tx2"/>
                </a:solidFill>
                <a:latin typeface="Open Sans"/>
                <a:cs typeface="Open Sans"/>
              </a:rPr>
              <a:t>Multipurpose Theme</a:t>
            </a:r>
            <a:r>
              <a:rPr lang="en-US" sz="2000" dirty="0">
                <a:solidFill>
                  <a:schemeClr val="tx2"/>
                </a:solidFill>
                <a:latin typeface="Open Sans"/>
                <a:cs typeface="Open Sans"/>
              </a:rPr>
              <a:t>. All Rights Reserved. </a:t>
            </a:r>
            <a:endParaRPr lang="id-ID" sz="2000" dirty="0">
              <a:solidFill>
                <a:schemeClr val="tx2"/>
              </a:solidFill>
              <a:latin typeface="Open Sans"/>
              <a:cs typeface="Open Sans"/>
            </a:endParaRPr>
          </a:p>
        </p:txBody>
      </p:sp>
      <p:sp>
        <p:nvSpPr>
          <p:cNvPr id="8" name="Oval 7"/>
          <p:cNvSpPr/>
          <p:nvPr userDrawn="1"/>
        </p:nvSpPr>
        <p:spPr>
          <a:xfrm>
            <a:off x="23019760" y="473371"/>
            <a:ext cx="959010" cy="959010"/>
          </a:xfrm>
          <a:prstGeom prst="ellipse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2" tIns="45711" rIns="91422" bIns="45711"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23109785" y="607069"/>
            <a:ext cx="807966" cy="615480"/>
          </a:xfrm>
          <a:prstGeom prst="rect">
            <a:avLst/>
          </a:prstGeom>
          <a:noFill/>
        </p:spPr>
        <p:txBody>
          <a:bodyPr wrap="none" lIns="182807" tIns="91404" rIns="182807" bIns="91404" rtlCol="0">
            <a:spAutoFit/>
          </a:bodyPr>
          <a:lstStyle/>
          <a:p>
            <a:pPr algn="ctr"/>
            <a:fld id="{260E2A6B-A809-4840-BF14-8648BC0BDF87}" type="slidenum">
              <a:rPr lang="id-ID" sz="2800" b="1" smtClean="0">
                <a:solidFill>
                  <a:schemeClr val="bg1"/>
                </a:solidFill>
                <a:latin typeface="Open Sans"/>
                <a:cs typeface="Open Sans"/>
              </a:rPr>
              <a:pPr algn="ctr"/>
              <a:t>‹#›</a:t>
            </a:fld>
            <a:endParaRPr lang="id-ID" sz="2800" dirty="0">
              <a:solidFill>
                <a:schemeClr val="bg1"/>
              </a:solidFill>
              <a:latin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422848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801" r:id="rId2"/>
    <p:sldLayoutId id="2147483752" r:id="rId3"/>
    <p:sldLayoutId id="2147483842" r:id="rId4"/>
    <p:sldLayoutId id="2147483865" r:id="rId5"/>
    <p:sldLayoutId id="2147483866" r:id="rId6"/>
    <p:sldLayoutId id="2147483867" r:id="rId7"/>
    <p:sldLayoutId id="2147483868" r:id="rId8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xmlns:p14="http://schemas.microsoft.com/office/powerpoint/2010/main" spd="slow" advClick="0" advTm="3000"/>
    </mc:Fallback>
  </mc:AlternateContent>
  <p:hf hdr="0" ftr="0" dt="0"/>
  <p:txStyles>
    <p:titleStyle>
      <a:lvl1pPr algn="l" defTabSz="1828434" rtl="0" eaLnBrk="1" latinLnBrk="0" hangingPunct="1">
        <a:lnSpc>
          <a:spcPct val="90000"/>
        </a:lnSpc>
        <a:spcBef>
          <a:spcPct val="0"/>
        </a:spcBef>
        <a:buNone/>
        <a:defRPr lang="en-US" sz="6000" kern="1200">
          <a:solidFill>
            <a:schemeClr val="tx1"/>
          </a:solidFill>
          <a:latin typeface="Lato" panose="020F0502020204030203" pitchFamily="34" charset="0"/>
          <a:ea typeface="+mj-ea"/>
          <a:cs typeface="+mj-cs"/>
        </a:defRPr>
      </a:lvl1pPr>
    </p:titleStyle>
    <p:bodyStyle>
      <a:lvl1pPr marL="457109" indent="-457109" algn="l" defTabSz="1828434" rtl="0" eaLnBrk="1" latinLnBrk="0" hangingPunct="1">
        <a:lnSpc>
          <a:spcPct val="90000"/>
        </a:lnSpc>
        <a:spcBef>
          <a:spcPts val="2000"/>
        </a:spcBef>
        <a:buFont typeface="Open Sans" panose="020B0604020202020204" pitchFamily="34" charset="0"/>
        <a:buChar char="•"/>
        <a:defRPr lang="en-US" sz="4800" kern="1200" dirty="0" smtClean="0">
          <a:solidFill>
            <a:schemeClr val="tx1"/>
          </a:solidFill>
          <a:effectLst/>
          <a:latin typeface="Lato" panose="020F0502020204030203" pitchFamily="34" charset="0"/>
          <a:ea typeface="+mn-ea"/>
          <a:cs typeface="+mn-cs"/>
        </a:defRPr>
      </a:lvl1pPr>
      <a:lvl2pPr marL="1371326" indent="-457109" algn="l" defTabSz="1828434" rtl="0" eaLnBrk="1" latinLnBrk="0" hangingPunct="1">
        <a:lnSpc>
          <a:spcPct val="90000"/>
        </a:lnSpc>
        <a:spcBef>
          <a:spcPts val="1000"/>
        </a:spcBef>
        <a:buFont typeface="Open Sans" panose="020B0604020202020204" pitchFamily="34" charset="0"/>
        <a:buChar char="•"/>
        <a:defRPr lang="en-US" sz="4000" kern="1200" dirty="0" smtClean="0">
          <a:solidFill>
            <a:schemeClr val="tx1"/>
          </a:solidFill>
          <a:effectLst/>
          <a:latin typeface="Lato" panose="020F0502020204030203" pitchFamily="34" charset="0"/>
          <a:ea typeface="+mn-ea"/>
          <a:cs typeface="+mn-cs"/>
        </a:defRPr>
      </a:lvl2pPr>
      <a:lvl3pPr marL="2285543" indent="-457109" algn="l" defTabSz="1828434" rtl="0" eaLnBrk="1" latinLnBrk="0" hangingPunct="1">
        <a:lnSpc>
          <a:spcPct val="90000"/>
        </a:lnSpc>
        <a:spcBef>
          <a:spcPts val="1000"/>
        </a:spcBef>
        <a:buFont typeface="Open Sans" panose="020B0604020202020204" pitchFamily="34" charset="0"/>
        <a:buChar char="•"/>
        <a:defRPr lang="en-US" sz="3600" kern="1200" dirty="0" smtClean="0">
          <a:solidFill>
            <a:schemeClr val="tx1"/>
          </a:solidFill>
          <a:effectLst/>
          <a:latin typeface="Lato" panose="020F0502020204030203" pitchFamily="34" charset="0"/>
          <a:ea typeface="+mn-ea"/>
          <a:cs typeface="+mn-cs"/>
        </a:defRPr>
      </a:lvl3pPr>
      <a:lvl4pPr marL="3199760" indent="-457109" algn="l" defTabSz="1828434" rtl="0" eaLnBrk="1" latinLnBrk="0" hangingPunct="1">
        <a:lnSpc>
          <a:spcPct val="90000"/>
        </a:lnSpc>
        <a:spcBef>
          <a:spcPts val="1000"/>
        </a:spcBef>
        <a:buFont typeface="Open Sans" panose="020B0604020202020204" pitchFamily="34" charset="0"/>
        <a:buChar char="•"/>
        <a:defRPr lang="en-US" sz="3200" kern="1200" dirty="0" smtClean="0">
          <a:solidFill>
            <a:schemeClr val="tx1"/>
          </a:solidFill>
          <a:effectLst/>
          <a:latin typeface="Lato" panose="020F0502020204030203" pitchFamily="34" charset="0"/>
          <a:ea typeface="+mn-ea"/>
          <a:cs typeface="+mn-cs"/>
        </a:defRPr>
      </a:lvl4pPr>
      <a:lvl5pPr marL="4113977" indent="-457109" algn="l" defTabSz="1828434" rtl="0" eaLnBrk="1" latinLnBrk="0" hangingPunct="1">
        <a:lnSpc>
          <a:spcPct val="90000"/>
        </a:lnSpc>
        <a:spcBef>
          <a:spcPts val="1000"/>
        </a:spcBef>
        <a:buFont typeface="Open Sans" panose="020B0604020202020204" pitchFamily="34" charset="0"/>
        <a:buChar char="•"/>
        <a:defRPr lang="en-US" sz="3200" kern="1200" dirty="0">
          <a:solidFill>
            <a:schemeClr val="tx1"/>
          </a:solidFill>
          <a:effectLst/>
          <a:latin typeface="Lato" panose="020F0502020204030203" pitchFamily="34" charset="0"/>
          <a:ea typeface="+mn-ea"/>
          <a:cs typeface="+mn-cs"/>
        </a:defRPr>
      </a:lvl5pPr>
      <a:lvl6pPr marL="5028194" indent="-457109" algn="l" defTabSz="1828434" rtl="0" eaLnBrk="1" latinLnBrk="0" hangingPunct="1">
        <a:lnSpc>
          <a:spcPct val="90000"/>
        </a:lnSpc>
        <a:spcBef>
          <a:spcPts val="1000"/>
        </a:spcBef>
        <a:buFont typeface="Open Sans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2411" indent="-457109" algn="l" defTabSz="1828434" rtl="0" eaLnBrk="1" latinLnBrk="0" hangingPunct="1">
        <a:lnSpc>
          <a:spcPct val="90000"/>
        </a:lnSpc>
        <a:spcBef>
          <a:spcPts val="1000"/>
        </a:spcBef>
        <a:buFont typeface="Open Sans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6628" indent="-457109" algn="l" defTabSz="1828434" rtl="0" eaLnBrk="1" latinLnBrk="0" hangingPunct="1">
        <a:lnSpc>
          <a:spcPct val="90000"/>
        </a:lnSpc>
        <a:spcBef>
          <a:spcPts val="1000"/>
        </a:spcBef>
        <a:buFont typeface="Open Sans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0846" indent="-457109" algn="l" defTabSz="1828434" rtl="0" eaLnBrk="1" latinLnBrk="0" hangingPunct="1">
        <a:lnSpc>
          <a:spcPct val="90000"/>
        </a:lnSpc>
        <a:spcBef>
          <a:spcPts val="1000"/>
        </a:spcBef>
        <a:buFont typeface="Open Sans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217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434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2651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6868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086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5303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399520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3737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chart" Target="../charts/char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chart" Target="../charts/chart1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chart" Target="../charts/chart1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chart" Target="../charts/chart1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1.xml"/><Relationship Id="rId2" Type="http://schemas.openxmlformats.org/officeDocument/2006/relationships/chart" Target="../charts/chart20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3.xml"/><Relationship Id="rId2" Type="http://schemas.openxmlformats.org/officeDocument/2006/relationships/chart" Target="../charts/chart22.xml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5.xml"/><Relationship Id="rId2" Type="http://schemas.openxmlformats.org/officeDocument/2006/relationships/chart" Target="../charts/chart24.xml"/><Relationship Id="rId1" Type="http://schemas.openxmlformats.org/officeDocument/2006/relationships/slideLayout" Target="../slideLayouts/slideLayout8.xml"/><Relationship Id="rId5" Type="http://schemas.openxmlformats.org/officeDocument/2006/relationships/chart" Target="../charts/chart27.xml"/><Relationship Id="rId4" Type="http://schemas.openxmlformats.org/officeDocument/2006/relationships/chart" Target="../charts/chart26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hyperlink" Target="https://vk.com/roofshield" TargetMode="External"/><Relationship Id="rId13" Type="http://schemas.openxmlformats.org/officeDocument/2006/relationships/hyperlink" Target="https://ok.ru/group/54338769780817" TargetMode="External"/><Relationship Id="rId18" Type="http://schemas.openxmlformats.org/officeDocument/2006/relationships/hyperlink" Target="https://vk.com/club114225157" TargetMode="External"/><Relationship Id="rId3" Type="http://schemas.openxmlformats.org/officeDocument/2006/relationships/hyperlink" Target="http://youtube.com/channel/UCBXkFIbPwiGw5fFl31ufiaw" TargetMode="External"/><Relationship Id="rId21" Type="http://schemas.openxmlformats.org/officeDocument/2006/relationships/hyperlink" Target="http://instagram.com/prozarovskaya" TargetMode="External"/><Relationship Id="rId7" Type="http://schemas.openxmlformats.org/officeDocument/2006/relationships/hyperlink" Target="https://vk.com/mpkkrz" TargetMode="External"/><Relationship Id="rId12" Type="http://schemas.openxmlformats.org/officeDocument/2006/relationships/hyperlink" Target="https://www.youtube.com/@DockeDom" TargetMode="External"/><Relationship Id="rId17" Type="http://schemas.openxmlformats.org/officeDocument/2006/relationships/hyperlink" Target="https://max.ru/dockeru" TargetMode="External"/><Relationship Id="rId25" Type="http://schemas.openxmlformats.org/officeDocument/2006/relationships/hyperlink" Target="https://rutube.ru/video/person/59340115/" TargetMode="External"/><Relationship Id="rId2" Type="http://schemas.openxmlformats.org/officeDocument/2006/relationships/hyperlink" Target="http://vk.com/club25423789" TargetMode="External"/><Relationship Id="rId16" Type="http://schemas.openxmlformats.org/officeDocument/2006/relationships/hyperlink" Target="https://rutube.ru/channel/24621492/" TargetMode="External"/><Relationship Id="rId20" Type="http://schemas.openxmlformats.org/officeDocument/2006/relationships/hyperlink" Target="https://rutube.ru/channel/44039670/" TargetMode="External"/><Relationship Id="rId1" Type="http://schemas.openxmlformats.org/officeDocument/2006/relationships/slideLayout" Target="../slideLayouts/slideLayout8.xml"/><Relationship Id="rId6" Type="http://schemas.openxmlformats.org/officeDocument/2006/relationships/hyperlink" Target="http://instagram.com/ruflex_official" TargetMode="External"/><Relationship Id="rId11" Type="http://schemas.openxmlformats.org/officeDocument/2006/relationships/hyperlink" Target="https://vk.com/dockeru" TargetMode="External"/><Relationship Id="rId24" Type="http://schemas.openxmlformats.org/officeDocument/2006/relationships/hyperlink" Target="https://dzen.ru/id/67dbba54a7f58e4248450db6" TargetMode="External"/><Relationship Id="rId5" Type="http://schemas.openxmlformats.org/officeDocument/2006/relationships/hyperlink" Target="https://x.com/ruflex_ru" TargetMode="External"/><Relationship Id="rId15" Type="http://schemas.openxmlformats.org/officeDocument/2006/relationships/hyperlink" Target="https://telegram.me/dockeofficial" TargetMode="External"/><Relationship Id="rId23" Type="http://schemas.openxmlformats.org/officeDocument/2006/relationships/hyperlink" Target="http://youtube.com/channel/UCq6fpOWeDgv6sObmnvqIV6g" TargetMode="External"/><Relationship Id="rId10" Type="http://schemas.openxmlformats.org/officeDocument/2006/relationships/hyperlink" Target="https://rutube.ru/channel/33556134/" TargetMode="External"/><Relationship Id="rId19" Type="http://schemas.openxmlformats.org/officeDocument/2006/relationships/hyperlink" Target="https://www.youtube.com/@tegolaru" TargetMode="External"/><Relationship Id="rId4" Type="http://schemas.openxmlformats.org/officeDocument/2006/relationships/hyperlink" Target="https://dzen.ru/ruflexdranka" TargetMode="External"/><Relationship Id="rId9" Type="http://schemas.openxmlformats.org/officeDocument/2006/relationships/hyperlink" Target="https://dzen.ru/mpkkrz" TargetMode="External"/><Relationship Id="rId14" Type="http://schemas.openxmlformats.org/officeDocument/2006/relationships/hyperlink" Target="https://dzen.ru/docke" TargetMode="External"/><Relationship Id="rId22" Type="http://schemas.openxmlformats.org/officeDocument/2006/relationships/hyperlink" Target="http://vk.com/club229790609" TargetMode="Externa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9.xml"/><Relationship Id="rId2" Type="http://schemas.openxmlformats.org/officeDocument/2006/relationships/chart" Target="../charts/chart28.xml"/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1.xml"/><Relationship Id="rId2" Type="http://schemas.openxmlformats.org/officeDocument/2006/relationships/chart" Target="../charts/chart30.xml"/><Relationship Id="rId1" Type="http://schemas.openxmlformats.org/officeDocument/2006/relationships/slideLayout" Target="../slideLayouts/slideLayout8.xml"/><Relationship Id="rId4" Type="http://schemas.openxmlformats.org/officeDocument/2006/relationships/chart" Target="../charts/chart3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3.xml"/><Relationship Id="rId1" Type="http://schemas.openxmlformats.org/officeDocument/2006/relationships/slideLayout" Target="../slideLayouts/slideLayout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="" xmlns:a16="http://schemas.microsoft.com/office/drawing/2014/main" id="{DFC20544-F5D6-4ED3-ADFF-D4F015F1E6D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rcRect l="74630"/>
          <a:stretch/>
        </p:blipFill>
        <p:spPr>
          <a:xfrm>
            <a:off x="-19455" y="-2478111"/>
            <a:ext cx="4737100" cy="18672221"/>
          </a:xfrm>
          <a:prstGeom prst="rect">
            <a:avLst/>
          </a:prstGeom>
        </p:spPr>
      </p:pic>
      <p:sp>
        <p:nvSpPr>
          <p:cNvPr id="40" name="TextBox 30">
            <a:extLst>
              <a:ext uri="{FF2B5EF4-FFF2-40B4-BE49-F238E27FC236}">
                <a16:creationId xmlns="" xmlns:a16="http://schemas.microsoft.com/office/drawing/2014/main" id="{777A595C-0BA3-4EAE-9B33-646E658A0E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35781" y="10920459"/>
            <a:ext cx="6094032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Open Sans" charset="0"/>
                <a:ea typeface="Open Sans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Open Sans" charset="0"/>
                <a:ea typeface="Open Sans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Open Sans" charset="0"/>
                <a:ea typeface="Open Sans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Open Sans" charset="0"/>
                <a:ea typeface="Open Sans" charset="0"/>
              </a:defRPr>
            </a:lvl5pPr>
            <a:lvl6pPr marL="2514600" indent="-228600" defTabSz="18272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Open Sans" charset="0"/>
                <a:ea typeface="Open Sans" charset="0"/>
              </a:defRPr>
            </a:lvl6pPr>
            <a:lvl7pPr marL="2971800" indent="-228600" defTabSz="18272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Open Sans" charset="0"/>
                <a:ea typeface="Open Sans" charset="0"/>
              </a:defRPr>
            </a:lvl7pPr>
            <a:lvl8pPr marL="3429000" indent="-228600" defTabSz="18272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Open Sans" charset="0"/>
                <a:ea typeface="Open Sans" charset="0"/>
              </a:defRPr>
            </a:lvl8pPr>
            <a:lvl9pPr marL="3886200" indent="-228600" defTabSz="18272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Open Sans" charset="0"/>
                <a:ea typeface="Open Sans" charset="0"/>
              </a:defRPr>
            </a:lvl9pPr>
          </a:lstStyle>
          <a:p>
            <a:r>
              <a:rPr lang="ru-RU" sz="3200" b="1" dirty="0">
                <a:solidFill>
                  <a:srgbClr val="000000"/>
                </a:solidFill>
                <a:latin typeface="PF DinDisplay Pro" panose="02000506030000020004" pitchFamily="2" charset="0"/>
                <a:cs typeface="Open Sans" pitchFamily="34" charset="0"/>
              </a:rPr>
              <a:t>Филиппова Ольга</a:t>
            </a:r>
          </a:p>
          <a:p>
            <a:r>
              <a:rPr lang="en-US" sz="3200" b="1" dirty="0" err="1">
                <a:solidFill>
                  <a:srgbClr val="C00000"/>
                </a:solidFill>
                <a:latin typeface="PF DinDisplay Pro" panose="02000506030000020004" pitchFamily="2" charset="0"/>
                <a:ea typeface="Open Sans" panose="020B0306030504020204" pitchFamily="34" charset="0"/>
                <a:cs typeface="Open Sans"/>
              </a:rPr>
              <a:t>WebBooster</a:t>
            </a:r>
            <a:endParaRPr lang="ru-RU" sz="3200" b="1" dirty="0">
              <a:solidFill>
                <a:srgbClr val="C00000"/>
              </a:solidFill>
              <a:latin typeface="PF DinDisplay Pro" panose="02000506030000020004" pitchFamily="2" charset="0"/>
              <a:ea typeface="Open Sans" panose="020B0306030504020204" pitchFamily="34" charset="0"/>
              <a:cs typeface="Open San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="" xmlns:a16="http://schemas.microsoft.com/office/drawing/2014/main" id="{BF8798BC-D45A-48AB-BBC6-8040D31243BA}"/>
              </a:ext>
            </a:extLst>
          </p:cNvPr>
          <p:cNvSpPr txBox="1"/>
          <p:nvPr/>
        </p:nvSpPr>
        <p:spPr>
          <a:xfrm>
            <a:off x="2466772" y="4633962"/>
            <a:ext cx="19444106" cy="3600968"/>
          </a:xfrm>
          <a:prstGeom prst="rect">
            <a:avLst/>
          </a:prstGeom>
          <a:noFill/>
        </p:spPr>
        <p:txBody>
          <a:bodyPr wrap="square" lIns="91422" tIns="45711" rIns="91422" bIns="45711" rtlCol="0">
            <a:spAutoFit/>
          </a:bodyPr>
          <a:lstStyle/>
          <a:p>
            <a:pPr algn="ctr"/>
            <a:r>
              <a:rPr lang="ru-RU" sz="7000" b="1" dirty="0">
                <a:solidFill>
                  <a:srgbClr val="C00000"/>
                </a:solidFill>
                <a:latin typeface="PF DinDisplay Pro" panose="02000506030000020004" pitchFamily="2" charset="0"/>
                <a:cs typeface="Open Sans"/>
              </a:rPr>
              <a:t>Отчет по мониторингу и репутационному маркетингу </a:t>
            </a:r>
            <a:r>
              <a:rPr lang="ru-RU" sz="7000" b="1" dirty="0">
                <a:solidFill>
                  <a:srgbClr val="000000"/>
                </a:solidFill>
                <a:latin typeface="PF DinDisplay Pro" panose="02000506030000020004" pitchFamily="2" charset="0"/>
              </a:rPr>
              <a:t>бренда </a:t>
            </a:r>
            <a:r>
              <a:rPr lang="en-US" sz="7000" b="1" dirty="0" err="1">
                <a:solidFill>
                  <a:srgbClr val="000000"/>
                </a:solidFill>
                <a:latin typeface="PF DinDisplay Pro" panose="02000506030000020004" pitchFamily="2" charset="0"/>
              </a:rPr>
              <a:t>RUFLEX</a:t>
            </a:r>
            <a:endParaRPr lang="en-US" sz="7000" b="1" dirty="0">
              <a:solidFill>
                <a:srgbClr val="000000"/>
              </a:solidFill>
              <a:latin typeface="PF DinDisplay Pro" panose="02000506030000020004" pitchFamily="2" charset="0"/>
            </a:endParaRPr>
          </a:p>
          <a:p>
            <a:pPr algn="ctr"/>
            <a:endParaRPr lang="ru-RU" sz="4400" b="1" dirty="0">
              <a:solidFill>
                <a:srgbClr val="000000"/>
              </a:solidFill>
              <a:latin typeface="PF DinDisplay Pro" panose="02000506030000020004" pitchFamily="2" charset="0"/>
              <a:cs typeface="Open Sans"/>
            </a:endParaRPr>
          </a:p>
          <a:p>
            <a:pPr algn="ctr"/>
            <a:r>
              <a:rPr lang="ru-RU" sz="4400" b="1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Период </a:t>
            </a:r>
            <a:r>
              <a:rPr lang="ru-RU" sz="4400" b="1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01.07.2026 </a:t>
            </a:r>
            <a:r>
              <a:rPr lang="ru-RU" sz="4400" b="1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– </a:t>
            </a:r>
            <a:r>
              <a:rPr lang="ru-RU" sz="4400" b="1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31.07.2026</a:t>
            </a:r>
            <a:endParaRPr lang="en-US" sz="4400" b="1" dirty="0">
              <a:solidFill>
                <a:srgbClr val="000000"/>
              </a:solidFill>
              <a:latin typeface="PF DinDisplay Pro" panose="02000506030000020004" pitchFamily="2" charset="0"/>
              <a:cs typeface="Open Sans"/>
            </a:endParaRPr>
          </a:p>
        </p:txBody>
      </p:sp>
      <p:pic>
        <p:nvPicPr>
          <p:cNvPr id="4" name="Рисунок 3" descr="Изображение выглядит как коллекция картинок&#10;&#10;Описание создано автоматически">
            <a:extLst>
              <a:ext uri="{FF2B5EF4-FFF2-40B4-BE49-F238E27FC236}">
                <a16:creationId xmlns="" xmlns:a16="http://schemas.microsoft.com/office/drawing/2014/main" id="{CD0EF09B-B521-4AB7-9DB5-92FBB3A097C5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0325" y="12338481"/>
            <a:ext cx="1397000" cy="990600"/>
          </a:xfrm>
          <a:prstGeom prst="rect">
            <a:avLst/>
          </a:prstGeom>
        </p:spPr>
      </p:pic>
      <p:sp>
        <p:nvSpPr>
          <p:cNvPr id="10" name="Rectangle 162">
            <a:extLst>
              <a:ext uri="{FF2B5EF4-FFF2-40B4-BE49-F238E27FC236}">
                <a16:creationId xmlns="" xmlns:a16="http://schemas.microsoft.com/office/drawing/2014/main" id="{AFBD65BB-E4B0-4486-BB3A-9A559B7ACA0F}"/>
              </a:ext>
            </a:extLst>
          </p:cNvPr>
          <p:cNvSpPr/>
          <p:nvPr/>
        </p:nvSpPr>
        <p:spPr>
          <a:xfrm>
            <a:off x="11000616" y="8839560"/>
            <a:ext cx="1553038" cy="9143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339" tIns="45672" rIns="91339" bIns="45672" rtlCol="0" anchor="ctr"/>
          <a:lstStyle/>
          <a:p>
            <a:pPr algn="ctr"/>
            <a:endParaRPr lang="en-US" sz="8000" dirty="0">
              <a:solidFill>
                <a:schemeClr val="accent2"/>
              </a:solidFill>
              <a:latin typeface="PF DinDisplay Pro" panose="02000506030000020004" pitchFamily="2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32081" y="158268"/>
            <a:ext cx="6341352" cy="2088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38195459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/>
          <p:cNvGrpSpPr/>
          <p:nvPr/>
        </p:nvGrpSpPr>
        <p:grpSpPr>
          <a:xfrm>
            <a:off x="1509177" y="193084"/>
            <a:ext cx="20934363" cy="2079087"/>
            <a:chOff x="5988388" y="483017"/>
            <a:chExt cx="12359700" cy="2079087"/>
          </a:xfrm>
        </p:grpSpPr>
        <p:sp>
          <p:nvSpPr>
            <p:cNvPr id="33" name="TextBox 32"/>
            <p:cNvSpPr txBox="1"/>
            <p:nvPr/>
          </p:nvSpPr>
          <p:spPr>
            <a:xfrm>
              <a:off x="5988388" y="483017"/>
              <a:ext cx="12359700" cy="1446532"/>
            </a:xfrm>
            <a:prstGeom prst="rect">
              <a:avLst/>
            </a:prstGeom>
            <a:noFill/>
          </p:spPr>
          <p:txBody>
            <a:bodyPr wrap="square" lIns="91422" tIns="45711" rIns="91422" bIns="45711" rtlCol="0">
              <a:spAutoFit/>
            </a:bodyPr>
            <a:lstStyle/>
            <a:p>
              <a:pPr algn="ctr"/>
              <a:r>
                <a:rPr lang="ru-RU" sz="8800" b="1" dirty="0">
                  <a:solidFill>
                    <a:srgbClr val="000000"/>
                  </a:solidFill>
                  <a:latin typeface="PF DinDisplay Pro" panose="02000506030000020004" pitchFamily="2" charset="0"/>
                  <a:cs typeface="Open Sans"/>
                </a:rPr>
                <a:t>Содержание</a:t>
              </a:r>
              <a:endParaRPr lang="id-ID" sz="8800" b="1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1412311" y="2470667"/>
              <a:ext cx="1553038" cy="9143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339" tIns="45672" rIns="91339" bIns="45672" rtlCol="0" anchor="ctr"/>
            <a:lstStyle/>
            <a:p>
              <a:pPr algn="ctr"/>
              <a:endParaRPr lang="en-US" dirty="0">
                <a:solidFill>
                  <a:schemeClr val="accent2"/>
                </a:solidFill>
                <a:latin typeface="PF DinDisplay Pro" panose="02000506030000020004" pitchFamily="2" charset="0"/>
              </a:endParaRPr>
            </a:p>
          </p:txBody>
        </p:sp>
        <p:sp>
          <p:nvSpPr>
            <p:cNvPr id="35" name="Subtitle 2"/>
            <p:cNvSpPr txBox="1">
              <a:spLocks/>
            </p:cNvSpPr>
            <p:nvPr/>
          </p:nvSpPr>
          <p:spPr>
            <a:xfrm>
              <a:off x="6361236" y="1634834"/>
              <a:ext cx="11655185" cy="839116"/>
            </a:xfrm>
            <a:prstGeom prst="rect">
              <a:avLst/>
            </a:prstGeom>
          </p:spPr>
          <p:txBody>
            <a:bodyPr vert="horz" lIns="217490" tIns="108745" rIns="217490" bIns="108745" rtlCol="0">
              <a:norm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Open Sans"/>
                <a:buNone/>
                <a:defRPr sz="2400" kern="1200">
                  <a:solidFill>
                    <a:schemeClr val="tx2"/>
                  </a:solidFill>
                  <a:latin typeface="Open Sans"/>
                  <a:ea typeface="+mn-ea"/>
                  <a:cs typeface="Open Sans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ru-RU" sz="3100" dirty="0">
                  <a:solidFill>
                    <a:schemeClr val="bg1">
                      <a:lumMod val="65000"/>
                    </a:schemeClr>
                  </a:solidFill>
                  <a:latin typeface="PF DinDisplay Pro" panose="02000506030000020004" pitchFamily="2" charset="0"/>
                  <a:cs typeface="Open Sans"/>
                </a:rPr>
                <a:t>Основные модули</a:t>
              </a:r>
              <a:endParaRPr lang="en-US" sz="3100" dirty="0">
                <a:solidFill>
                  <a:schemeClr val="bg1">
                    <a:lumMod val="65000"/>
                  </a:schemeClr>
                </a:solidFill>
                <a:latin typeface="PF DinDisplay Pro" panose="02000506030000020004" pitchFamily="2" charset="0"/>
                <a:cs typeface="Open Sans"/>
              </a:endParaRPr>
            </a:p>
          </p:txBody>
        </p:sp>
      </p:grpSp>
      <p:sp>
        <p:nvSpPr>
          <p:cNvPr id="59" name="Content Placeholder 2">
            <a:extLst>
              <a:ext uri="{FF2B5EF4-FFF2-40B4-BE49-F238E27FC236}">
                <a16:creationId xmlns="" xmlns:a16="http://schemas.microsoft.com/office/drawing/2014/main" id="{90EE3095-98AC-4EF1-9C66-F8C0EA317C4D}"/>
              </a:ext>
            </a:extLst>
          </p:cNvPr>
          <p:cNvSpPr txBox="1">
            <a:spLocks/>
          </p:cNvSpPr>
          <p:nvPr/>
        </p:nvSpPr>
        <p:spPr bwMode="auto">
          <a:xfrm>
            <a:off x="10578546" y="13259226"/>
            <a:ext cx="3282370" cy="490431"/>
          </a:xfrm>
          <a:prstGeom prst="rect">
            <a:avLst/>
          </a:prstGeom>
        </p:spPr>
        <p:txBody>
          <a:bodyPr wrap="square" lIns="182843" tIns="91422" rIns="182843" bIns="91422" numCol="1" anchor="t" anchorCtr="0" compatLnSpc="1">
            <a:prstTxWarp prst="textNoShape">
              <a:avLst/>
            </a:prstTxWarp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Open Sans"/>
                <a:cs typeface="Open Sans"/>
              </a:rPr>
              <a:t>wbooster.ru</a:t>
            </a:r>
          </a:p>
        </p:txBody>
      </p:sp>
      <p:sp>
        <p:nvSpPr>
          <p:cNvPr id="31" name="Title 13">
            <a:extLst>
              <a:ext uri="{FF2B5EF4-FFF2-40B4-BE49-F238E27FC236}">
                <a16:creationId xmlns="" xmlns:a16="http://schemas.microsoft.com/office/drawing/2014/main" id="{C3C52144-B2CF-4298-B02E-03E34484DD16}"/>
              </a:ext>
            </a:extLst>
          </p:cNvPr>
          <p:cNvSpPr txBox="1">
            <a:spLocks/>
          </p:cNvSpPr>
          <p:nvPr/>
        </p:nvSpPr>
        <p:spPr bwMode="auto">
          <a:xfrm>
            <a:off x="2604124" y="2878810"/>
            <a:ext cx="19717033" cy="8883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2" tIns="45711" rIns="91422" bIns="45711" anchor="ctr"/>
          <a:lstStyle>
            <a:lvl1pPr>
              <a:defRPr>
                <a:solidFill>
                  <a:schemeClr val="tx1"/>
                </a:solidFill>
                <a:latin typeface="Open Sans" charset="0"/>
                <a:ea typeface="Open Sans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charset="0"/>
                <a:ea typeface="Open Sans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charset="0"/>
                <a:ea typeface="Open Sans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charset="0"/>
                <a:ea typeface="Open Sans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charset="0"/>
                <a:ea typeface="Open San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  <a:ea typeface="Open San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  <a:ea typeface="Open San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  <a:ea typeface="Open San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  <a:ea typeface="Open Sans" charset="0"/>
              </a:defRPr>
            </a:lvl9pPr>
          </a:lstStyle>
          <a:p>
            <a:pPr marL="228600" indent="-228600" defTabSz="457200">
              <a:buAutoNum type="arabicPeriod"/>
            </a:pPr>
            <a:r>
              <a:rPr lang="ru-RU" sz="2400" b="1" dirty="0">
                <a:solidFill>
                  <a:prstClr val="black"/>
                </a:solidFill>
                <a:latin typeface="PF DinDisplay Pro" panose="02000506030000020004" pitchFamily="2" charset="0"/>
                <a:cs typeface="Open Sans"/>
              </a:rPr>
              <a:t> Размещение отзывов</a:t>
            </a:r>
            <a:r>
              <a:rPr lang="ru-RU" sz="2400" b="1" dirty="0" smtClean="0">
                <a:solidFill>
                  <a:prstClr val="black"/>
                </a:solidFill>
                <a:latin typeface="PF DinDisplay Pro" panose="02000506030000020004" pitchFamily="2" charset="0"/>
                <a:cs typeface="Open Sans"/>
              </a:rPr>
              <a:t>……………………………………………………………………………………………………………………………………………..........……..</a:t>
            </a:r>
            <a:r>
              <a:rPr lang="ru-RU" sz="2400" b="1" dirty="0">
                <a:solidFill>
                  <a:prstClr val="black"/>
                </a:solidFill>
                <a:latin typeface="PF DinDisplay Pro" panose="02000506030000020004" pitchFamily="2" charset="0"/>
                <a:cs typeface="Open Sans"/>
              </a:rPr>
              <a:t>4</a:t>
            </a:r>
          </a:p>
          <a:p>
            <a:pPr defTabSz="457200"/>
            <a:r>
              <a:rPr lang="ru-RU" sz="2400" dirty="0">
                <a:solidFill>
                  <a:prstClr val="black"/>
                </a:solidFill>
                <a:latin typeface="PF DinDisplay Pro" panose="02000506030000020004" pitchFamily="2" charset="0"/>
                <a:cs typeface="Open Sans"/>
              </a:rPr>
              <a:t>1.1 Отзывы на геосервисах</a:t>
            </a:r>
            <a:r>
              <a:rPr lang="ru-RU" sz="2400" dirty="0" smtClean="0">
                <a:solidFill>
                  <a:prstClr val="black"/>
                </a:solidFill>
                <a:latin typeface="PF DinDisplay Pro" panose="02000506030000020004" pitchFamily="2" charset="0"/>
                <a:cs typeface="Open Sans"/>
              </a:rPr>
              <a:t>………………………………………………………………………………………………………………………………………………………………………...……..…5</a:t>
            </a:r>
          </a:p>
          <a:p>
            <a:pPr defTabSz="457200"/>
            <a:r>
              <a:rPr lang="ru-RU" sz="2400" dirty="0">
                <a:solidFill>
                  <a:prstClr val="black"/>
                </a:solidFill>
                <a:latin typeface="PF DinDisplay Pro" panose="02000506030000020004" pitchFamily="2" charset="0"/>
                <a:cs typeface="Open Sans"/>
              </a:rPr>
              <a:t>1.2 Сайты-отзовики</a:t>
            </a:r>
            <a:r>
              <a:rPr lang="ru-RU" sz="2400" dirty="0" smtClean="0">
                <a:solidFill>
                  <a:prstClr val="black"/>
                </a:solidFill>
                <a:latin typeface="PF DinDisplay Pro" panose="02000506030000020004" pitchFamily="2" charset="0"/>
                <a:cs typeface="Open Sans"/>
              </a:rPr>
              <a:t>……………………………………………………………………………………………………………………………………………………………………..………...…...………9</a:t>
            </a:r>
          </a:p>
          <a:p>
            <a:pPr defTabSz="457200"/>
            <a:r>
              <a:rPr lang="ru-RU" sz="2400" dirty="0" smtClean="0">
                <a:solidFill>
                  <a:prstClr val="black"/>
                </a:solidFill>
                <a:latin typeface="PF DinDisplay Pro" panose="02000506030000020004" pitchFamily="2" charset="0"/>
                <a:cs typeface="Open Sans"/>
              </a:rPr>
              <a:t> </a:t>
            </a:r>
            <a:endParaRPr lang="ru-RU" sz="2400" dirty="0">
              <a:solidFill>
                <a:prstClr val="black"/>
              </a:solidFill>
              <a:latin typeface="PF DinDisplay Pro" panose="02000506030000020004" pitchFamily="2" charset="0"/>
              <a:cs typeface="Open Sans"/>
            </a:endParaRPr>
          </a:p>
          <a:p>
            <a:pPr defTabSz="457200"/>
            <a:r>
              <a:rPr lang="ru-RU" sz="2400" b="1" dirty="0" smtClean="0">
                <a:solidFill>
                  <a:prstClr val="black"/>
                </a:solidFill>
                <a:latin typeface="PF DinDisplay Pro" panose="02000506030000020004" pitchFamily="2" charset="0"/>
                <a:cs typeface="Open Sans"/>
              </a:rPr>
              <a:t>2.Мониторинг</a:t>
            </a:r>
            <a:r>
              <a:rPr lang="en-US" sz="2400" b="1" dirty="0" smtClean="0">
                <a:solidFill>
                  <a:prstClr val="black"/>
                </a:solidFill>
                <a:latin typeface="PF DinDisplay Pro" panose="02000506030000020004" pitchFamily="2" charset="0"/>
                <a:cs typeface="Open Sans"/>
              </a:rPr>
              <a:t>………………………………………………………………………………………</a:t>
            </a:r>
            <a:r>
              <a:rPr lang="ru-RU" sz="2400" b="1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………………………………….………….….……….……….….……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….10</a:t>
            </a:r>
            <a:endParaRPr lang="ru-RU" sz="2400" b="1" dirty="0">
              <a:solidFill>
                <a:srgbClr val="000000"/>
              </a:solidFill>
              <a:latin typeface="PF DinDisplay Pro" panose="02000506030000020004" pitchFamily="2" charset="0"/>
              <a:cs typeface="Open Sans"/>
            </a:endParaRPr>
          </a:p>
          <a:p>
            <a:pPr defTabSz="457200"/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2.1 Цели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мониторинга……………………………………………………………………………………………………………………………………………….….……….…….…….…….............10</a:t>
            </a:r>
          </a:p>
          <a:p>
            <a:pPr defTabSz="457200"/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2.2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Кластеризация упоминаний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……………………………………………………………………………………………………………………………….….……………….…….……..…..…..11</a:t>
            </a:r>
            <a:endParaRPr lang="ru-RU" sz="2400" dirty="0">
              <a:solidFill>
                <a:prstClr val="black"/>
              </a:solidFill>
              <a:latin typeface="PF DinDisplay Pro" panose="02000506030000020004" pitchFamily="2" charset="0"/>
              <a:cs typeface="Open Sans"/>
            </a:endParaRPr>
          </a:p>
          <a:p>
            <a:pPr defTabSz="457200"/>
            <a:r>
              <a:rPr lang="ru-RU" sz="2400" dirty="0">
                <a:solidFill>
                  <a:prstClr val="black"/>
                </a:solidFill>
                <a:latin typeface="PF DinDisplay Pro" panose="02000506030000020004" pitchFamily="2" charset="0"/>
                <a:cs typeface="Open Sans"/>
              </a:rPr>
              <a:t>2.3 Динамика упоминаний</a:t>
            </a:r>
            <a:r>
              <a:rPr lang="en-US" sz="2400" dirty="0">
                <a:solidFill>
                  <a:prstClr val="black"/>
                </a:solidFill>
                <a:latin typeface="PF DinDisplay Pro" panose="02000506030000020004" pitchFamily="2" charset="0"/>
                <a:cs typeface="Open Sans"/>
              </a:rPr>
              <a:t>……………………………………………………………………………………………………………………………………..…</a:t>
            </a:r>
            <a:r>
              <a:rPr lang="ru-RU" sz="2400" dirty="0">
                <a:solidFill>
                  <a:prstClr val="black"/>
                </a:solidFill>
                <a:latin typeface="PF DinDisplay Pro" panose="02000506030000020004" pitchFamily="2" charset="0"/>
                <a:cs typeface="Open Sans"/>
              </a:rPr>
              <a:t>..</a:t>
            </a:r>
            <a:r>
              <a:rPr lang="en-US" sz="2400" dirty="0">
                <a:solidFill>
                  <a:prstClr val="black"/>
                </a:solidFill>
                <a:latin typeface="PF DinDisplay Pro" panose="02000506030000020004" pitchFamily="2" charset="0"/>
                <a:cs typeface="Open Sans"/>
              </a:rPr>
              <a:t>…………</a:t>
            </a:r>
            <a:r>
              <a:rPr lang="ru-RU" sz="2400" dirty="0">
                <a:solidFill>
                  <a:prstClr val="black"/>
                </a:solidFill>
                <a:latin typeface="PF DinDisplay Pro" panose="02000506030000020004" pitchFamily="2" charset="0"/>
                <a:cs typeface="Open Sans"/>
              </a:rPr>
              <a:t>..</a:t>
            </a:r>
            <a:r>
              <a:rPr lang="en-US" sz="2400" dirty="0" smtClean="0">
                <a:solidFill>
                  <a:prstClr val="black"/>
                </a:solidFill>
                <a:latin typeface="PF DinDisplay Pro" panose="02000506030000020004" pitchFamily="2" charset="0"/>
                <a:cs typeface="Open Sans"/>
              </a:rPr>
              <a:t>……</a:t>
            </a:r>
            <a:r>
              <a:rPr lang="ru-RU" sz="2400" dirty="0" smtClean="0">
                <a:solidFill>
                  <a:prstClr val="black"/>
                </a:solidFill>
                <a:latin typeface="PF DinDisplay Pro" panose="02000506030000020004" pitchFamily="2" charset="0"/>
                <a:cs typeface="Open Sans"/>
              </a:rPr>
              <a:t>.</a:t>
            </a:r>
            <a:r>
              <a:rPr lang="en-US" sz="2400" dirty="0" smtClean="0">
                <a:solidFill>
                  <a:prstClr val="black"/>
                </a:solidFill>
                <a:latin typeface="PF DinDisplay Pro" panose="02000506030000020004" pitchFamily="2" charset="0"/>
                <a:cs typeface="Open Sans"/>
              </a:rPr>
              <a:t>…</a:t>
            </a:r>
            <a:r>
              <a:rPr lang="ru-RU" sz="2400" dirty="0" smtClean="0">
                <a:solidFill>
                  <a:prstClr val="black"/>
                </a:solidFill>
                <a:latin typeface="PF DinDisplay Pro" panose="02000506030000020004" pitchFamily="2" charset="0"/>
                <a:cs typeface="Open Sans"/>
              </a:rPr>
              <a:t>…….…..….......12</a:t>
            </a:r>
            <a:endParaRPr lang="ru-RU" sz="2400" dirty="0">
              <a:solidFill>
                <a:prstClr val="black"/>
              </a:solidFill>
              <a:latin typeface="PF DinDisplay Pro" panose="02000506030000020004" pitchFamily="2" charset="0"/>
              <a:cs typeface="Open Sans"/>
            </a:endParaRPr>
          </a:p>
          <a:p>
            <a:pPr defTabSz="457200"/>
            <a:r>
              <a:rPr lang="ru-RU" sz="2400" dirty="0" smtClean="0">
                <a:solidFill>
                  <a:prstClr val="black"/>
                </a:solidFill>
                <a:latin typeface="PF DinDisplay Pro" panose="02000506030000020004" pitchFamily="2" charset="0"/>
                <a:cs typeface="Open Sans"/>
              </a:rPr>
              <a:t>2.4 </a:t>
            </a:r>
            <a:r>
              <a:rPr lang="ru-RU" sz="2400" dirty="0">
                <a:solidFill>
                  <a:prstClr val="black"/>
                </a:solidFill>
                <a:latin typeface="PF DinDisplay Pro" panose="02000506030000020004" pitchFamily="2" charset="0"/>
                <a:cs typeface="Open Sans"/>
              </a:rPr>
              <a:t>Типы контента …………………….</a:t>
            </a:r>
            <a:r>
              <a:rPr lang="en-US" sz="2400" dirty="0">
                <a:solidFill>
                  <a:prstClr val="black"/>
                </a:solidFill>
                <a:latin typeface="PF DinDisplay Pro" panose="02000506030000020004" pitchFamily="2" charset="0"/>
                <a:cs typeface="Open Sans"/>
              </a:rPr>
              <a:t>……………………………………………………………………………………………………………………………..……………</a:t>
            </a:r>
            <a:r>
              <a:rPr lang="ru-RU" sz="2400" dirty="0" smtClean="0">
                <a:solidFill>
                  <a:prstClr val="black"/>
                </a:solidFill>
                <a:latin typeface="PF DinDisplay Pro" panose="02000506030000020004" pitchFamily="2" charset="0"/>
                <a:cs typeface="Open Sans"/>
              </a:rPr>
              <a:t>………….....................15</a:t>
            </a:r>
            <a:endParaRPr lang="ru-RU" sz="2400" dirty="0">
              <a:solidFill>
                <a:prstClr val="black"/>
              </a:solidFill>
              <a:latin typeface="PF DinDisplay Pro" panose="02000506030000020004" pitchFamily="2" charset="0"/>
              <a:cs typeface="Open Sans"/>
            </a:endParaRPr>
          </a:p>
          <a:p>
            <a:pPr defTabSz="457200"/>
            <a:r>
              <a:rPr lang="ru-RU" sz="2400" dirty="0" smtClean="0">
                <a:solidFill>
                  <a:prstClr val="black"/>
                </a:solidFill>
                <a:latin typeface="PF DinDisplay Pro" panose="02000506030000020004" pitchFamily="2" charset="0"/>
                <a:cs typeface="Open Sans"/>
              </a:rPr>
              <a:t>2.5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Источники ………..……………….</a:t>
            </a:r>
            <a:r>
              <a:rPr lang="en-US" sz="2400" dirty="0">
                <a:solidFill>
                  <a:prstClr val="black"/>
                </a:solidFill>
                <a:latin typeface="PF DinDisplay Pro" panose="02000506030000020004" pitchFamily="2" charset="0"/>
                <a:cs typeface="Open Sans"/>
              </a:rPr>
              <a:t>……………………………………</a:t>
            </a:r>
            <a:r>
              <a:rPr lang="ru-RU" sz="2400" dirty="0">
                <a:solidFill>
                  <a:prstClr val="black"/>
                </a:solidFill>
                <a:latin typeface="PF DinDisplay Pro" panose="02000506030000020004" pitchFamily="2" charset="0"/>
                <a:cs typeface="Open Sans"/>
              </a:rPr>
              <a:t>.</a:t>
            </a:r>
            <a:r>
              <a:rPr lang="en-US" sz="2400" dirty="0">
                <a:solidFill>
                  <a:prstClr val="black"/>
                </a:solidFill>
                <a:latin typeface="PF DinDisplay Pro" panose="02000506030000020004" pitchFamily="2" charset="0"/>
                <a:cs typeface="Open Sans"/>
              </a:rPr>
              <a:t>………………………………………………………………………………..……………………</a:t>
            </a:r>
            <a:r>
              <a:rPr lang="ru-RU" sz="2400" dirty="0" smtClean="0">
                <a:solidFill>
                  <a:prstClr val="black"/>
                </a:solidFill>
                <a:latin typeface="PF DinDisplay Pro" panose="02000506030000020004" pitchFamily="2" charset="0"/>
                <a:cs typeface="Open Sans"/>
              </a:rPr>
              <a:t>……………..…..….…...17</a:t>
            </a:r>
            <a:endParaRPr lang="ru-RU" sz="2400" dirty="0">
              <a:solidFill>
                <a:prstClr val="black"/>
              </a:solidFill>
              <a:latin typeface="PF DinDisplay Pro" panose="02000506030000020004" pitchFamily="2" charset="0"/>
              <a:cs typeface="Open Sans"/>
            </a:endParaRPr>
          </a:p>
          <a:p>
            <a:pPr defTabSz="457200"/>
            <a:r>
              <a:rPr lang="ru-RU" sz="2400" dirty="0" smtClean="0">
                <a:solidFill>
                  <a:prstClr val="black"/>
                </a:solidFill>
                <a:latin typeface="PF DinDisplay Pro" panose="02000506030000020004" pitchFamily="2" charset="0"/>
                <a:cs typeface="Open Sans"/>
              </a:rPr>
              <a:t>2.6 </a:t>
            </a:r>
            <a:r>
              <a:rPr lang="ru-RU" sz="2400" dirty="0">
                <a:solidFill>
                  <a:prstClr val="black"/>
                </a:solidFill>
                <a:latin typeface="PF DinDisplay Pro" panose="02000506030000020004" pitchFamily="2" charset="0"/>
                <a:cs typeface="Open Sans"/>
              </a:rPr>
              <a:t>Аудитория: возраст, пол, ГЕО </a:t>
            </a:r>
            <a:r>
              <a:rPr lang="ru-RU" sz="2400" dirty="0" smtClean="0">
                <a:solidFill>
                  <a:prstClr val="black"/>
                </a:solidFill>
                <a:latin typeface="PF DinDisplay Pro" panose="02000506030000020004" pitchFamily="2" charset="0"/>
                <a:cs typeface="Open Sans"/>
              </a:rPr>
              <a:t>..……………………………………………………………………………………………………………………………………...........................................20</a:t>
            </a:r>
            <a:endParaRPr lang="ru-RU" sz="2400" dirty="0">
              <a:solidFill>
                <a:prstClr val="black"/>
              </a:solidFill>
              <a:latin typeface="PF DinDisplay Pro" panose="02000506030000020004" pitchFamily="2" charset="0"/>
              <a:cs typeface="Open Sans"/>
            </a:endParaRPr>
          </a:p>
          <a:p>
            <a:pPr defTabSz="457200"/>
            <a:endParaRPr lang="ru-RU" sz="2400" b="1" dirty="0">
              <a:solidFill>
                <a:prstClr val="black"/>
              </a:solidFill>
              <a:latin typeface="PF DinDisplay Pro" panose="02000506030000020004" pitchFamily="2" charset="0"/>
              <a:cs typeface="Open Sans"/>
            </a:endParaRPr>
          </a:p>
          <a:p>
            <a:pPr defTabSz="457200"/>
            <a:r>
              <a:rPr lang="ru-RU" sz="2400" b="1" dirty="0">
                <a:solidFill>
                  <a:prstClr val="black"/>
                </a:solidFill>
                <a:latin typeface="PF DinDisplay Pro" panose="02000506030000020004" pitchFamily="2" charset="0"/>
                <a:cs typeface="Open Sans"/>
              </a:rPr>
              <a:t>3. Теги</a:t>
            </a:r>
            <a:r>
              <a:rPr lang="en-US" sz="2400" b="1" dirty="0">
                <a:solidFill>
                  <a:prstClr val="black"/>
                </a:solidFill>
                <a:latin typeface="PF DinDisplay Pro" panose="02000506030000020004" pitchFamily="2" charset="0"/>
                <a:cs typeface="Open Sans"/>
              </a:rPr>
              <a:t>………………………………………………………………………………………………………</a:t>
            </a:r>
            <a:r>
              <a:rPr lang="ru-RU" sz="2400" b="1" dirty="0" smtClean="0">
                <a:solidFill>
                  <a:prstClr val="black"/>
                </a:solidFill>
                <a:latin typeface="PF DinDisplay Pro" panose="02000506030000020004" pitchFamily="2" charset="0"/>
                <a:cs typeface="Open Sans"/>
              </a:rPr>
              <a:t>……………………………………………………………..…….….26</a:t>
            </a:r>
            <a:endParaRPr lang="ru-RU" sz="2400" b="1" dirty="0">
              <a:solidFill>
                <a:prstClr val="black"/>
              </a:solidFill>
              <a:latin typeface="PF DinDisplay Pro" panose="02000506030000020004" pitchFamily="2" charset="0"/>
              <a:cs typeface="Open Sans"/>
            </a:endParaRPr>
          </a:p>
          <a:p>
            <a:pPr defTabSz="457200"/>
            <a:r>
              <a:rPr lang="ru-RU" sz="2400" dirty="0">
                <a:solidFill>
                  <a:prstClr val="black"/>
                </a:solidFill>
                <a:latin typeface="PF DinDisplay Pro" panose="02000506030000020004" pitchFamily="2" charset="0"/>
                <a:cs typeface="Open Sans"/>
              </a:rPr>
              <a:t>3.1 КП</a:t>
            </a:r>
            <a:r>
              <a:rPr lang="en-US" sz="2400" dirty="0">
                <a:solidFill>
                  <a:prstClr val="black"/>
                </a:solidFill>
                <a:latin typeface="PF DinDisplay Pro" panose="02000506030000020004" pitchFamily="2" charset="0"/>
                <a:cs typeface="Open Sans"/>
              </a:rPr>
              <a:t>……………………………………………………………………………………………………………………………………..………………………</a:t>
            </a:r>
            <a:r>
              <a:rPr lang="ru-RU" sz="2400" dirty="0" smtClean="0">
                <a:solidFill>
                  <a:prstClr val="black"/>
                </a:solidFill>
                <a:latin typeface="PF DinDisplay Pro" panose="02000506030000020004" pitchFamily="2" charset="0"/>
                <a:cs typeface="Open Sans"/>
              </a:rPr>
              <a:t>………………………….……….................26</a:t>
            </a:r>
            <a:endParaRPr lang="ru-RU" sz="2400" dirty="0">
              <a:solidFill>
                <a:prstClr val="black"/>
              </a:solidFill>
              <a:latin typeface="PF DinDisplay Pro" panose="02000506030000020004" pitchFamily="2" charset="0"/>
              <a:cs typeface="Open Sans"/>
            </a:endParaRPr>
          </a:p>
          <a:p>
            <a:pPr defTabSz="457200"/>
            <a:r>
              <a:rPr lang="ru-RU" sz="2400" dirty="0">
                <a:solidFill>
                  <a:prstClr val="black"/>
                </a:solidFill>
                <a:latin typeface="PF DinDisplay Pro" panose="02000506030000020004" pitchFamily="2" charset="0"/>
                <a:cs typeface="Open Sans"/>
              </a:rPr>
              <a:t>3.2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Монтаж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.</a:t>
            </a:r>
            <a:r>
              <a:rPr lang="en-US" sz="2400" dirty="0">
                <a:solidFill>
                  <a:prstClr val="black"/>
                </a:solidFill>
                <a:latin typeface="PF DinDisplay Pro" panose="02000506030000020004" pitchFamily="2" charset="0"/>
                <a:cs typeface="Open Sans"/>
              </a:rPr>
              <a:t>……………………………………………………………………………………………………………………………………..……………</a:t>
            </a:r>
            <a:r>
              <a:rPr lang="ru-RU" sz="2400" dirty="0" smtClean="0">
                <a:solidFill>
                  <a:prstClr val="black"/>
                </a:solidFill>
                <a:latin typeface="PF DinDisplay Pro" panose="02000506030000020004" pitchFamily="2" charset="0"/>
                <a:cs typeface="Open Sans"/>
              </a:rPr>
              <a:t>…………………...………………….………...32</a:t>
            </a:r>
            <a:endParaRPr lang="ru-RU" sz="2400" dirty="0">
              <a:solidFill>
                <a:prstClr val="black"/>
              </a:solidFill>
              <a:latin typeface="PF DinDisplay Pro" panose="02000506030000020004" pitchFamily="2" charset="0"/>
              <a:cs typeface="Open Sans"/>
            </a:endParaRPr>
          </a:p>
          <a:p>
            <a:pPr defTabSz="457200"/>
            <a:r>
              <a:rPr lang="ru-RU" sz="2400" dirty="0">
                <a:solidFill>
                  <a:prstClr val="black"/>
                </a:solidFill>
                <a:latin typeface="PF DinDisplay Pro" panose="02000506030000020004" pitchFamily="2" charset="0"/>
                <a:cs typeface="Open Sans"/>
              </a:rPr>
              <a:t>3.3 </a:t>
            </a:r>
            <a:r>
              <a:rPr lang="ru-RU" sz="2400" dirty="0" err="1">
                <a:solidFill>
                  <a:prstClr val="black"/>
                </a:solidFill>
                <a:latin typeface="PF DinDisplay Pro" panose="02000506030000020004" pitchFamily="2" charset="0"/>
                <a:cs typeface="Open Sans"/>
              </a:rPr>
              <a:t>СоцС</a:t>
            </a:r>
            <a:r>
              <a:rPr lang="en-US" sz="2400" dirty="0">
                <a:solidFill>
                  <a:prstClr val="black"/>
                </a:solidFill>
                <a:latin typeface="PF DinDisplay Pro" panose="02000506030000020004" pitchFamily="2" charset="0"/>
                <a:cs typeface="Open Sans"/>
              </a:rPr>
              <a:t>……………………………………………………………………………………………………………………………………..……………………</a:t>
            </a:r>
            <a:r>
              <a:rPr lang="ru-RU" sz="2400" dirty="0" smtClean="0">
                <a:solidFill>
                  <a:prstClr val="black"/>
                </a:solidFill>
                <a:latin typeface="PF DinDisplay Pro" panose="02000506030000020004" pitchFamily="2" charset="0"/>
                <a:cs typeface="Open Sans"/>
              </a:rPr>
              <a:t>…………..………………………..…....…...39</a:t>
            </a:r>
            <a:endParaRPr lang="ru-RU" sz="2400" dirty="0">
              <a:solidFill>
                <a:prstClr val="black"/>
              </a:solidFill>
              <a:latin typeface="PF DinDisplay Pro" panose="02000506030000020004" pitchFamily="2" charset="0"/>
              <a:cs typeface="Open Sans"/>
            </a:endParaRPr>
          </a:p>
          <a:p>
            <a:pPr defTabSz="457200"/>
            <a:r>
              <a:rPr lang="ru-RU" sz="2400" dirty="0">
                <a:solidFill>
                  <a:prstClr val="black"/>
                </a:solidFill>
                <a:latin typeface="PF DinDisplay Pro" panose="02000506030000020004" pitchFamily="2" charset="0"/>
                <a:cs typeface="Open Sans"/>
              </a:rPr>
              <a:t>3.4 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PR………………………………………………………………………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..</a:t>
            </a:r>
            <a:r>
              <a:rPr lang="en-US" sz="2400" dirty="0">
                <a:solidFill>
                  <a:prstClr val="black"/>
                </a:solidFill>
                <a:latin typeface="PF DinDisplay Pro" panose="02000506030000020004" pitchFamily="2" charset="0"/>
                <a:cs typeface="Open Sans"/>
              </a:rPr>
              <a:t>…………………………………………………………………………………………………………..…</a:t>
            </a:r>
            <a:r>
              <a:rPr lang="ru-RU" sz="2400" dirty="0" smtClean="0">
                <a:solidFill>
                  <a:prstClr val="black"/>
                </a:solidFill>
                <a:latin typeface="PF DinDisplay Pro" panose="02000506030000020004" pitchFamily="2" charset="0"/>
                <a:cs typeface="Open Sans"/>
              </a:rPr>
              <a:t>…………….............43</a:t>
            </a:r>
            <a:endParaRPr lang="ru-RU" sz="2400" dirty="0">
              <a:solidFill>
                <a:prstClr val="black"/>
              </a:solidFill>
              <a:latin typeface="PF DinDisplay Pro" panose="02000506030000020004" pitchFamily="2" charset="0"/>
              <a:cs typeface="Open Sans"/>
            </a:endParaRPr>
          </a:p>
          <a:p>
            <a:pPr defTabSz="457200"/>
            <a:r>
              <a:rPr lang="ru-RU" sz="2400" dirty="0">
                <a:solidFill>
                  <a:prstClr val="black"/>
                </a:solidFill>
                <a:latin typeface="PF DinDisplay Pro" panose="02000506030000020004" pitchFamily="2" charset="0"/>
                <a:cs typeface="Open Sans"/>
              </a:rPr>
              <a:t>3.5 </a:t>
            </a:r>
            <a:r>
              <a:rPr lang="ru-RU" sz="2400" dirty="0" smtClean="0">
                <a:solidFill>
                  <a:prstClr val="black"/>
                </a:solidFill>
                <a:latin typeface="PF DinDisplay Pro" panose="02000506030000020004" pitchFamily="2" charset="0"/>
                <a:cs typeface="Open Sans"/>
              </a:rPr>
              <a:t>ЗМК</a:t>
            </a:r>
            <a:r>
              <a:rPr lang="ru-RU" sz="2400" dirty="0">
                <a:solidFill>
                  <a:prstClr val="black"/>
                </a:solidFill>
                <a:latin typeface="PF DinDisplay Pro" panose="02000506030000020004" pitchFamily="2" charset="0"/>
                <a:cs typeface="Open Sans"/>
              </a:rPr>
              <a:t>……………………………………………………………..</a:t>
            </a:r>
            <a:r>
              <a:rPr lang="en-US" sz="2400" dirty="0">
                <a:solidFill>
                  <a:prstClr val="black"/>
                </a:solidFill>
                <a:latin typeface="PF DinDisplay Pro" panose="02000506030000020004" pitchFamily="2" charset="0"/>
                <a:cs typeface="Open Sans"/>
              </a:rPr>
              <a:t>…………………………………………………………………</a:t>
            </a:r>
            <a:r>
              <a:rPr lang="ru-RU" sz="2400" dirty="0">
                <a:solidFill>
                  <a:prstClr val="black"/>
                </a:solidFill>
                <a:latin typeface="PF DinDisplay Pro" panose="02000506030000020004" pitchFamily="2" charset="0"/>
                <a:cs typeface="Open Sans"/>
              </a:rPr>
              <a:t>…..</a:t>
            </a:r>
            <a:r>
              <a:rPr lang="en-US" sz="2400" dirty="0">
                <a:solidFill>
                  <a:prstClr val="black"/>
                </a:solidFill>
                <a:latin typeface="PF DinDisplay Pro" panose="02000506030000020004" pitchFamily="2" charset="0"/>
                <a:cs typeface="Open Sans"/>
              </a:rPr>
              <a:t>…………………………..…………………</a:t>
            </a:r>
            <a:r>
              <a:rPr lang="ru-RU" sz="2400" dirty="0" smtClean="0">
                <a:solidFill>
                  <a:prstClr val="black"/>
                </a:solidFill>
                <a:latin typeface="PF DinDisplay Pro" panose="02000506030000020004" pitchFamily="2" charset="0"/>
                <a:cs typeface="Open Sans"/>
              </a:rPr>
              <a:t>……….…..…….……50</a:t>
            </a:r>
          </a:p>
          <a:p>
            <a:pPr defTabSz="457200"/>
            <a:endParaRPr lang="ru-RU" sz="2400" dirty="0">
              <a:solidFill>
                <a:prstClr val="black"/>
              </a:solidFill>
              <a:latin typeface="PF DinDisplay Pro" panose="02000506030000020004" pitchFamily="2" charset="0"/>
              <a:cs typeface="Open Sans"/>
            </a:endParaRPr>
          </a:p>
          <a:p>
            <a:pPr defTabSz="457200"/>
            <a:r>
              <a:rPr lang="ru-RU" sz="2400" dirty="0" smtClean="0">
                <a:solidFill>
                  <a:prstClr val="black"/>
                </a:solidFill>
                <a:latin typeface="PF DinDisplay Pro" panose="02000506030000020004" pitchFamily="2" charset="0"/>
                <a:cs typeface="Open Sans"/>
              </a:rPr>
              <a:t>4. Посевы……………………………………………………………………………………………………………………………………………………………………………………….…….………….55</a:t>
            </a:r>
          </a:p>
          <a:p>
            <a:pPr defTabSz="457200"/>
            <a:endParaRPr lang="ru-RU" sz="2400" dirty="0">
              <a:solidFill>
                <a:prstClr val="black"/>
              </a:solidFill>
              <a:latin typeface="PF DinDisplay Pro" panose="02000506030000020004" pitchFamily="2" charset="0"/>
              <a:cs typeface="Open Sans"/>
            </a:endParaRPr>
          </a:p>
          <a:p>
            <a:pPr defTabSz="457200"/>
            <a:r>
              <a:rPr lang="ru-RU" sz="2400" dirty="0" smtClean="0">
                <a:solidFill>
                  <a:prstClr val="black"/>
                </a:solidFill>
                <a:latin typeface="PF DinDisplay Pro" panose="02000506030000020004" pitchFamily="2" charset="0"/>
                <a:cs typeface="Open Sans"/>
              </a:rPr>
              <a:t>5. Работа с соцсетями (Дзен)…………………………………………………………………………………………………………………………………………………………….….……………57</a:t>
            </a:r>
          </a:p>
          <a:p>
            <a:pPr defTabSz="457200"/>
            <a:endParaRPr lang="ru-RU" sz="2400" dirty="0">
              <a:solidFill>
                <a:prstClr val="black"/>
              </a:solidFill>
              <a:latin typeface="PF DinDisplay Pro" panose="02000506030000020004" pitchFamily="2" charset="0"/>
              <a:cs typeface="Open Sans"/>
            </a:endParaRPr>
          </a:p>
          <a:p>
            <a:pPr defTabSz="457200"/>
            <a:r>
              <a:rPr lang="ru-RU" sz="2400" b="1" dirty="0">
                <a:solidFill>
                  <a:prstClr val="black"/>
                </a:solidFill>
                <a:latin typeface="PF DinDisplay Pro" panose="02000506030000020004" pitchFamily="2" charset="0"/>
                <a:cs typeface="Open Sans"/>
              </a:rPr>
              <a:t>6</a:t>
            </a:r>
            <a:r>
              <a:rPr lang="ru-RU" sz="2400" b="1" dirty="0" smtClean="0">
                <a:solidFill>
                  <a:prstClr val="black"/>
                </a:solidFill>
                <a:latin typeface="PF DinDisplay Pro" panose="02000506030000020004" pitchFamily="2" charset="0"/>
                <a:cs typeface="Open Sans"/>
              </a:rPr>
              <a:t>. </a:t>
            </a:r>
            <a:r>
              <a:rPr lang="ru-RU" sz="2400" b="1" dirty="0">
                <a:solidFill>
                  <a:prstClr val="black"/>
                </a:solidFill>
                <a:latin typeface="PF DinDisplay Pro" panose="02000506030000020004" pitchFamily="2" charset="0"/>
                <a:cs typeface="Open Sans"/>
              </a:rPr>
              <a:t>Заключение</a:t>
            </a:r>
            <a:r>
              <a:rPr lang="ru-RU" sz="2400" dirty="0" smtClean="0">
                <a:solidFill>
                  <a:prstClr val="black"/>
                </a:solidFill>
                <a:latin typeface="PF DinDisplay Pro" panose="02000506030000020004" pitchFamily="2" charset="0"/>
                <a:cs typeface="Open Sans"/>
              </a:rPr>
              <a:t>……………………………………………………………………………………………………………………………………………………………………………….……….……….59</a:t>
            </a:r>
            <a:endParaRPr lang="ru-RU" sz="2400" dirty="0">
              <a:solidFill>
                <a:prstClr val="black"/>
              </a:solidFill>
              <a:latin typeface="PF DinDisplay Pro" panose="02000506030000020004" pitchFamily="2" charset="0"/>
              <a:cs typeface="Open Sans"/>
            </a:endParaRPr>
          </a:p>
        </p:txBody>
      </p:sp>
      <p:pic>
        <p:nvPicPr>
          <p:cNvPr id="36" name="Рисунок 35" descr="Изображение выглядит как объект&#10;&#10;Описание создано автоматически">
            <a:extLst>
              <a:ext uri="{FF2B5EF4-FFF2-40B4-BE49-F238E27FC236}">
                <a16:creationId xmlns="" xmlns:a16="http://schemas.microsoft.com/office/drawing/2014/main" id="{494906A7-8FF6-4414-B902-C91428A437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505" y="7054881"/>
            <a:ext cx="796967" cy="577802"/>
          </a:xfrm>
          <a:prstGeom prst="rect">
            <a:avLst/>
          </a:prstGeom>
        </p:spPr>
      </p:pic>
      <p:pic>
        <p:nvPicPr>
          <p:cNvPr id="40" name="Рисунок 39" descr="Изображение выглядит как объект&#10;&#10;Описание создано автоматически">
            <a:extLst>
              <a:ext uri="{FF2B5EF4-FFF2-40B4-BE49-F238E27FC236}">
                <a16:creationId xmlns="" xmlns:a16="http://schemas.microsoft.com/office/drawing/2014/main" id="{ED1239BA-B005-4573-B0F8-EC361286645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376" y="2608304"/>
            <a:ext cx="673096" cy="562234"/>
          </a:xfrm>
          <a:prstGeom prst="rect">
            <a:avLst/>
          </a:prstGeom>
        </p:spPr>
      </p:pic>
      <p:pic>
        <p:nvPicPr>
          <p:cNvPr id="53" name="Рисунок 52" descr="Изображение выглядит как объект&#10;&#10;Описание создано автоматически">
            <a:extLst>
              <a:ext uri="{FF2B5EF4-FFF2-40B4-BE49-F238E27FC236}">
                <a16:creationId xmlns="" xmlns:a16="http://schemas.microsoft.com/office/drawing/2014/main" id="{03DD872F-509E-4A1D-A51F-8E57DBE3EBD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3054" y="4139226"/>
            <a:ext cx="673096" cy="562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733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14:reveal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/>
          <p:cNvGrpSpPr/>
          <p:nvPr/>
        </p:nvGrpSpPr>
        <p:grpSpPr>
          <a:xfrm>
            <a:off x="493485" y="483017"/>
            <a:ext cx="23367999" cy="2079087"/>
            <a:chOff x="5312170" y="483017"/>
            <a:chExt cx="13796525" cy="2079087"/>
          </a:xfrm>
        </p:grpSpPr>
        <p:sp>
          <p:nvSpPr>
            <p:cNvPr id="33" name="TextBox 32"/>
            <p:cNvSpPr txBox="1"/>
            <p:nvPr/>
          </p:nvSpPr>
          <p:spPr>
            <a:xfrm>
              <a:off x="5312170" y="483017"/>
              <a:ext cx="13796525" cy="1323421"/>
            </a:xfrm>
            <a:prstGeom prst="rect">
              <a:avLst/>
            </a:prstGeom>
            <a:noFill/>
          </p:spPr>
          <p:txBody>
            <a:bodyPr wrap="square" lIns="91422" tIns="45711" rIns="91422" bIns="45711" rtlCol="0">
              <a:spAutoFit/>
            </a:bodyPr>
            <a:lstStyle/>
            <a:p>
              <a:pPr algn="ctr"/>
              <a:r>
                <a:rPr lang="ru-RU" sz="8000" b="1" dirty="0">
                  <a:solidFill>
                    <a:srgbClr val="000000"/>
                  </a:solidFill>
                  <a:latin typeface="PF DinDisplay Pro" panose="02000506030000020004" pitchFamily="2" charset="0"/>
                  <a:cs typeface="Open Sans"/>
                </a:rPr>
                <a:t>Мониторинг</a:t>
              </a:r>
              <a:endParaRPr lang="id-ID" sz="8000" b="1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1412311" y="2470667"/>
              <a:ext cx="1553038" cy="9143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339" tIns="45672" rIns="91339" bIns="45672" rtlCol="0" anchor="ctr"/>
            <a:lstStyle/>
            <a:p>
              <a:pPr algn="ctr"/>
              <a:endParaRPr lang="en-US" dirty="0">
                <a:solidFill>
                  <a:schemeClr val="accent2"/>
                </a:solidFill>
                <a:latin typeface="PF DinDisplay Pro" panose="02000506030000020004" pitchFamily="2" charset="0"/>
              </a:endParaRPr>
            </a:p>
          </p:txBody>
        </p:sp>
        <p:sp>
          <p:nvSpPr>
            <p:cNvPr id="35" name="Subtitle 2"/>
            <p:cNvSpPr txBox="1">
              <a:spLocks/>
            </p:cNvSpPr>
            <p:nvPr/>
          </p:nvSpPr>
          <p:spPr>
            <a:xfrm>
              <a:off x="6361236" y="1634834"/>
              <a:ext cx="11655185" cy="839116"/>
            </a:xfrm>
            <a:prstGeom prst="rect">
              <a:avLst/>
            </a:prstGeom>
          </p:spPr>
          <p:txBody>
            <a:bodyPr vert="horz" lIns="217490" tIns="108745" rIns="217490" bIns="108745" rtlCol="0">
              <a:norm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Open Sans"/>
                <a:buNone/>
                <a:defRPr sz="2400" kern="1200">
                  <a:solidFill>
                    <a:schemeClr val="tx2"/>
                  </a:solidFill>
                  <a:latin typeface="Open Sans"/>
                  <a:ea typeface="+mn-ea"/>
                  <a:cs typeface="Open Sans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31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endParaRPr>
            </a:p>
          </p:txBody>
        </p:sp>
      </p:grpSp>
      <p:sp>
        <p:nvSpPr>
          <p:cNvPr id="17" name="Content Placeholder 2">
            <a:extLst>
              <a:ext uri="{FF2B5EF4-FFF2-40B4-BE49-F238E27FC236}">
                <a16:creationId xmlns="" xmlns:a16="http://schemas.microsoft.com/office/drawing/2014/main" id="{655D268E-C67B-41FF-BCDC-1144DBA9811B}"/>
              </a:ext>
            </a:extLst>
          </p:cNvPr>
          <p:cNvSpPr txBox="1">
            <a:spLocks/>
          </p:cNvSpPr>
          <p:nvPr/>
        </p:nvSpPr>
        <p:spPr bwMode="auto">
          <a:xfrm>
            <a:off x="10578546" y="13259226"/>
            <a:ext cx="3282370" cy="490431"/>
          </a:xfrm>
          <a:prstGeom prst="rect">
            <a:avLst/>
          </a:prstGeom>
        </p:spPr>
        <p:txBody>
          <a:bodyPr wrap="square" lIns="182843" tIns="91422" rIns="182843" bIns="91422" numCol="1" anchor="t" anchorCtr="0" compatLnSpc="1">
            <a:prstTxWarp prst="textNoShape">
              <a:avLst/>
            </a:prstTxWarp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Open Sans"/>
                <a:cs typeface="Open Sans"/>
              </a:rPr>
              <a:t>wbooster.ru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CD248DE5-7E71-48E4-80CF-685AFDFD78FD}"/>
              </a:ext>
            </a:extLst>
          </p:cNvPr>
          <p:cNvSpPr txBox="1"/>
          <p:nvPr/>
        </p:nvSpPr>
        <p:spPr>
          <a:xfrm>
            <a:off x="1845130" y="3268042"/>
            <a:ext cx="20884242" cy="7545619"/>
          </a:xfrm>
          <a:prstGeom prst="rect">
            <a:avLst/>
          </a:prstGeom>
          <a:noFill/>
        </p:spPr>
        <p:txBody>
          <a:bodyPr wrap="square" lIns="182843" tIns="91422" rIns="182843" bIns="91422" rtlCol="0">
            <a:spAutoFit/>
          </a:bodyPr>
          <a:lstStyle/>
          <a:p>
            <a:pPr>
              <a:lnSpc>
                <a:spcPts val="4100"/>
              </a:lnSpc>
            </a:pPr>
            <a:endParaRPr lang="ru-RU" sz="2400" dirty="0">
              <a:solidFill>
                <a:srgbClr val="000000"/>
              </a:solidFill>
              <a:latin typeface="PF DinDisplay Pro" panose="02000506030000020004" pitchFamily="2" charset="0"/>
              <a:cs typeface="Open Sans"/>
            </a:endParaRPr>
          </a:p>
          <a:p>
            <a:pPr marL="457200" indent="-457200" algn="just">
              <a:lnSpc>
                <a:spcPts val="4100"/>
              </a:lnSpc>
              <a:buFont typeface="+mj-lt"/>
              <a:buAutoNum type="arabicPeriod"/>
            </a:pP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Исследование и анализ упоминаний бренда 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RUFLEX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в микроблогах, социальных сетях, видеохостингах, блогах, форумах, отзывах, новостях и интернет-СМИ.</a:t>
            </a:r>
            <a:endParaRPr lang="en-US" sz="2400" dirty="0">
              <a:solidFill>
                <a:srgbClr val="000000"/>
              </a:solidFill>
              <a:latin typeface="PF DinDisplay Pro" panose="02000506030000020004" pitchFamily="2" charset="0"/>
              <a:cs typeface="Open Sans"/>
            </a:endParaRPr>
          </a:p>
          <a:p>
            <a:pPr marL="457200" indent="-457200" algn="just">
              <a:lnSpc>
                <a:spcPts val="4100"/>
              </a:lnSpc>
              <a:buFont typeface="+mj-lt"/>
              <a:buAutoNum type="arabicPeriod"/>
            </a:pP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Исследование и анализ упоминаний брендов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-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конкурентов: </a:t>
            </a:r>
            <a:r>
              <a:rPr lang="en-US" sz="2400" b="1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Docke</a:t>
            </a:r>
            <a:r>
              <a:rPr lang="ru-RU" sz="2400" b="1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, </a:t>
            </a:r>
            <a:r>
              <a:rPr lang="en-US" sz="2400" b="1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Tegola</a:t>
            </a:r>
            <a:r>
              <a:rPr lang="ru-RU" sz="2400" b="1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, </a:t>
            </a:r>
            <a:r>
              <a:rPr lang="en-US" sz="2400" b="1" dirty="0" err="1">
                <a:solidFill>
                  <a:srgbClr val="000000"/>
                </a:solidFill>
                <a:latin typeface="PF DinDisplay Pro" panose="02000506030000020004" pitchFamily="2" charset="0"/>
              </a:rPr>
              <a:t>Roofshield</a:t>
            </a:r>
            <a:r>
              <a:rPr lang="ru-RU" sz="2400" b="1" dirty="0">
                <a:solidFill>
                  <a:srgbClr val="000000"/>
                </a:solidFill>
                <a:latin typeface="PF DinDisplay Pro" panose="02000506030000020004" pitchFamily="2" charset="0"/>
              </a:rPr>
              <a:t>, </a:t>
            </a:r>
            <a:r>
              <a:rPr lang="en-US" sz="2400" b="1" dirty="0" err="1">
                <a:solidFill>
                  <a:srgbClr val="000000"/>
                </a:solidFill>
                <a:latin typeface="PF DinDisplay Pro" panose="02000506030000020004" pitchFamily="2" charset="0"/>
              </a:rPr>
              <a:t>Faracs</a:t>
            </a:r>
            <a:r>
              <a:rPr lang="ru-RU" sz="2400" b="1" dirty="0">
                <a:solidFill>
                  <a:srgbClr val="000000"/>
                </a:solidFill>
                <a:latin typeface="PF DinDisplay Pro" panose="02000506030000020004" pitchFamily="2" charset="0"/>
              </a:rPr>
              <a:t>, </a:t>
            </a:r>
            <a:r>
              <a:rPr lang="en-US" sz="2400" b="1" dirty="0">
                <a:solidFill>
                  <a:srgbClr val="000000"/>
                </a:solidFill>
                <a:latin typeface="PF DinDisplay Pro" panose="02000506030000020004" pitchFamily="2" charset="0"/>
              </a:rPr>
              <a:t>Quiet Tile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.</a:t>
            </a:r>
            <a:endParaRPr lang="en-US" sz="2400" dirty="0">
              <a:solidFill>
                <a:srgbClr val="000000"/>
              </a:solidFill>
              <a:latin typeface="PF DinDisplay Pro" panose="02000506030000020004" pitchFamily="2" charset="0"/>
            </a:endParaRPr>
          </a:p>
          <a:p>
            <a:pPr marL="457200" indent="-457200" algn="just">
              <a:lnSpc>
                <a:spcPts val="4100"/>
              </a:lnSpc>
              <a:buFont typeface="+mj-lt"/>
              <a:buAutoNum type="arabicPeriod"/>
            </a:pP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Кластеризация упоминаний брендов. </a:t>
            </a:r>
          </a:p>
          <a:p>
            <a:pPr marL="457200" indent="-457200" algn="just">
              <a:lnSpc>
                <a:spcPts val="4100"/>
              </a:lnSpc>
              <a:buFont typeface="+mj-lt"/>
              <a:buAutoNum type="arabicPeriod"/>
            </a:pP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Анализ информационного поля и основных проблем бренда 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RUFLEX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 и конкурентов в сети Интернет.</a:t>
            </a:r>
          </a:p>
          <a:p>
            <a:pPr marL="457200" indent="-457200" algn="just">
              <a:lnSpc>
                <a:spcPts val="4100"/>
              </a:lnSpc>
              <a:buFont typeface="+mj-lt"/>
              <a:buAutoNum type="arabicPeriod"/>
            </a:pP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Работа с упоминаниями в социальных сетях – коммуникация.</a:t>
            </a:r>
          </a:p>
          <a:p>
            <a:pPr algn="just">
              <a:lnSpc>
                <a:spcPts val="4100"/>
              </a:lnSpc>
            </a:pPr>
            <a:endParaRPr lang="en-US" sz="2400" dirty="0">
              <a:solidFill>
                <a:srgbClr val="000000"/>
              </a:solidFill>
              <a:latin typeface="PF DinDisplay Pro" panose="02000506030000020004" pitchFamily="2" charset="0"/>
              <a:cs typeface="Open Sans"/>
            </a:endParaRPr>
          </a:p>
          <a:p>
            <a:pPr algn="just">
              <a:lnSpc>
                <a:spcPts val="4100"/>
              </a:lnSpc>
            </a:pPr>
            <a:endParaRPr lang="ru-RU" sz="2400" dirty="0">
              <a:solidFill>
                <a:srgbClr val="000000"/>
              </a:solidFill>
              <a:latin typeface="PF DinDisplay Pro" panose="02000506030000020004" pitchFamily="2" charset="0"/>
              <a:cs typeface="Open Sans"/>
            </a:endParaRPr>
          </a:p>
          <a:p>
            <a:pPr algn="just">
              <a:lnSpc>
                <a:spcPts val="4100"/>
              </a:lnSpc>
            </a:pPr>
            <a:r>
              <a:rPr lang="ru-RU" sz="2400" b="1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Методология исследования:</a:t>
            </a:r>
          </a:p>
          <a:p>
            <a:pPr algn="just">
              <a:lnSpc>
                <a:spcPts val="4100"/>
              </a:lnSpc>
            </a:pP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Мониторинг и сбор текстовых сообщений в сети Интернет, содержащих упоминания заданных объектов мониторинга.</a:t>
            </a:r>
          </a:p>
          <a:p>
            <a:pPr algn="just">
              <a:lnSpc>
                <a:spcPts val="4100"/>
              </a:lnSpc>
            </a:pP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Сбор информации об объектах осуществляется с применением полнотекстового поиска с учетом морфологии русского языка (нахождение указанных </a:t>
            </a:r>
          </a:p>
          <a:p>
            <a:pPr algn="just">
              <a:lnSpc>
                <a:spcPts val="4100"/>
              </a:lnSpc>
            </a:pP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слов в любых словоформах).</a:t>
            </a:r>
          </a:p>
          <a:p>
            <a:pPr>
              <a:lnSpc>
                <a:spcPts val="4100"/>
              </a:lnSpc>
            </a:pPr>
            <a:endParaRPr lang="ru-RU" sz="2400" b="1" dirty="0">
              <a:solidFill>
                <a:srgbClr val="000000"/>
              </a:solidFill>
              <a:latin typeface="PF DinDisplay Pro" panose="02000506030000020004" pitchFamily="2" charset="0"/>
              <a:cs typeface="Open Sans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0153007" y="1785196"/>
            <a:ext cx="397576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solidFill>
                  <a:schemeClr val="bg1">
                    <a:lumMod val="65000"/>
                  </a:schemeClr>
                </a:solidFill>
                <a:latin typeface="PF DinDisplay Pro" panose="02000506030000020004" pitchFamily="2" charset="0"/>
                <a:cs typeface="Open Sans"/>
              </a:rPr>
              <a:t>Цели мониторинга</a:t>
            </a:r>
            <a:endParaRPr lang="ru-RU" dirty="0">
              <a:solidFill>
                <a:schemeClr val="bg1">
                  <a:lumMod val="65000"/>
                </a:schemeClr>
              </a:solidFill>
              <a:latin typeface="PF DinDisplay Pro" panose="02000506030000020004" pitchFamily="2" charset="0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485469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/>
          <p:cNvGrpSpPr/>
          <p:nvPr/>
        </p:nvGrpSpPr>
        <p:grpSpPr>
          <a:xfrm>
            <a:off x="493485" y="483017"/>
            <a:ext cx="23367999" cy="2079087"/>
            <a:chOff x="5312170" y="483017"/>
            <a:chExt cx="13796525" cy="2079087"/>
          </a:xfrm>
        </p:grpSpPr>
        <p:sp>
          <p:nvSpPr>
            <p:cNvPr id="33" name="TextBox 32"/>
            <p:cNvSpPr txBox="1"/>
            <p:nvPr/>
          </p:nvSpPr>
          <p:spPr>
            <a:xfrm>
              <a:off x="5312170" y="483017"/>
              <a:ext cx="13796525" cy="1323421"/>
            </a:xfrm>
            <a:prstGeom prst="rect">
              <a:avLst/>
            </a:prstGeom>
            <a:noFill/>
          </p:spPr>
          <p:txBody>
            <a:bodyPr wrap="square" lIns="91422" tIns="45711" rIns="91422" bIns="45711" rtlCol="0">
              <a:spAutoFit/>
            </a:bodyPr>
            <a:lstStyle/>
            <a:p>
              <a:pPr algn="ctr"/>
              <a:r>
                <a:rPr lang="ru-RU" sz="8000" b="1" dirty="0">
                  <a:solidFill>
                    <a:srgbClr val="000000"/>
                  </a:solidFill>
                  <a:latin typeface="PF DinDisplay Pro" panose="02000506030000020004" pitchFamily="2" charset="0"/>
                  <a:cs typeface="Open Sans"/>
                </a:rPr>
                <a:t>Мониторинг</a:t>
              </a:r>
              <a:endParaRPr lang="id-ID" sz="8000" b="1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1412311" y="2470667"/>
              <a:ext cx="1553038" cy="9143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339" tIns="45672" rIns="91339" bIns="45672" rtlCol="0" anchor="ctr"/>
            <a:lstStyle/>
            <a:p>
              <a:pPr algn="ctr"/>
              <a:endParaRPr lang="en-US" dirty="0">
                <a:solidFill>
                  <a:schemeClr val="accent2"/>
                </a:solidFill>
                <a:latin typeface="PF DinDisplay Pro" panose="02000506030000020004" pitchFamily="2" charset="0"/>
              </a:endParaRPr>
            </a:p>
          </p:txBody>
        </p:sp>
        <p:sp>
          <p:nvSpPr>
            <p:cNvPr id="35" name="Subtitle 2"/>
            <p:cNvSpPr txBox="1">
              <a:spLocks/>
            </p:cNvSpPr>
            <p:nvPr/>
          </p:nvSpPr>
          <p:spPr>
            <a:xfrm>
              <a:off x="6361236" y="1634834"/>
              <a:ext cx="11655185" cy="839116"/>
            </a:xfrm>
            <a:prstGeom prst="rect">
              <a:avLst/>
            </a:prstGeom>
          </p:spPr>
          <p:txBody>
            <a:bodyPr vert="horz" lIns="217490" tIns="108745" rIns="217490" bIns="108745" rtlCol="0">
              <a:norm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Open Sans"/>
                <a:buNone/>
                <a:defRPr sz="2400" kern="1200">
                  <a:solidFill>
                    <a:schemeClr val="tx2"/>
                  </a:solidFill>
                  <a:latin typeface="Open Sans"/>
                  <a:ea typeface="+mn-ea"/>
                  <a:cs typeface="Open Sans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ru-RU" sz="3100" b="1" dirty="0">
                  <a:solidFill>
                    <a:schemeClr val="bg1">
                      <a:lumMod val="65000"/>
                    </a:schemeClr>
                  </a:solidFill>
                  <a:latin typeface="PF DinDisplay Pro" panose="02000506030000020004" pitchFamily="2" charset="0"/>
                  <a:cs typeface="Open Sans"/>
                </a:rPr>
                <a:t>Кластеризация упоминаний</a:t>
              </a:r>
              <a:endParaRPr lang="ru-RU" sz="3100" dirty="0">
                <a:solidFill>
                  <a:schemeClr val="bg1">
                    <a:lumMod val="65000"/>
                  </a:schemeClr>
                </a:solidFill>
                <a:latin typeface="PF DinDisplay Pro" panose="02000506030000020004" pitchFamily="2" charset="0"/>
                <a:cs typeface="Open Sans"/>
              </a:endParaRPr>
            </a:p>
          </p:txBody>
        </p:sp>
      </p:grpSp>
      <p:sp>
        <p:nvSpPr>
          <p:cNvPr id="17" name="Content Placeholder 2">
            <a:extLst>
              <a:ext uri="{FF2B5EF4-FFF2-40B4-BE49-F238E27FC236}">
                <a16:creationId xmlns="" xmlns:a16="http://schemas.microsoft.com/office/drawing/2014/main" id="{655D268E-C67B-41FF-BCDC-1144DBA9811B}"/>
              </a:ext>
            </a:extLst>
          </p:cNvPr>
          <p:cNvSpPr txBox="1">
            <a:spLocks/>
          </p:cNvSpPr>
          <p:nvPr/>
        </p:nvSpPr>
        <p:spPr bwMode="auto">
          <a:xfrm>
            <a:off x="10578546" y="13259226"/>
            <a:ext cx="3282370" cy="490431"/>
          </a:xfrm>
          <a:prstGeom prst="rect">
            <a:avLst/>
          </a:prstGeom>
        </p:spPr>
        <p:txBody>
          <a:bodyPr wrap="square" lIns="182843" tIns="91422" rIns="182843" bIns="91422" numCol="1" anchor="t" anchorCtr="0" compatLnSpc="1">
            <a:prstTxWarp prst="textNoShape">
              <a:avLst/>
            </a:prstTxWarp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Open Sans"/>
                <a:cs typeface="Open Sans"/>
              </a:rPr>
              <a:t>wbooster.ru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BC4926CB-7CBD-4903-A77F-7C2EE5880A2C}"/>
              </a:ext>
            </a:extLst>
          </p:cNvPr>
          <p:cNvSpPr txBox="1"/>
          <p:nvPr/>
        </p:nvSpPr>
        <p:spPr>
          <a:xfrm>
            <a:off x="2280506" y="2803412"/>
            <a:ext cx="19878449" cy="10064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u="sng" dirty="0">
                <a:solidFill>
                  <a:srgbClr val="000000"/>
                </a:solidFill>
                <a:latin typeface="PF DinDisplay Pro" panose="02000506030000020004" pitchFamily="2" charset="0"/>
              </a:rPr>
              <a:t>Для анализа сообщений были введены следующие теги:</a:t>
            </a:r>
          </a:p>
          <a:p>
            <a:pPr algn="just"/>
            <a:endParaRPr lang="ru-RU" sz="2400" b="1" dirty="0">
              <a:solidFill>
                <a:srgbClr val="000000"/>
              </a:solidFill>
              <a:latin typeface="PF DinDisplay Pro" panose="02000506030000020004" pitchFamily="2" charset="0"/>
            </a:endParaRPr>
          </a:p>
          <a:p>
            <a:pPr algn="just">
              <a:lnSpc>
                <a:spcPct val="200000"/>
              </a:lnSpc>
            </a:pPr>
            <a:r>
              <a:rPr lang="ru-RU" sz="2400" b="1" dirty="0">
                <a:solidFill>
                  <a:srgbClr val="000000"/>
                </a:solidFill>
                <a:latin typeface="PF DinDisplay Pro" panose="02000506030000020004" pitchFamily="2" charset="0"/>
              </a:rPr>
              <a:t>КП –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объявления о продаже  гибкой черепицы и репосты таких объявлений на личных страницах пользователей (в основном размещаются магазинами строительных материалов)</a:t>
            </a:r>
          </a:p>
          <a:p>
            <a:pPr algn="just">
              <a:lnSpc>
                <a:spcPct val="200000"/>
              </a:lnSpc>
            </a:pPr>
            <a:r>
              <a:rPr lang="ru-RU" sz="2400" b="1" dirty="0">
                <a:solidFill>
                  <a:srgbClr val="000000"/>
                </a:solidFill>
                <a:latin typeface="PF DinDisplay Pro" panose="02000506030000020004" pitchFamily="2" charset="0"/>
              </a:rPr>
              <a:t>Монтаж –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упоминания продуктов бренда и конкурентов специалистами по строительству и монтажу, в блогах строительной тематики. </a:t>
            </a:r>
          </a:p>
          <a:p>
            <a:pPr algn="just">
              <a:lnSpc>
                <a:spcPct val="200000"/>
              </a:lnSpc>
            </a:pPr>
            <a:r>
              <a:rPr lang="ru-RU" sz="2400" b="1" dirty="0">
                <a:solidFill>
                  <a:srgbClr val="000000"/>
                </a:solidFill>
                <a:latin typeface="PF DinDisplay Pro" panose="02000506030000020004" pitchFamily="2" charset="0"/>
              </a:rPr>
              <a:t>СоцС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 – публикации в сообществах бренда/конкурентов в социальных сетях.</a:t>
            </a:r>
          </a:p>
          <a:p>
            <a:pPr algn="just">
              <a:lnSpc>
                <a:spcPct val="200000"/>
              </a:lnSpc>
            </a:pPr>
            <a:r>
              <a:rPr lang="en-US" sz="2400" b="1" dirty="0">
                <a:solidFill>
                  <a:srgbClr val="000000"/>
                </a:solidFill>
                <a:latin typeface="PF DinDisplay Pro" panose="02000506030000020004" pitchFamily="2" charset="0"/>
              </a:rPr>
              <a:t>PR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 – упоминания в связи с участием бренда в общественных коммерческих или некоммерческих мероприятиях, конкурсах, рекламных активностях.</a:t>
            </a:r>
          </a:p>
          <a:p>
            <a:pPr algn="just">
              <a:lnSpc>
                <a:spcPct val="200000"/>
              </a:lnSpc>
            </a:pPr>
            <a:r>
              <a:rPr lang="ru-RU" sz="2400" b="1" dirty="0">
                <a:solidFill>
                  <a:srgbClr val="000000"/>
                </a:solidFill>
                <a:latin typeface="PF DinDisplay Pro" panose="02000506030000020004" pitchFamily="2" charset="0"/>
              </a:rPr>
              <a:t>Конкурс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– сообщения о розыгрыше, конкурсе.</a:t>
            </a:r>
          </a:p>
          <a:p>
            <a:pPr algn="just">
              <a:lnSpc>
                <a:spcPct val="200000"/>
              </a:lnSpc>
            </a:pPr>
            <a:r>
              <a:rPr lang="ru-RU" sz="2400" b="1" dirty="0">
                <a:solidFill>
                  <a:srgbClr val="000000"/>
                </a:solidFill>
                <a:latin typeface="PF DinDisplay Pro" panose="02000506030000020004" pitchFamily="2" charset="0"/>
              </a:rPr>
              <a:t>Дизайн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 – упоминания продукции бренда дизайнерами.</a:t>
            </a:r>
          </a:p>
          <a:p>
            <a:pPr algn="just">
              <a:lnSpc>
                <a:spcPct val="200000"/>
              </a:lnSpc>
            </a:pPr>
            <a:r>
              <a:rPr lang="ru-RU" sz="2400" b="1" dirty="0">
                <a:solidFill>
                  <a:srgbClr val="000000"/>
                </a:solidFill>
                <a:latin typeface="PF DinDisplay Pro" panose="02000506030000020004" pitchFamily="2" charset="0"/>
              </a:rPr>
              <a:t>Полезный контент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 – информационные посты и статьи. Контент отвечает на вопросы безопасности продуктов, способа их монтажа и т.п., даёт практические рекомендации по применению продуктов.</a:t>
            </a:r>
          </a:p>
          <a:p>
            <a:pPr algn="just">
              <a:lnSpc>
                <a:spcPct val="200000"/>
              </a:lnSpc>
            </a:pPr>
            <a:r>
              <a:rPr lang="ru-RU" sz="2400" b="1" dirty="0">
                <a:solidFill>
                  <a:srgbClr val="000000"/>
                </a:solidFill>
                <a:latin typeface="PF DinDisplay Pro" panose="02000506030000020004" pitchFamily="2" charset="0"/>
              </a:rPr>
              <a:t>Статья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 – статьи в интернет-СМИ с упоминанием брендов.</a:t>
            </a:r>
          </a:p>
          <a:p>
            <a:pPr algn="just">
              <a:lnSpc>
                <a:spcPct val="200000"/>
              </a:lnSpc>
            </a:pP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 </a:t>
            </a:r>
            <a:r>
              <a:rPr lang="ru-RU" sz="2400" b="1" dirty="0">
                <a:solidFill>
                  <a:srgbClr val="000000"/>
                </a:solidFill>
                <a:latin typeface="PF DinDisplay Pro" panose="02000506030000020004" pitchFamily="2" charset="0"/>
              </a:rPr>
              <a:t>ЗМК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 – обсуждения продукции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бренда и конкурентов на различных площадках (форумы, соцсети, комментарии к обзорам) – «здесь можно коммуницировать».</a:t>
            </a:r>
            <a:endParaRPr lang="ru-RU" sz="2400" dirty="0">
              <a:solidFill>
                <a:srgbClr val="000000"/>
              </a:solidFill>
              <a:latin typeface="PF DinDisplay Pro" panose="0200050603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3518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14:reveal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/>
          <p:cNvGrpSpPr/>
          <p:nvPr/>
        </p:nvGrpSpPr>
        <p:grpSpPr>
          <a:xfrm>
            <a:off x="493485" y="483017"/>
            <a:ext cx="23367999" cy="2079087"/>
            <a:chOff x="5312170" y="483017"/>
            <a:chExt cx="13796525" cy="2079087"/>
          </a:xfrm>
        </p:grpSpPr>
        <p:sp>
          <p:nvSpPr>
            <p:cNvPr id="33" name="TextBox 32"/>
            <p:cNvSpPr txBox="1"/>
            <p:nvPr/>
          </p:nvSpPr>
          <p:spPr>
            <a:xfrm>
              <a:off x="5312170" y="483017"/>
              <a:ext cx="13796525" cy="1323421"/>
            </a:xfrm>
            <a:prstGeom prst="rect">
              <a:avLst/>
            </a:prstGeom>
            <a:noFill/>
          </p:spPr>
          <p:txBody>
            <a:bodyPr wrap="square" lIns="91422" tIns="45711" rIns="91422" bIns="45711" rtlCol="0">
              <a:spAutoFit/>
            </a:bodyPr>
            <a:lstStyle/>
            <a:p>
              <a:pPr algn="ctr"/>
              <a:r>
                <a:rPr lang="ru-RU" sz="8000" b="1" dirty="0">
                  <a:solidFill>
                    <a:srgbClr val="000000"/>
                  </a:solidFill>
                  <a:latin typeface="PF DinDisplay Pro" panose="02000506030000020004" pitchFamily="2" charset="0"/>
                  <a:cs typeface="Open Sans"/>
                </a:rPr>
                <a:t>Мониторинг</a:t>
              </a:r>
              <a:endParaRPr lang="id-ID" sz="8000" b="1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1412311" y="2470667"/>
              <a:ext cx="1553038" cy="9143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339" tIns="45672" rIns="91339" bIns="45672" rtlCol="0" anchor="ctr"/>
            <a:lstStyle/>
            <a:p>
              <a:pPr algn="ctr"/>
              <a:endParaRPr lang="en-US" dirty="0">
                <a:solidFill>
                  <a:schemeClr val="accent2"/>
                </a:solidFill>
                <a:latin typeface="PF DinDisplay Pro" panose="02000506030000020004" pitchFamily="2" charset="0"/>
              </a:endParaRPr>
            </a:p>
          </p:txBody>
        </p:sp>
        <p:sp>
          <p:nvSpPr>
            <p:cNvPr id="35" name="Subtitle 2"/>
            <p:cNvSpPr txBox="1">
              <a:spLocks/>
            </p:cNvSpPr>
            <p:nvPr/>
          </p:nvSpPr>
          <p:spPr>
            <a:xfrm>
              <a:off x="6361236" y="1634834"/>
              <a:ext cx="11655185" cy="839116"/>
            </a:xfrm>
            <a:prstGeom prst="rect">
              <a:avLst/>
            </a:prstGeom>
          </p:spPr>
          <p:txBody>
            <a:bodyPr vert="horz" lIns="217490" tIns="108745" rIns="217490" bIns="108745" rtlCol="0">
              <a:norm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Open Sans"/>
                <a:buNone/>
                <a:defRPr sz="2400" kern="1200">
                  <a:solidFill>
                    <a:schemeClr val="tx2"/>
                  </a:solidFill>
                  <a:latin typeface="Open Sans"/>
                  <a:ea typeface="+mn-ea"/>
                  <a:cs typeface="Open Sans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31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endParaRPr>
            </a:p>
          </p:txBody>
        </p:sp>
      </p:grpSp>
      <p:sp>
        <p:nvSpPr>
          <p:cNvPr id="17" name="Content Placeholder 2">
            <a:extLst>
              <a:ext uri="{FF2B5EF4-FFF2-40B4-BE49-F238E27FC236}">
                <a16:creationId xmlns="" xmlns:a16="http://schemas.microsoft.com/office/drawing/2014/main" id="{655D268E-C67B-41FF-BCDC-1144DBA9811B}"/>
              </a:ext>
            </a:extLst>
          </p:cNvPr>
          <p:cNvSpPr txBox="1">
            <a:spLocks/>
          </p:cNvSpPr>
          <p:nvPr/>
        </p:nvSpPr>
        <p:spPr bwMode="auto">
          <a:xfrm>
            <a:off x="10578546" y="13259226"/>
            <a:ext cx="3282370" cy="490431"/>
          </a:xfrm>
          <a:prstGeom prst="rect">
            <a:avLst/>
          </a:prstGeom>
        </p:spPr>
        <p:txBody>
          <a:bodyPr wrap="square" lIns="182843" tIns="91422" rIns="182843" bIns="91422" numCol="1" anchor="t" anchorCtr="0" compatLnSpc="1">
            <a:prstTxWarp prst="textNoShape">
              <a:avLst/>
            </a:prstTxWarp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Open Sans"/>
                <a:cs typeface="Open Sans"/>
              </a:rPr>
              <a:t>wbooster.ru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="" xmlns:a16="http://schemas.microsoft.com/office/drawing/2014/main" id="{096E1E1C-42FD-4B10-AFAC-95EFF8947E27}"/>
              </a:ext>
            </a:extLst>
          </p:cNvPr>
          <p:cNvSpPr txBox="1">
            <a:spLocks/>
          </p:cNvSpPr>
          <p:nvPr/>
        </p:nvSpPr>
        <p:spPr>
          <a:xfrm>
            <a:off x="2366216" y="1596860"/>
            <a:ext cx="19741083" cy="839116"/>
          </a:xfrm>
          <a:prstGeom prst="rect">
            <a:avLst/>
          </a:prstGeom>
        </p:spPr>
        <p:txBody>
          <a:bodyPr vert="horz" lIns="217490" tIns="108745" rIns="217490" bIns="108745" rtlCol="0">
            <a:norm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Open Sans"/>
              <a:buNone/>
              <a:defRPr sz="240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100" b="1" dirty="0">
                <a:solidFill>
                  <a:schemeClr val="bg2">
                    <a:lumMod val="65000"/>
                  </a:schemeClr>
                </a:solidFill>
                <a:latin typeface="PF DinDisplay Pro" panose="02000506030000020004" pitchFamily="2" charset="0"/>
                <a:cs typeface="Open Sans"/>
              </a:rPr>
              <a:t>Динамика упоминаний: все бренды. </a:t>
            </a:r>
            <a:endParaRPr lang="ru-RU" sz="3100" dirty="0">
              <a:solidFill>
                <a:schemeClr val="bg2">
                  <a:lumMod val="65000"/>
                </a:schemeClr>
              </a:solidFill>
              <a:latin typeface="PF DinDisplay Pro" panose="02000506030000020004" pitchFamily="2" charset="0"/>
              <a:cs typeface="Open San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228C2BAC-8CEE-4B4B-A4DE-8490B91EF448}"/>
              </a:ext>
            </a:extLst>
          </p:cNvPr>
          <p:cNvSpPr txBox="1"/>
          <p:nvPr/>
        </p:nvSpPr>
        <p:spPr>
          <a:xfrm>
            <a:off x="2484749" y="9685270"/>
            <a:ext cx="20290584" cy="28341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В ходе исследования за период с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01.07.2026  по  31.07.2026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г </a:t>
            </a:r>
            <a:r>
              <a:rPr lang="ru-RU" sz="2400" b="1" dirty="0">
                <a:solidFill>
                  <a:srgbClr val="000000"/>
                </a:solidFill>
                <a:latin typeface="PF DinDisplay Pro" panose="02000506030000020004" pitchFamily="2" charset="0"/>
              </a:rPr>
              <a:t>было собрано  </a:t>
            </a:r>
            <a:r>
              <a:rPr lang="ru-RU" sz="2400" b="1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1027 упоминаний </a:t>
            </a:r>
            <a:r>
              <a:rPr lang="ru-RU" sz="2400" b="1" dirty="0">
                <a:solidFill>
                  <a:srgbClr val="000000"/>
                </a:solidFill>
                <a:latin typeface="PF DinDisplay Pro" panose="02000506030000020004" pitchFamily="2" charset="0"/>
              </a:rPr>
              <a:t>всех брендов из темы </a:t>
            </a:r>
            <a:r>
              <a:rPr lang="ru-RU" sz="2400" b="1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мониторинга ( в июне – 1001).</a:t>
            </a:r>
          </a:p>
          <a:p>
            <a:pPr algn="just">
              <a:lnSpc>
                <a:spcPct val="200000"/>
              </a:lnSpc>
            </a:pP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Максимальное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количество упоминаний за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 сутки – 62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,  минимальное количество –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13</a:t>
            </a:r>
          </a:p>
          <a:p>
            <a:pPr algn="just">
              <a:lnSpc>
                <a:spcPct val="200000"/>
              </a:lnSpc>
            </a:pP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Среднее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число упоминаний за сутки –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33</a:t>
            </a:r>
            <a:endParaRPr lang="ru-RU" sz="2400" dirty="0">
              <a:solidFill>
                <a:srgbClr val="000000"/>
              </a:solidFill>
              <a:latin typeface="PF DinDisplay Pro" panose="02000506030000020004" pitchFamily="2" charset="0"/>
            </a:endParaRPr>
          </a:p>
          <a:p>
            <a:pPr algn="just">
              <a:lnSpc>
                <a:spcPts val="4100"/>
              </a:lnSpc>
            </a:pPr>
            <a:endParaRPr lang="ru-RU" sz="2400" dirty="0">
              <a:solidFill>
                <a:srgbClr val="000000"/>
              </a:solidFill>
              <a:latin typeface="PF DinDisplay Pro" panose="02000506030000020004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D1F00659-F8D6-4FA2-B515-6668D36FA925}"/>
              </a:ext>
            </a:extLst>
          </p:cNvPr>
          <p:cNvSpPr txBox="1"/>
          <p:nvPr/>
        </p:nvSpPr>
        <p:spPr>
          <a:xfrm>
            <a:off x="2691846" y="2828622"/>
            <a:ext cx="15773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.</a:t>
            </a:r>
          </a:p>
          <a:p>
            <a:endParaRPr lang="ru-RU" sz="2400" dirty="0">
              <a:latin typeface="PF DinDisplay Pro Light" panose="02000506000000020004" pitchFamily="2" charset="0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1163" y="2981323"/>
            <a:ext cx="20009159" cy="6472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66565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14:reveal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/>
          <p:cNvGrpSpPr/>
          <p:nvPr/>
        </p:nvGrpSpPr>
        <p:grpSpPr>
          <a:xfrm>
            <a:off x="493485" y="483017"/>
            <a:ext cx="23367999" cy="2079087"/>
            <a:chOff x="5312170" y="483017"/>
            <a:chExt cx="13796525" cy="2079087"/>
          </a:xfrm>
        </p:grpSpPr>
        <p:sp>
          <p:nvSpPr>
            <p:cNvPr id="33" name="TextBox 32"/>
            <p:cNvSpPr txBox="1"/>
            <p:nvPr/>
          </p:nvSpPr>
          <p:spPr>
            <a:xfrm>
              <a:off x="5312170" y="483017"/>
              <a:ext cx="13796525" cy="1323421"/>
            </a:xfrm>
            <a:prstGeom prst="rect">
              <a:avLst/>
            </a:prstGeom>
            <a:noFill/>
          </p:spPr>
          <p:txBody>
            <a:bodyPr wrap="square" lIns="91422" tIns="45711" rIns="91422" bIns="45711" rtlCol="0">
              <a:spAutoFit/>
            </a:bodyPr>
            <a:lstStyle/>
            <a:p>
              <a:pPr algn="ctr"/>
              <a:r>
                <a:rPr lang="ru-RU" sz="8000" b="1" dirty="0">
                  <a:solidFill>
                    <a:srgbClr val="000000"/>
                  </a:solidFill>
                  <a:latin typeface="PF DinDisplay Pro" panose="02000506030000020004" pitchFamily="2" charset="0"/>
                  <a:cs typeface="Open Sans"/>
                </a:rPr>
                <a:t>Мониторинг</a:t>
              </a:r>
              <a:endParaRPr lang="id-ID" sz="8000" b="1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1412311" y="2470667"/>
              <a:ext cx="1553038" cy="9143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339" tIns="45672" rIns="91339" bIns="45672" rtlCol="0" anchor="ctr"/>
            <a:lstStyle/>
            <a:p>
              <a:pPr algn="ctr"/>
              <a:endParaRPr lang="en-US" dirty="0">
                <a:solidFill>
                  <a:schemeClr val="accent2"/>
                </a:solidFill>
                <a:latin typeface="PF DinDisplay Pro" panose="02000506030000020004" pitchFamily="2" charset="0"/>
              </a:endParaRPr>
            </a:p>
          </p:txBody>
        </p:sp>
        <p:sp>
          <p:nvSpPr>
            <p:cNvPr id="35" name="Subtitle 2"/>
            <p:cNvSpPr txBox="1">
              <a:spLocks/>
            </p:cNvSpPr>
            <p:nvPr/>
          </p:nvSpPr>
          <p:spPr>
            <a:xfrm>
              <a:off x="6361236" y="1634834"/>
              <a:ext cx="11655185" cy="839116"/>
            </a:xfrm>
            <a:prstGeom prst="rect">
              <a:avLst/>
            </a:prstGeom>
          </p:spPr>
          <p:txBody>
            <a:bodyPr vert="horz" lIns="217490" tIns="108745" rIns="217490" bIns="108745" rtlCol="0">
              <a:norm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Open Sans"/>
                <a:buNone/>
                <a:defRPr sz="2400" kern="1200">
                  <a:solidFill>
                    <a:schemeClr val="tx2"/>
                  </a:solidFill>
                  <a:latin typeface="Open Sans"/>
                  <a:ea typeface="+mn-ea"/>
                  <a:cs typeface="Open Sans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31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endParaRPr>
            </a:p>
          </p:txBody>
        </p:sp>
      </p:grpSp>
      <p:sp>
        <p:nvSpPr>
          <p:cNvPr id="17" name="Content Placeholder 2">
            <a:extLst>
              <a:ext uri="{FF2B5EF4-FFF2-40B4-BE49-F238E27FC236}">
                <a16:creationId xmlns="" xmlns:a16="http://schemas.microsoft.com/office/drawing/2014/main" id="{655D268E-C67B-41FF-BCDC-1144DBA9811B}"/>
              </a:ext>
            </a:extLst>
          </p:cNvPr>
          <p:cNvSpPr txBox="1">
            <a:spLocks/>
          </p:cNvSpPr>
          <p:nvPr/>
        </p:nvSpPr>
        <p:spPr bwMode="auto">
          <a:xfrm>
            <a:off x="10578546" y="13259226"/>
            <a:ext cx="3282370" cy="490431"/>
          </a:xfrm>
          <a:prstGeom prst="rect">
            <a:avLst/>
          </a:prstGeom>
        </p:spPr>
        <p:txBody>
          <a:bodyPr wrap="square" lIns="182843" tIns="91422" rIns="182843" bIns="91422" numCol="1" anchor="t" anchorCtr="0" compatLnSpc="1">
            <a:prstTxWarp prst="textNoShape">
              <a:avLst/>
            </a:prstTxWarp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Open Sans"/>
                <a:cs typeface="Open Sans"/>
              </a:rPr>
              <a:t>wbooster.ru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="" xmlns:a16="http://schemas.microsoft.com/office/drawing/2014/main" id="{096E1E1C-42FD-4B10-AFAC-95EFF8947E27}"/>
              </a:ext>
            </a:extLst>
          </p:cNvPr>
          <p:cNvSpPr txBox="1">
            <a:spLocks/>
          </p:cNvSpPr>
          <p:nvPr/>
        </p:nvSpPr>
        <p:spPr>
          <a:xfrm>
            <a:off x="2366216" y="1596860"/>
            <a:ext cx="19741083" cy="839116"/>
          </a:xfrm>
          <a:prstGeom prst="rect">
            <a:avLst/>
          </a:prstGeom>
        </p:spPr>
        <p:txBody>
          <a:bodyPr vert="horz" lIns="217490" tIns="108745" rIns="217490" bIns="108745" rtlCol="0">
            <a:norm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Open Sans"/>
              <a:buNone/>
              <a:defRPr sz="240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100" b="1" dirty="0">
                <a:solidFill>
                  <a:schemeClr val="bg2">
                    <a:lumMod val="65000"/>
                  </a:schemeClr>
                </a:solidFill>
                <a:latin typeface="PF DinDisplay Pro" panose="02000506030000020004" pitchFamily="2" charset="0"/>
                <a:cs typeface="Open Sans"/>
              </a:rPr>
              <a:t>Динамика упоминаний: </a:t>
            </a:r>
            <a:r>
              <a:rPr lang="en-US" sz="3100" b="1" dirty="0">
                <a:solidFill>
                  <a:schemeClr val="bg2">
                    <a:lumMod val="65000"/>
                  </a:schemeClr>
                </a:solidFill>
                <a:latin typeface="PF DinDisplay Pro" panose="02000506030000020004" pitchFamily="2" charset="0"/>
                <a:cs typeface="Open Sans"/>
              </a:rPr>
              <a:t>RUFLEX</a:t>
            </a:r>
            <a:endParaRPr lang="ru-RU" sz="3100" dirty="0">
              <a:solidFill>
                <a:schemeClr val="bg2">
                  <a:lumMod val="65000"/>
                </a:schemeClr>
              </a:solidFill>
              <a:latin typeface="PF DinDisplay Pro" panose="02000506030000020004" pitchFamily="2" charset="0"/>
              <a:cs typeface="Open San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228C2BAC-8CEE-4B4B-A4DE-8490B91EF448}"/>
              </a:ext>
            </a:extLst>
          </p:cNvPr>
          <p:cNvSpPr txBox="1"/>
          <p:nvPr/>
        </p:nvSpPr>
        <p:spPr>
          <a:xfrm>
            <a:off x="2270351" y="10089986"/>
            <a:ext cx="2146783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В ходе исследования за период с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01.07.2026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по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31.07.2026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г </a:t>
            </a:r>
            <a:r>
              <a:rPr lang="ru-RU" sz="2400" b="1" dirty="0">
                <a:solidFill>
                  <a:srgbClr val="000000"/>
                </a:solidFill>
                <a:latin typeface="PF DinDisplay Pro" panose="02000506030000020004" pitchFamily="2" charset="0"/>
              </a:rPr>
              <a:t>было собрано </a:t>
            </a:r>
            <a:r>
              <a:rPr lang="ru-RU" sz="2400" b="1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80 упоминаний </a:t>
            </a:r>
            <a:r>
              <a:rPr lang="en-US" sz="2400" b="1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RUFLEX</a:t>
            </a:r>
            <a:r>
              <a:rPr lang="ru-RU" sz="2400" b="1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 (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в июне – 116 ).</a:t>
            </a:r>
            <a:endParaRPr lang="ru-RU" sz="2400" dirty="0">
              <a:solidFill>
                <a:srgbClr val="000000"/>
              </a:solidFill>
              <a:latin typeface="PF DinDisplay Pro" panose="02000506030000020004" pitchFamily="2" charset="0"/>
            </a:endParaRPr>
          </a:p>
          <a:p>
            <a:pPr algn="just">
              <a:lnSpc>
                <a:spcPct val="200000"/>
              </a:lnSpc>
            </a:pP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Максимальное число упоминаний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 в день – 11,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минимальное число – </a:t>
            </a:r>
            <a:r>
              <a:rPr lang="ru-RU" sz="2400" b="1" dirty="0">
                <a:solidFill>
                  <a:srgbClr val="000000"/>
                </a:solidFill>
                <a:latin typeface="PF DinDisplay Pro" panose="02000506030000020004" pitchFamily="2" charset="0"/>
              </a:rPr>
              <a:t>0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. Среднее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число упоминаний за сутки –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3</a:t>
            </a:r>
            <a:endParaRPr lang="ru-RU" sz="2400" b="1" dirty="0" smtClean="0">
              <a:solidFill>
                <a:srgbClr val="000000"/>
              </a:solidFill>
              <a:latin typeface="PF DinDisplay Pro" panose="02000506030000020004" pitchFamily="2" charset="0"/>
            </a:endParaRPr>
          </a:p>
          <a:p>
            <a:pPr algn="just">
              <a:lnSpc>
                <a:spcPct val="200000"/>
              </a:lnSpc>
            </a:pPr>
            <a:r>
              <a:rPr lang="ru-RU" sz="2400" b="1" u="sng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Рекомендация</a:t>
            </a:r>
            <a:r>
              <a:rPr lang="ru-RU" sz="2400" b="1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: необходимо увеличение ежедневного числа упоминаний бренда </a:t>
            </a:r>
            <a:r>
              <a:rPr lang="en-US" sz="2400" b="1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RUFLEX</a:t>
            </a:r>
            <a:r>
              <a:rPr lang="ru-RU" sz="2400" b="1" dirty="0">
                <a:solidFill>
                  <a:srgbClr val="000000"/>
                </a:solidFill>
                <a:latin typeface="PF DinDisplay Pro" panose="02000506030000020004" pitchFamily="2" charset="0"/>
              </a:rPr>
              <a:t> </a:t>
            </a:r>
            <a:r>
              <a:rPr lang="ru-RU" sz="2400" b="1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в сети Интернет.</a:t>
            </a:r>
            <a:endParaRPr lang="ru-RU" sz="2400" dirty="0">
              <a:solidFill>
                <a:srgbClr val="000000"/>
              </a:solidFill>
              <a:latin typeface="PF DinDisplay Pro" panose="02000506030000020004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D1F00659-F8D6-4FA2-B515-6668D36FA925}"/>
              </a:ext>
            </a:extLst>
          </p:cNvPr>
          <p:cNvSpPr txBox="1"/>
          <p:nvPr/>
        </p:nvSpPr>
        <p:spPr>
          <a:xfrm>
            <a:off x="2691846" y="2828622"/>
            <a:ext cx="15773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.</a:t>
            </a:r>
          </a:p>
          <a:p>
            <a:endParaRPr lang="ru-RU" sz="2400" dirty="0">
              <a:latin typeface="PF DinDisplay Pro Light" panose="02000506000000020004" pitchFamily="2" charset="0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1845" y="2828622"/>
            <a:ext cx="19373505" cy="71154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48959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14:reveal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/>
          <p:cNvGrpSpPr/>
          <p:nvPr/>
        </p:nvGrpSpPr>
        <p:grpSpPr>
          <a:xfrm>
            <a:off x="493485" y="483017"/>
            <a:ext cx="23367999" cy="2079087"/>
            <a:chOff x="5312170" y="483017"/>
            <a:chExt cx="13796525" cy="2079087"/>
          </a:xfrm>
        </p:grpSpPr>
        <p:sp>
          <p:nvSpPr>
            <p:cNvPr id="33" name="TextBox 32"/>
            <p:cNvSpPr txBox="1"/>
            <p:nvPr/>
          </p:nvSpPr>
          <p:spPr>
            <a:xfrm>
              <a:off x="5312170" y="483017"/>
              <a:ext cx="13796525" cy="1323421"/>
            </a:xfrm>
            <a:prstGeom prst="rect">
              <a:avLst/>
            </a:prstGeom>
            <a:noFill/>
          </p:spPr>
          <p:txBody>
            <a:bodyPr wrap="square" lIns="91422" tIns="45711" rIns="91422" bIns="45711" rtlCol="0">
              <a:spAutoFit/>
            </a:bodyPr>
            <a:lstStyle/>
            <a:p>
              <a:pPr algn="ctr"/>
              <a:r>
                <a:rPr lang="ru-RU" sz="8000" b="1" dirty="0">
                  <a:solidFill>
                    <a:srgbClr val="000000"/>
                  </a:solidFill>
                  <a:latin typeface="PF DinDisplay Pro" panose="02000506030000020004" pitchFamily="2" charset="0"/>
                  <a:cs typeface="Open Sans"/>
                </a:rPr>
                <a:t>Мониторинг</a:t>
              </a:r>
              <a:endParaRPr lang="id-ID" sz="8000" b="1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1412311" y="2470667"/>
              <a:ext cx="1553038" cy="9143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339" tIns="45672" rIns="91339" bIns="45672" rtlCol="0" anchor="ctr"/>
            <a:lstStyle/>
            <a:p>
              <a:pPr algn="ctr"/>
              <a:endParaRPr lang="en-US" dirty="0">
                <a:solidFill>
                  <a:schemeClr val="accent2"/>
                </a:solidFill>
                <a:latin typeface="PF DinDisplay Pro" panose="02000506030000020004" pitchFamily="2" charset="0"/>
              </a:endParaRPr>
            </a:p>
          </p:txBody>
        </p:sp>
        <p:sp>
          <p:nvSpPr>
            <p:cNvPr id="35" name="Subtitle 2"/>
            <p:cNvSpPr txBox="1">
              <a:spLocks/>
            </p:cNvSpPr>
            <p:nvPr/>
          </p:nvSpPr>
          <p:spPr>
            <a:xfrm>
              <a:off x="6361236" y="1634834"/>
              <a:ext cx="11655185" cy="839116"/>
            </a:xfrm>
            <a:prstGeom prst="rect">
              <a:avLst/>
            </a:prstGeom>
          </p:spPr>
          <p:txBody>
            <a:bodyPr vert="horz" lIns="217490" tIns="108745" rIns="217490" bIns="108745" rtlCol="0">
              <a:norm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Open Sans"/>
                <a:buNone/>
                <a:defRPr sz="2400" kern="1200">
                  <a:solidFill>
                    <a:schemeClr val="tx2"/>
                  </a:solidFill>
                  <a:latin typeface="Open Sans"/>
                  <a:ea typeface="+mn-ea"/>
                  <a:cs typeface="Open Sans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31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endParaRPr>
            </a:p>
          </p:txBody>
        </p:sp>
      </p:grpSp>
      <p:sp>
        <p:nvSpPr>
          <p:cNvPr id="17" name="Content Placeholder 2">
            <a:extLst>
              <a:ext uri="{FF2B5EF4-FFF2-40B4-BE49-F238E27FC236}">
                <a16:creationId xmlns="" xmlns:a16="http://schemas.microsoft.com/office/drawing/2014/main" id="{655D268E-C67B-41FF-BCDC-1144DBA9811B}"/>
              </a:ext>
            </a:extLst>
          </p:cNvPr>
          <p:cNvSpPr txBox="1">
            <a:spLocks/>
          </p:cNvSpPr>
          <p:nvPr/>
        </p:nvSpPr>
        <p:spPr bwMode="auto">
          <a:xfrm>
            <a:off x="10578546" y="13259226"/>
            <a:ext cx="3282370" cy="490431"/>
          </a:xfrm>
          <a:prstGeom prst="rect">
            <a:avLst/>
          </a:prstGeom>
        </p:spPr>
        <p:txBody>
          <a:bodyPr wrap="square" lIns="182843" tIns="91422" rIns="182843" bIns="91422" numCol="1" anchor="t" anchorCtr="0" compatLnSpc="1">
            <a:prstTxWarp prst="textNoShape">
              <a:avLst/>
            </a:prstTxWarp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Open Sans"/>
                <a:cs typeface="Open Sans"/>
              </a:rPr>
              <a:t>wbooster.ru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="" xmlns:a16="http://schemas.microsoft.com/office/drawing/2014/main" id="{096E1E1C-42FD-4B10-AFAC-95EFF8947E27}"/>
              </a:ext>
            </a:extLst>
          </p:cNvPr>
          <p:cNvSpPr txBox="1">
            <a:spLocks/>
          </p:cNvSpPr>
          <p:nvPr/>
        </p:nvSpPr>
        <p:spPr>
          <a:xfrm>
            <a:off x="2366216" y="1596860"/>
            <a:ext cx="19741083" cy="839116"/>
          </a:xfrm>
          <a:prstGeom prst="rect">
            <a:avLst/>
          </a:prstGeom>
        </p:spPr>
        <p:txBody>
          <a:bodyPr vert="horz" lIns="217490" tIns="108745" rIns="217490" bIns="108745" rtlCol="0">
            <a:norm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Open Sans"/>
              <a:buNone/>
              <a:defRPr sz="240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100" b="1" dirty="0">
                <a:solidFill>
                  <a:schemeClr val="bg2">
                    <a:lumMod val="65000"/>
                  </a:schemeClr>
                </a:solidFill>
                <a:latin typeface="PF DinDisplay Pro" panose="02000506030000020004" pitchFamily="2" charset="0"/>
                <a:cs typeface="Open Sans"/>
              </a:rPr>
              <a:t>Динамика упоминаний</a:t>
            </a:r>
            <a:endParaRPr lang="ru-RU" sz="3100" dirty="0">
              <a:solidFill>
                <a:schemeClr val="bg2">
                  <a:lumMod val="65000"/>
                </a:schemeClr>
              </a:solidFill>
              <a:latin typeface="PF DinDisplay Pro" panose="02000506030000020004" pitchFamily="2" charset="0"/>
              <a:cs typeface="Open Sans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943099" y="2815530"/>
            <a:ext cx="20959301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u="sng" dirty="0">
                <a:solidFill>
                  <a:srgbClr val="000000"/>
                </a:solidFill>
                <a:latin typeface="PF DinDisplay Pro" panose="02000506030000020004" pitchFamily="2" charset="0"/>
              </a:rPr>
              <a:t>По количеству упоминаний </a:t>
            </a:r>
            <a:r>
              <a:rPr lang="ru-RU" sz="2400" u="sng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лидером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является 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Docke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– 453 упоминания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или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47%,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на втором месте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– 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Tegola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 –  351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упоминание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или 36%, на третьем – 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RUFLEX –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80  упоминаний  или 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8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%.</a:t>
            </a:r>
          </a:p>
          <a:p>
            <a:pPr algn="just">
              <a:lnSpc>
                <a:spcPct val="150000"/>
              </a:lnSpc>
            </a:pPr>
            <a:r>
              <a:rPr lang="ru-RU" sz="2400" u="sng" dirty="0">
                <a:solidFill>
                  <a:srgbClr val="000000"/>
                </a:solidFill>
                <a:latin typeface="PF DinDisplay Pro" panose="02000506030000020004" pitchFamily="2" charset="0"/>
              </a:rPr>
              <a:t>По сравнению с </a:t>
            </a:r>
            <a:r>
              <a:rPr lang="ru-RU" sz="2400" u="sng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июнем  доля </a:t>
            </a:r>
            <a:r>
              <a:rPr lang="ru-RU" sz="2400" u="sng" dirty="0">
                <a:solidFill>
                  <a:srgbClr val="000000"/>
                </a:solidFill>
                <a:latin typeface="PF DinDisplay Pro" panose="02000506030000020004" pitchFamily="2" charset="0"/>
              </a:rPr>
              <a:t>упоминаний </a:t>
            </a:r>
            <a:r>
              <a:rPr lang="ru-RU" sz="2400" u="sng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 среди указанных конкурентов у </a:t>
            </a:r>
            <a:r>
              <a:rPr lang="en-US" sz="2400" u="sng" dirty="0">
                <a:solidFill>
                  <a:srgbClr val="000000"/>
                </a:solidFill>
                <a:latin typeface="PF DinDisplay Pro" panose="02000506030000020004" pitchFamily="2" charset="0"/>
              </a:rPr>
              <a:t>RUFLEX </a:t>
            </a:r>
            <a:r>
              <a:rPr lang="ru-RU" sz="2400" u="sng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 снизилась на </a:t>
            </a:r>
            <a:r>
              <a:rPr lang="ru-RU" sz="2400" u="sng" dirty="0">
                <a:solidFill>
                  <a:srgbClr val="000000"/>
                </a:solidFill>
                <a:latin typeface="PF DinDisplay Pro" panose="02000506030000020004" pitchFamily="2" charset="0"/>
              </a:rPr>
              <a:t>5</a:t>
            </a:r>
            <a:r>
              <a:rPr lang="ru-RU" sz="2400" u="sng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% - с 14 до 8% </a:t>
            </a:r>
          </a:p>
          <a:p>
            <a:pPr algn="just">
              <a:lnSpc>
                <a:spcPct val="150000"/>
              </a:lnSpc>
            </a:pPr>
            <a:r>
              <a:rPr lang="ru-RU" sz="2400" u="sng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По сравнению с июлем  2025г  число упоминаний </a:t>
            </a:r>
            <a:r>
              <a:rPr lang="en-US" sz="2400" u="sng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RUFLEX </a:t>
            </a:r>
            <a:r>
              <a:rPr lang="ru-RU" sz="2400" u="sng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 меньше на 34%.</a:t>
            </a:r>
            <a:endParaRPr lang="ru-RU" sz="2400" u="sng" dirty="0">
              <a:solidFill>
                <a:srgbClr val="000000"/>
              </a:solidFill>
              <a:latin typeface="PF DinDisplay Pro" panose="02000506030000020004" pitchFamily="2" charset="0"/>
            </a:endParaRPr>
          </a:p>
          <a:p>
            <a:pPr algn="just"/>
            <a:endParaRPr lang="ru-RU" sz="2400" dirty="0" smtClean="0">
              <a:solidFill>
                <a:srgbClr val="000000"/>
              </a:solidFill>
              <a:latin typeface="PF DinDisplay Pro" panose="02000506030000020004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 err="1" smtClean="0">
                <a:solidFill>
                  <a:srgbClr val="000000"/>
                </a:solidFill>
                <a:latin typeface="PF DinDisplay Pro" panose="02000506030000020004" pitchFamily="2" charset="0"/>
              </a:rPr>
              <a:t>Roofshield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  – на 4 месте – 5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%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(53 упоминания).</a:t>
            </a:r>
            <a:endParaRPr lang="en-US" sz="2400" dirty="0">
              <a:solidFill>
                <a:srgbClr val="000000"/>
              </a:solidFill>
              <a:latin typeface="PF DinDisplay Pro" panose="02000506030000020004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Минимальное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число упоминаний у 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Quiet 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Tile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– 11 и </a:t>
            </a:r>
            <a:r>
              <a:rPr lang="en-US" sz="2400" dirty="0" err="1" smtClean="0">
                <a:solidFill>
                  <a:srgbClr val="000000"/>
                </a:solidFill>
                <a:latin typeface="PF DinDisplay Pro" panose="02000506030000020004" pitchFamily="2" charset="0"/>
              </a:rPr>
              <a:t>Faracs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– 17.</a:t>
            </a:r>
            <a:endParaRPr lang="ru-RU" sz="2400" dirty="0">
              <a:solidFill>
                <a:srgbClr val="000000"/>
              </a:solidFill>
              <a:latin typeface="PF DinDisplay Pro" panose="02000506030000020004" pitchFamily="2" charset="0"/>
            </a:endParaRP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1960029"/>
              </p:ext>
            </p:extLst>
          </p:nvPr>
        </p:nvGraphicFramePr>
        <p:xfrm>
          <a:off x="1763486" y="6773335"/>
          <a:ext cx="8815059" cy="505661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7029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8102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933802"/>
                <a:gridCol w="706397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848738"/>
                <a:gridCol w="1085159"/>
                <a:gridCol w="941571"/>
                <a:gridCol w="974039"/>
                <a:gridCol w="974039"/>
              </a:tblGrid>
              <a:tr h="883548">
                <a:tc rowSpan="2">
                  <a:txBody>
                    <a:bodyPr/>
                    <a:lstStyle/>
                    <a:p>
                      <a:pPr algn="ctr" fontAlgn="b"/>
                      <a:r>
                        <a:rPr lang="ru-RU" sz="2200" b="1" u="none" strike="noStrike" dirty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</a:rPr>
                        <a:t>Бренд</a:t>
                      </a:r>
                      <a:endParaRPr lang="ru-RU" sz="2200" b="1" i="0" u="none" strike="noStrike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7">
                  <a:txBody>
                    <a:bodyPr/>
                    <a:lstStyle/>
                    <a:p>
                      <a:pPr algn="ctr" fontAlgn="b"/>
                      <a:r>
                        <a:rPr lang="ru-RU" sz="2400" b="1" u="none" strike="noStrike" dirty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</a:rPr>
                        <a:t>Кол-во </a:t>
                      </a:r>
                      <a:r>
                        <a:rPr lang="ru-RU" sz="2400" b="1" u="none" strike="noStrike" dirty="0" smtClean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</a:rPr>
                        <a:t>упоминаний - динамика</a:t>
                      </a:r>
                      <a:endParaRPr lang="ru-RU" sz="2400" b="1" i="0" u="none" strike="noStrike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b"/>
                      <a:endParaRPr lang="ru-RU" sz="2400" b="1" i="0" u="none" strike="noStrike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ru-RU" sz="2400" b="1" i="0" u="none" strike="noStrike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ru-RU" sz="2400" b="1" i="0" u="none" strike="noStrike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ru-RU" sz="2400" b="1" i="0" u="none" strike="noStrike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400" b="1" i="0" u="none" strike="noStrike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8155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200" b="1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PF DinDisplay Pro" panose="02000506030000020004" pitchFamily="2" charset="0"/>
                        </a:rPr>
                        <a:t>Июль 25</a:t>
                      </a:r>
                      <a:endParaRPr lang="ru-RU" sz="2200" b="1" i="0" u="none" strike="noStrike" dirty="0">
                        <a:solidFill>
                          <a:srgbClr val="FF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828434" rtl="0" eaLnBrk="1" fontAlgn="b" latinLnBrk="0" hangingPunct="1"/>
                      <a:r>
                        <a:rPr lang="ru-RU" sz="2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  <a:ea typeface="+mn-ea"/>
                          <a:cs typeface="+mn-cs"/>
                        </a:rPr>
                        <a:t>Январь 26</a:t>
                      </a:r>
                      <a:endParaRPr lang="ru-RU" sz="2200" b="1" i="0" u="none" strike="noStrike" kern="1200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828434" rtl="0" eaLnBrk="1" fontAlgn="b" latinLnBrk="0" hangingPunct="1"/>
                      <a:r>
                        <a:rPr lang="ru-RU" sz="2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  <a:ea typeface="+mn-ea"/>
                          <a:cs typeface="+mn-cs"/>
                        </a:rPr>
                        <a:t>Фев. 26</a:t>
                      </a:r>
                      <a:endParaRPr lang="ru-RU" sz="2200" b="1" i="0" u="none" strike="noStrike" kern="1200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828434" rtl="0" eaLnBrk="1" fontAlgn="b" latinLnBrk="0" hangingPunct="1"/>
                      <a:r>
                        <a:rPr lang="ru-RU" sz="2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  <a:ea typeface="+mn-ea"/>
                          <a:cs typeface="+mn-cs"/>
                        </a:rPr>
                        <a:t>Март 26</a:t>
                      </a:r>
                      <a:endParaRPr lang="ru-RU" sz="2200" b="1" i="0" u="none" strike="noStrike" kern="1200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828434" rtl="0" eaLnBrk="1" fontAlgn="b" latinLnBrk="0" hangingPunct="1"/>
                      <a:r>
                        <a:rPr lang="ru-RU" sz="2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  <a:ea typeface="+mn-ea"/>
                          <a:cs typeface="+mn-cs"/>
                        </a:rPr>
                        <a:t>Апрель 26</a:t>
                      </a:r>
                      <a:endParaRPr lang="ru-RU" sz="2200" b="1" i="0" u="none" strike="noStrike" kern="1200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828434" rtl="0" eaLnBrk="1" fontAlgn="b" latinLnBrk="0" hangingPunct="1"/>
                      <a:r>
                        <a:rPr lang="ru-RU" sz="2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  <a:ea typeface="+mn-ea"/>
                          <a:cs typeface="+mn-cs"/>
                        </a:rPr>
                        <a:t>Май 26</a:t>
                      </a:r>
                      <a:endParaRPr lang="ru-RU" sz="2200" b="1" i="0" u="none" strike="noStrike" kern="1200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828434" rtl="0" eaLnBrk="1" fontAlgn="b" latinLnBrk="0" hangingPunct="1"/>
                      <a:r>
                        <a:rPr lang="ru-RU" sz="2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  <a:ea typeface="+mn-ea"/>
                          <a:cs typeface="+mn-cs"/>
                        </a:rPr>
                        <a:t>Июнь 26</a:t>
                      </a:r>
                      <a:endParaRPr lang="ru-RU" sz="2200" b="1" i="0" u="none" strike="noStrike" kern="1200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828434" rtl="0" eaLnBrk="1" fontAlgn="b" latinLnBrk="0" hangingPunct="1"/>
                      <a:r>
                        <a:rPr lang="ru-RU" sz="22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  <a:ea typeface="+mn-ea"/>
                          <a:cs typeface="+mn-cs"/>
                        </a:rPr>
                        <a:t>Июль 26</a:t>
                      </a:r>
                      <a:endParaRPr lang="ru-RU" sz="2200" b="1" i="0" u="none" strike="noStrike" kern="1200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638877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solidFill>
                            <a:srgbClr val="FF0000"/>
                          </a:solidFill>
                          <a:effectLst/>
                          <a:latin typeface="PF DinDisplay Pro" panose="02000506030000020004" pitchFamily="2" charset="0"/>
                        </a:rPr>
                        <a:t>RUFLEX</a:t>
                      </a:r>
                      <a:endParaRPr lang="en-US" sz="2400" b="0" i="0" u="none" strike="noStrike" dirty="0">
                        <a:solidFill>
                          <a:srgbClr val="FF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0" i="0" u="none" strike="noStrike" dirty="0">
                          <a:solidFill>
                            <a:srgbClr val="FF0000"/>
                          </a:solidFill>
                          <a:effectLst/>
                          <a:latin typeface="PF DinDisplay Pro" panose="02000506030000020004" pitchFamily="2" charset="0"/>
                        </a:rPr>
                        <a:t>121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0" i="0" u="none" strike="noStrike" dirty="0">
                          <a:solidFill>
                            <a:srgbClr val="FF0000"/>
                          </a:solidFill>
                          <a:effectLst/>
                          <a:latin typeface="PF DinDisplay Pro" panose="02000506030000020004" pitchFamily="2" charset="0"/>
                        </a:rPr>
                        <a:t>76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828434" rtl="0" eaLnBrk="1" fontAlgn="b" latinLnBrk="0" hangingPunct="1"/>
                      <a:r>
                        <a:rPr lang="ru-RU" sz="24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PF DinDisplay Pro" panose="02000506030000020004" pitchFamily="2" charset="0"/>
                          <a:ea typeface="+mn-ea"/>
                          <a:cs typeface="+mn-cs"/>
                        </a:rPr>
                        <a:t>118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828434" rtl="0" eaLnBrk="1" fontAlgn="b" latinLnBrk="0" hangingPunct="1"/>
                      <a:r>
                        <a:rPr lang="ru-RU" sz="24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PF DinDisplay Pro" panose="02000506030000020004" pitchFamily="2" charset="0"/>
                          <a:ea typeface="+mn-ea"/>
                          <a:cs typeface="+mn-cs"/>
                        </a:rPr>
                        <a:t>103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828434" rtl="0" eaLnBrk="1" fontAlgn="b" latinLnBrk="0" hangingPunct="1"/>
                      <a:r>
                        <a:rPr lang="ru-RU" sz="24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PF DinDisplay Pro" panose="02000506030000020004" pitchFamily="2" charset="0"/>
                          <a:ea typeface="+mn-ea"/>
                          <a:cs typeface="+mn-cs"/>
                        </a:rPr>
                        <a:t>115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PF DinDisplay Pro" panose="02000506030000020004" pitchFamily="2" charset="0"/>
                        </a:rPr>
                        <a:t>76</a:t>
                      </a:r>
                      <a:endParaRPr lang="ru-RU" sz="2400" b="0" i="0" u="none" strike="noStrike" dirty="0">
                        <a:solidFill>
                          <a:srgbClr val="FF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828434" rtl="0" eaLnBrk="1" fontAlgn="b" latinLnBrk="0" hangingPunct="1"/>
                      <a:r>
                        <a:rPr lang="ru-RU" sz="24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PF DinDisplay Pro" panose="02000506030000020004" pitchFamily="2" charset="0"/>
                          <a:ea typeface="+mn-ea"/>
                          <a:cs typeface="+mn-cs"/>
                        </a:rPr>
                        <a:t>116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0" i="0" u="none" strike="noStrike" dirty="0">
                          <a:solidFill>
                            <a:srgbClr val="FF0000"/>
                          </a:solidFill>
                          <a:effectLst/>
                          <a:latin typeface="PF DinDisplay Pro" panose="02000506030000020004" pitchFamily="2" charset="0"/>
                        </a:rPr>
                        <a:t>80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43722">
                <a:tc>
                  <a:txBody>
                    <a:bodyPr/>
                    <a:lstStyle/>
                    <a:p>
                      <a:pPr marL="0" algn="ctr" defTabSz="1828434" rtl="0" eaLnBrk="1" fontAlgn="b" latinLnBrk="0" hangingPunct="1"/>
                      <a:r>
                        <a:rPr lang="en-US" sz="2400" u="none" strike="noStrike" kern="1200" dirty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  <a:ea typeface="+mn-ea"/>
                          <a:cs typeface="+mn-cs"/>
                        </a:rPr>
                        <a:t>Docke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</a:rPr>
                        <a:t>399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</a:rPr>
                        <a:t>188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828434" rtl="0" eaLnBrk="1" fontAlgn="b" latinLnBrk="0" hangingPunct="1"/>
                      <a:r>
                        <a:rPr lang="ru-RU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  <a:ea typeface="+mn-ea"/>
                          <a:cs typeface="+mn-cs"/>
                        </a:rPr>
                        <a:t>302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828434" rtl="0" eaLnBrk="1" fontAlgn="b" latinLnBrk="0" hangingPunct="1"/>
                      <a:r>
                        <a:rPr lang="ru-RU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  <a:ea typeface="+mn-ea"/>
                          <a:cs typeface="+mn-cs"/>
                        </a:rPr>
                        <a:t>342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828434" rtl="0" eaLnBrk="1" fontAlgn="b" latinLnBrk="0" hangingPunct="1"/>
                      <a:r>
                        <a:rPr lang="ru-RU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  <a:ea typeface="+mn-ea"/>
                          <a:cs typeface="+mn-cs"/>
                        </a:rPr>
                        <a:t>438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</a:rPr>
                        <a:t>477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828434" rtl="0" eaLnBrk="1" fontAlgn="b" latinLnBrk="0" hangingPunct="1"/>
                      <a:r>
                        <a:rPr lang="ru-RU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  <a:ea typeface="+mn-ea"/>
                          <a:cs typeface="+mn-cs"/>
                        </a:rPr>
                        <a:t>409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</a:rPr>
                        <a:t>453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543722">
                <a:tc>
                  <a:txBody>
                    <a:bodyPr/>
                    <a:lstStyle/>
                    <a:p>
                      <a:pPr marL="0" algn="ctr" defTabSz="1828434" rtl="0" eaLnBrk="1" fontAlgn="b" latinLnBrk="0" hangingPunct="1"/>
                      <a:r>
                        <a:rPr lang="en-US" sz="2400" u="none" strike="noStrike" kern="1200" dirty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  <a:ea typeface="+mn-ea"/>
                          <a:cs typeface="+mn-cs"/>
                        </a:rPr>
                        <a:t>Tegola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</a:rPr>
                        <a:t>215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</a:rPr>
                        <a:t>119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828434" rtl="0" eaLnBrk="1" fontAlgn="b" latinLnBrk="0" hangingPunct="1"/>
                      <a:r>
                        <a:rPr lang="ru-RU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  <a:ea typeface="+mn-ea"/>
                          <a:cs typeface="+mn-cs"/>
                        </a:rPr>
                        <a:t>173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828434" rtl="0" eaLnBrk="1" fontAlgn="b" latinLnBrk="0" hangingPunct="1"/>
                      <a:r>
                        <a:rPr lang="ru-RU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  <a:ea typeface="+mn-ea"/>
                          <a:cs typeface="+mn-cs"/>
                        </a:rPr>
                        <a:t>380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828434" rtl="0" eaLnBrk="1" fontAlgn="b" latinLnBrk="0" hangingPunct="1"/>
                      <a:r>
                        <a:rPr lang="ru-RU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  <a:ea typeface="+mn-ea"/>
                          <a:cs typeface="+mn-cs"/>
                        </a:rPr>
                        <a:t>234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</a:rPr>
                        <a:t>226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828434" rtl="0" eaLnBrk="1" fontAlgn="b" latinLnBrk="0" hangingPunct="1"/>
                      <a:r>
                        <a:rPr lang="ru-RU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  <a:ea typeface="+mn-ea"/>
                          <a:cs typeface="+mn-cs"/>
                        </a:rPr>
                        <a:t>231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</a:rPr>
                        <a:t>351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543722">
                <a:tc>
                  <a:txBody>
                    <a:bodyPr/>
                    <a:lstStyle/>
                    <a:p>
                      <a:pPr marL="0" algn="ctr" defTabSz="1828434" rtl="0" eaLnBrk="1" fontAlgn="b" latinLnBrk="0" hangingPunct="1"/>
                      <a:r>
                        <a:rPr lang="en-US" sz="240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  <a:ea typeface="+mn-ea"/>
                          <a:cs typeface="+mn-cs"/>
                        </a:rPr>
                        <a:t>Roofshield</a:t>
                      </a:r>
                      <a:endParaRPr lang="en-US" sz="2400" u="none" strike="noStrike" kern="1200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</a:rPr>
                        <a:t>67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</a:rPr>
                        <a:t>39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828434" rtl="0" eaLnBrk="1" fontAlgn="b" latinLnBrk="0" hangingPunct="1"/>
                      <a:r>
                        <a:rPr lang="ru-RU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  <a:ea typeface="+mn-ea"/>
                          <a:cs typeface="+mn-cs"/>
                        </a:rPr>
                        <a:t>42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828434" rtl="0" eaLnBrk="1" fontAlgn="b" latinLnBrk="0" hangingPunct="1"/>
                      <a:r>
                        <a:rPr lang="ru-RU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  <a:ea typeface="+mn-ea"/>
                          <a:cs typeface="+mn-cs"/>
                        </a:rPr>
                        <a:t>53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828434" rtl="0" eaLnBrk="1" fontAlgn="b" latinLnBrk="0" hangingPunct="1"/>
                      <a:r>
                        <a:rPr lang="ru-RU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  <a:ea typeface="+mn-ea"/>
                          <a:cs typeface="+mn-cs"/>
                        </a:rPr>
                        <a:t>56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</a:rPr>
                        <a:t>50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828434" rtl="0" eaLnBrk="1" fontAlgn="b" latinLnBrk="0" hangingPunct="1"/>
                      <a:r>
                        <a:rPr lang="ru-RU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  <a:ea typeface="+mn-ea"/>
                          <a:cs typeface="+mn-cs"/>
                        </a:rPr>
                        <a:t>38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</a:rPr>
                        <a:t>53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543722">
                <a:tc>
                  <a:txBody>
                    <a:bodyPr/>
                    <a:lstStyle/>
                    <a:p>
                      <a:pPr marL="0" algn="ctr" defTabSz="1828434" rtl="0" eaLnBrk="1" fontAlgn="b" latinLnBrk="0" hangingPunct="1"/>
                      <a:r>
                        <a:rPr lang="en-US" sz="240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  <a:ea typeface="+mn-ea"/>
                          <a:cs typeface="+mn-cs"/>
                        </a:rPr>
                        <a:t>Faracs</a:t>
                      </a:r>
                      <a:endParaRPr lang="en-US" sz="2400" u="none" strike="noStrike" kern="1200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</a:rPr>
                        <a:t>63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</a:rPr>
                        <a:t>4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828434" rtl="0" eaLnBrk="1" fontAlgn="b" latinLnBrk="0" hangingPunct="1"/>
                      <a:r>
                        <a:rPr lang="ru-RU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828434" rtl="0" eaLnBrk="1" fontAlgn="b" latinLnBrk="0" hangingPunct="1"/>
                      <a:r>
                        <a:rPr lang="ru-RU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828434" rtl="0" eaLnBrk="1" fontAlgn="b" latinLnBrk="0" hangingPunct="1"/>
                      <a:r>
                        <a:rPr lang="ru-RU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</a:rPr>
                        <a:t>6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828434" rtl="0" eaLnBrk="1" fontAlgn="b" latinLnBrk="0" hangingPunct="1"/>
                      <a:r>
                        <a:rPr lang="ru-RU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</a:rPr>
                        <a:t>17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543722">
                <a:tc>
                  <a:txBody>
                    <a:bodyPr/>
                    <a:lstStyle/>
                    <a:p>
                      <a:pPr marL="0" algn="ctr" defTabSz="1828434" rtl="0" eaLnBrk="1" fontAlgn="b" latinLnBrk="0" hangingPunct="1"/>
                      <a:r>
                        <a:rPr lang="en-US" sz="2400" u="none" strike="noStrike" kern="1200" dirty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  <a:ea typeface="+mn-ea"/>
                          <a:cs typeface="+mn-cs"/>
                        </a:rPr>
                        <a:t>Quiet Tile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</a:rPr>
                        <a:t>13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</a:rPr>
                        <a:t>15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828434" rtl="0" eaLnBrk="1" fontAlgn="b" latinLnBrk="0" hangingPunct="1"/>
                      <a:r>
                        <a:rPr lang="ru-RU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828434" rtl="0" eaLnBrk="1" fontAlgn="b" latinLnBrk="0" hangingPunct="1"/>
                      <a:r>
                        <a:rPr lang="ru-RU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  <a:ea typeface="+mn-ea"/>
                          <a:cs typeface="+mn-cs"/>
                        </a:rPr>
                        <a:t>35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828434" rtl="0" eaLnBrk="1" fontAlgn="b" latinLnBrk="0" hangingPunct="1"/>
                      <a:r>
                        <a:rPr lang="ru-RU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</a:rPr>
                        <a:t>4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828434" rtl="0" eaLnBrk="1" fontAlgn="b" latinLnBrk="0" hangingPunct="1"/>
                      <a:r>
                        <a:rPr lang="ru-RU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  <a:ea typeface="+mn-ea"/>
                          <a:cs typeface="+mn-cs"/>
                        </a:rPr>
                        <a:t>37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</a:rPr>
                        <a:t>11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2" name="Диаграмма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88570946"/>
              </p:ext>
            </p:extLst>
          </p:nvPr>
        </p:nvGraphicFramePr>
        <p:xfrm>
          <a:off x="13013871" y="6773336"/>
          <a:ext cx="9093428" cy="53424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498001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14:reveal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/>
          <p:cNvGrpSpPr/>
          <p:nvPr/>
        </p:nvGrpSpPr>
        <p:grpSpPr>
          <a:xfrm>
            <a:off x="493485" y="483017"/>
            <a:ext cx="23367999" cy="2079087"/>
            <a:chOff x="5312170" y="483017"/>
            <a:chExt cx="13796525" cy="2079087"/>
          </a:xfrm>
        </p:grpSpPr>
        <p:sp>
          <p:nvSpPr>
            <p:cNvPr id="33" name="TextBox 32"/>
            <p:cNvSpPr txBox="1"/>
            <p:nvPr/>
          </p:nvSpPr>
          <p:spPr>
            <a:xfrm>
              <a:off x="5312170" y="483017"/>
              <a:ext cx="13796525" cy="1323421"/>
            </a:xfrm>
            <a:prstGeom prst="rect">
              <a:avLst/>
            </a:prstGeom>
            <a:noFill/>
          </p:spPr>
          <p:txBody>
            <a:bodyPr wrap="square" lIns="91422" tIns="45711" rIns="91422" bIns="45711" rtlCol="0">
              <a:spAutoFit/>
            </a:bodyPr>
            <a:lstStyle/>
            <a:p>
              <a:pPr algn="ctr"/>
              <a:r>
                <a:rPr lang="ru-RU" sz="8000" b="1" dirty="0">
                  <a:solidFill>
                    <a:srgbClr val="000000"/>
                  </a:solidFill>
                  <a:latin typeface="PF DinDisplay Pro" panose="02000506030000020004" pitchFamily="2" charset="0"/>
                  <a:cs typeface="Open Sans"/>
                </a:rPr>
                <a:t>Мониторинг</a:t>
              </a:r>
              <a:endParaRPr lang="id-ID" sz="8000" b="1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1412311" y="2470667"/>
              <a:ext cx="1553038" cy="9143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339" tIns="45672" rIns="91339" bIns="45672" rtlCol="0" anchor="ctr"/>
            <a:lstStyle/>
            <a:p>
              <a:pPr algn="ctr"/>
              <a:endParaRPr lang="en-US" dirty="0">
                <a:solidFill>
                  <a:schemeClr val="accent2"/>
                </a:solidFill>
                <a:latin typeface="PF DinDisplay Pro" panose="02000506030000020004" pitchFamily="2" charset="0"/>
              </a:endParaRPr>
            </a:p>
          </p:txBody>
        </p:sp>
        <p:sp>
          <p:nvSpPr>
            <p:cNvPr id="35" name="Subtitle 2"/>
            <p:cNvSpPr txBox="1">
              <a:spLocks/>
            </p:cNvSpPr>
            <p:nvPr/>
          </p:nvSpPr>
          <p:spPr>
            <a:xfrm>
              <a:off x="6361236" y="1634834"/>
              <a:ext cx="11655185" cy="839116"/>
            </a:xfrm>
            <a:prstGeom prst="rect">
              <a:avLst/>
            </a:prstGeom>
          </p:spPr>
          <p:txBody>
            <a:bodyPr vert="horz" lIns="217490" tIns="108745" rIns="217490" bIns="108745" rtlCol="0">
              <a:norm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Open Sans"/>
                <a:buNone/>
                <a:defRPr sz="2400" kern="1200">
                  <a:solidFill>
                    <a:schemeClr val="tx2"/>
                  </a:solidFill>
                  <a:latin typeface="Open Sans"/>
                  <a:ea typeface="+mn-ea"/>
                  <a:cs typeface="Open Sans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31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endParaRPr>
            </a:p>
          </p:txBody>
        </p:sp>
      </p:grpSp>
      <p:sp>
        <p:nvSpPr>
          <p:cNvPr id="17" name="Content Placeholder 2">
            <a:extLst>
              <a:ext uri="{FF2B5EF4-FFF2-40B4-BE49-F238E27FC236}">
                <a16:creationId xmlns="" xmlns:a16="http://schemas.microsoft.com/office/drawing/2014/main" id="{655D268E-C67B-41FF-BCDC-1144DBA9811B}"/>
              </a:ext>
            </a:extLst>
          </p:cNvPr>
          <p:cNvSpPr txBox="1">
            <a:spLocks/>
          </p:cNvSpPr>
          <p:nvPr/>
        </p:nvSpPr>
        <p:spPr bwMode="auto">
          <a:xfrm>
            <a:off x="10578546" y="13259226"/>
            <a:ext cx="3282370" cy="490431"/>
          </a:xfrm>
          <a:prstGeom prst="rect">
            <a:avLst/>
          </a:prstGeom>
        </p:spPr>
        <p:txBody>
          <a:bodyPr wrap="square" lIns="182843" tIns="91422" rIns="182843" bIns="91422" numCol="1" anchor="t" anchorCtr="0" compatLnSpc="1">
            <a:prstTxWarp prst="textNoShape">
              <a:avLst/>
            </a:prstTxWarp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Open Sans"/>
                <a:cs typeface="Open Sans"/>
              </a:rPr>
              <a:t>wbooster.ru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="" xmlns:a16="http://schemas.microsoft.com/office/drawing/2014/main" id="{096E1E1C-42FD-4B10-AFAC-95EFF8947E27}"/>
              </a:ext>
            </a:extLst>
          </p:cNvPr>
          <p:cNvSpPr txBox="1">
            <a:spLocks/>
          </p:cNvSpPr>
          <p:nvPr/>
        </p:nvSpPr>
        <p:spPr>
          <a:xfrm>
            <a:off x="2366216" y="1596860"/>
            <a:ext cx="19741083" cy="839116"/>
          </a:xfrm>
          <a:prstGeom prst="rect">
            <a:avLst/>
          </a:prstGeom>
        </p:spPr>
        <p:txBody>
          <a:bodyPr vert="horz" lIns="217490" tIns="108745" rIns="217490" bIns="108745" rtlCol="0">
            <a:norm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Open Sans"/>
              <a:buNone/>
              <a:defRPr sz="240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100" b="1" dirty="0">
                <a:solidFill>
                  <a:schemeClr val="bg2">
                    <a:lumMod val="65000"/>
                  </a:schemeClr>
                </a:solidFill>
                <a:latin typeface="PF DinDisplay Pro" panose="02000506030000020004" pitchFamily="2" charset="0"/>
                <a:cs typeface="Open Sans"/>
              </a:rPr>
              <a:t>Типы контента: </a:t>
            </a:r>
            <a:r>
              <a:rPr lang="en-US" sz="3100" b="1" dirty="0">
                <a:solidFill>
                  <a:schemeClr val="bg2">
                    <a:lumMod val="65000"/>
                  </a:schemeClr>
                </a:solidFill>
                <a:latin typeface="PF DinDisplay Pro" panose="02000506030000020004" pitchFamily="2" charset="0"/>
                <a:cs typeface="Open Sans"/>
              </a:rPr>
              <a:t>RUFLEX</a:t>
            </a:r>
            <a:endParaRPr lang="ru-RU" sz="3100" dirty="0">
              <a:solidFill>
                <a:schemeClr val="bg2">
                  <a:lumMod val="65000"/>
                </a:schemeClr>
              </a:solidFill>
              <a:latin typeface="PF DinDisplay Pro" panose="02000506030000020004" pitchFamily="2" charset="0"/>
              <a:cs typeface="Open Sa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D1F00659-F8D6-4FA2-B515-6668D36FA925}"/>
              </a:ext>
            </a:extLst>
          </p:cNvPr>
          <p:cNvSpPr txBox="1"/>
          <p:nvPr/>
        </p:nvSpPr>
        <p:spPr>
          <a:xfrm>
            <a:off x="2691846" y="2828622"/>
            <a:ext cx="15773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.</a:t>
            </a:r>
          </a:p>
          <a:p>
            <a:endParaRPr lang="ru-RU" sz="2400" dirty="0">
              <a:latin typeface="PF DinDisplay Pro Light" panose="02000506000000020004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D3F1F216-46B8-4CAD-8377-FB9F1E702E50}"/>
              </a:ext>
            </a:extLst>
          </p:cNvPr>
          <p:cNvSpPr txBox="1"/>
          <p:nvPr/>
        </p:nvSpPr>
        <p:spPr>
          <a:xfrm>
            <a:off x="2122713" y="2828622"/>
            <a:ext cx="2052138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ru-RU" sz="2400" u="sng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Самый популярный тип упоминаний </a:t>
            </a:r>
            <a:r>
              <a:rPr lang="ru-RU" sz="2400" u="sng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– </a:t>
            </a:r>
            <a:r>
              <a:rPr lang="ru-RU" sz="2400" b="1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СоцС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– посты в социальных сетях бренда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 –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 71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%</a:t>
            </a:r>
            <a:endParaRPr lang="ru-RU" sz="2400" dirty="0">
              <a:solidFill>
                <a:srgbClr val="000000"/>
              </a:solidFill>
              <a:latin typeface="PF DinDisplay Pro" panose="02000506030000020004" pitchFamily="2" charset="0"/>
              <a:cs typeface="Open Sans"/>
            </a:endParaRPr>
          </a:p>
          <a:p>
            <a:pPr algn="just">
              <a:lnSpc>
                <a:spcPct val="200000"/>
              </a:lnSpc>
            </a:pPr>
            <a:r>
              <a:rPr lang="ru-RU" sz="2400" u="sng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Второй </a:t>
            </a:r>
            <a:r>
              <a:rPr lang="ru-RU" sz="2400" u="sng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по популярности тип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-  </a:t>
            </a:r>
            <a:r>
              <a:rPr lang="ru-RU" sz="2400" b="1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Монтаж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-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упоминания продуктов бренда и конкурентов специалистами по строительству и монтажу, в блогах строительной тематики  -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11%</a:t>
            </a:r>
            <a:endParaRPr lang="ru-RU" sz="2400" dirty="0">
              <a:solidFill>
                <a:srgbClr val="000000"/>
              </a:solidFill>
              <a:latin typeface="PF DinDisplay Pro" panose="02000506030000020004" pitchFamily="2" charset="0"/>
              <a:cs typeface="Open Sans"/>
            </a:endParaRPr>
          </a:p>
          <a:p>
            <a:pPr algn="just">
              <a:lnSpc>
                <a:spcPct val="200000"/>
              </a:lnSpc>
            </a:pPr>
            <a:r>
              <a:rPr lang="ru-RU" sz="2400" u="sng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На третьем месте</a:t>
            </a:r>
            <a:r>
              <a:rPr lang="ru-RU" sz="2400" b="1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-  </a:t>
            </a:r>
            <a:r>
              <a:rPr lang="ru-RU" sz="2400" b="1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ЗМК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–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«живые» упоминания  пользователей (в </a:t>
            </a:r>
            <a:r>
              <a:rPr lang="ru-RU" sz="2400" dirty="0" err="1" smtClean="0">
                <a:solidFill>
                  <a:srgbClr val="000000"/>
                </a:solidFill>
                <a:latin typeface="PF DinDisplay Pro" panose="02000506030000020004" pitchFamily="2" charset="0"/>
              </a:rPr>
              <a:t>т.ч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.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с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ообщения агентов) –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9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%</a:t>
            </a:r>
            <a:endParaRPr lang="ru-RU" sz="2400" dirty="0">
              <a:solidFill>
                <a:srgbClr val="000000"/>
              </a:solidFill>
              <a:latin typeface="PF DinDisplay Pro" panose="02000506030000020004" pitchFamily="2" charset="0"/>
            </a:endParaRP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4022907"/>
              </p:ext>
            </p:extLst>
          </p:nvPr>
        </p:nvGraphicFramePr>
        <p:xfrm>
          <a:off x="14238515" y="7527471"/>
          <a:ext cx="6090558" cy="434684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7502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61553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649085"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</a:rPr>
                        <a:t>Тег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</a:rPr>
                        <a:t>Число упоминаний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59229"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1" i="0" u="none" strike="noStrike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</a:rPr>
                        <a:t>СоцС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</a:rPr>
                        <a:t>57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627707"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1" i="0" u="none" strike="noStrike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</a:rPr>
                        <a:t>Монтаж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</a:rPr>
                        <a:t>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27707"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1" i="0" u="none" strike="noStrike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</a:rPr>
                        <a:t>ЗМК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</a:rPr>
                        <a:t>7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627707"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1" i="0" u="none" strike="noStrike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</a:rPr>
                        <a:t>КП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</a:rPr>
                        <a:t>6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27707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</a:rPr>
                        <a:t>PR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0" i="0" u="none" strike="noStrike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</a:rPr>
                        <a:t>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627707"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1" i="0" u="none" strike="noStrike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</a:rPr>
                        <a:t>СоцС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</a:rPr>
                        <a:t>57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3" name="Диаграмма 1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51744597"/>
              </p:ext>
            </p:extLst>
          </p:nvPr>
        </p:nvGraphicFramePr>
        <p:xfrm>
          <a:off x="2691845" y="5910943"/>
          <a:ext cx="9544911" cy="66620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58472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14:reveal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/>
          <p:cNvGrpSpPr/>
          <p:nvPr/>
        </p:nvGrpSpPr>
        <p:grpSpPr>
          <a:xfrm>
            <a:off x="493485" y="483017"/>
            <a:ext cx="23367999" cy="2079087"/>
            <a:chOff x="5312170" y="483017"/>
            <a:chExt cx="13796525" cy="2079087"/>
          </a:xfrm>
        </p:grpSpPr>
        <p:sp>
          <p:nvSpPr>
            <p:cNvPr id="33" name="TextBox 32"/>
            <p:cNvSpPr txBox="1"/>
            <p:nvPr/>
          </p:nvSpPr>
          <p:spPr>
            <a:xfrm>
              <a:off x="5312170" y="483017"/>
              <a:ext cx="13796525" cy="1323421"/>
            </a:xfrm>
            <a:prstGeom prst="rect">
              <a:avLst/>
            </a:prstGeom>
            <a:noFill/>
          </p:spPr>
          <p:txBody>
            <a:bodyPr wrap="square" lIns="91422" tIns="45711" rIns="91422" bIns="45711" rtlCol="0">
              <a:spAutoFit/>
            </a:bodyPr>
            <a:lstStyle/>
            <a:p>
              <a:pPr algn="ctr"/>
              <a:r>
                <a:rPr lang="ru-RU" sz="8000" b="1" dirty="0">
                  <a:solidFill>
                    <a:srgbClr val="000000"/>
                  </a:solidFill>
                  <a:latin typeface="PF DinDisplay Pro" panose="02000506030000020004" pitchFamily="2" charset="0"/>
                  <a:cs typeface="Open Sans"/>
                </a:rPr>
                <a:t>Мониторинг</a:t>
              </a:r>
              <a:endParaRPr lang="id-ID" sz="8000" b="1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1412311" y="2470667"/>
              <a:ext cx="1553038" cy="9143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339" tIns="45672" rIns="91339" bIns="45672" rtlCol="0" anchor="ctr"/>
            <a:lstStyle/>
            <a:p>
              <a:pPr algn="ctr"/>
              <a:endParaRPr lang="en-US" dirty="0">
                <a:solidFill>
                  <a:schemeClr val="accent2"/>
                </a:solidFill>
                <a:latin typeface="PF DinDisplay Pro" panose="02000506030000020004" pitchFamily="2" charset="0"/>
              </a:endParaRPr>
            </a:p>
          </p:txBody>
        </p:sp>
        <p:sp>
          <p:nvSpPr>
            <p:cNvPr id="35" name="Subtitle 2"/>
            <p:cNvSpPr txBox="1">
              <a:spLocks/>
            </p:cNvSpPr>
            <p:nvPr/>
          </p:nvSpPr>
          <p:spPr>
            <a:xfrm>
              <a:off x="6361236" y="1634834"/>
              <a:ext cx="11655185" cy="839116"/>
            </a:xfrm>
            <a:prstGeom prst="rect">
              <a:avLst/>
            </a:prstGeom>
          </p:spPr>
          <p:txBody>
            <a:bodyPr vert="horz" lIns="217490" tIns="108745" rIns="217490" bIns="108745" rtlCol="0">
              <a:norm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Open Sans"/>
                <a:buNone/>
                <a:defRPr sz="2400" kern="1200">
                  <a:solidFill>
                    <a:schemeClr val="tx2"/>
                  </a:solidFill>
                  <a:latin typeface="Open Sans"/>
                  <a:ea typeface="+mn-ea"/>
                  <a:cs typeface="Open Sans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31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endParaRPr>
            </a:p>
          </p:txBody>
        </p:sp>
      </p:grpSp>
      <p:sp>
        <p:nvSpPr>
          <p:cNvPr id="17" name="Content Placeholder 2">
            <a:extLst>
              <a:ext uri="{FF2B5EF4-FFF2-40B4-BE49-F238E27FC236}">
                <a16:creationId xmlns="" xmlns:a16="http://schemas.microsoft.com/office/drawing/2014/main" id="{655D268E-C67B-41FF-BCDC-1144DBA9811B}"/>
              </a:ext>
            </a:extLst>
          </p:cNvPr>
          <p:cNvSpPr txBox="1">
            <a:spLocks/>
          </p:cNvSpPr>
          <p:nvPr/>
        </p:nvSpPr>
        <p:spPr bwMode="auto">
          <a:xfrm>
            <a:off x="10578546" y="13259226"/>
            <a:ext cx="3282370" cy="490431"/>
          </a:xfrm>
          <a:prstGeom prst="rect">
            <a:avLst/>
          </a:prstGeom>
        </p:spPr>
        <p:txBody>
          <a:bodyPr wrap="square" lIns="182843" tIns="91422" rIns="182843" bIns="91422" numCol="1" anchor="t" anchorCtr="0" compatLnSpc="1">
            <a:prstTxWarp prst="textNoShape">
              <a:avLst/>
            </a:prstTxWarp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Open Sans"/>
                <a:cs typeface="Open Sans"/>
              </a:rPr>
              <a:t>wbooster.ru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="" xmlns:a16="http://schemas.microsoft.com/office/drawing/2014/main" id="{096E1E1C-42FD-4B10-AFAC-95EFF8947E27}"/>
              </a:ext>
            </a:extLst>
          </p:cNvPr>
          <p:cNvSpPr txBox="1">
            <a:spLocks/>
          </p:cNvSpPr>
          <p:nvPr/>
        </p:nvSpPr>
        <p:spPr>
          <a:xfrm>
            <a:off x="2366216" y="1596860"/>
            <a:ext cx="19741083" cy="839116"/>
          </a:xfrm>
          <a:prstGeom prst="rect">
            <a:avLst/>
          </a:prstGeom>
        </p:spPr>
        <p:txBody>
          <a:bodyPr vert="horz" lIns="217490" tIns="108745" rIns="217490" bIns="108745" rtlCol="0">
            <a:norm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Open Sans"/>
              <a:buNone/>
              <a:defRPr sz="240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100" b="1" dirty="0">
                <a:solidFill>
                  <a:schemeClr val="bg2">
                    <a:lumMod val="65000"/>
                  </a:schemeClr>
                </a:solidFill>
                <a:latin typeface="PF DinDisplay Pro" panose="02000506030000020004" pitchFamily="2" charset="0"/>
                <a:cs typeface="Open Sans"/>
              </a:rPr>
              <a:t>Типы контента: конкуренты</a:t>
            </a:r>
            <a:endParaRPr lang="ru-RU" sz="3100" dirty="0">
              <a:solidFill>
                <a:schemeClr val="bg2">
                  <a:lumMod val="65000"/>
                </a:schemeClr>
              </a:solidFill>
              <a:latin typeface="PF DinDisplay Pro" panose="02000506030000020004" pitchFamily="2" charset="0"/>
              <a:cs typeface="Open Sa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D1F00659-F8D6-4FA2-B515-6668D36FA925}"/>
              </a:ext>
            </a:extLst>
          </p:cNvPr>
          <p:cNvSpPr txBox="1"/>
          <p:nvPr/>
        </p:nvSpPr>
        <p:spPr>
          <a:xfrm>
            <a:off x="2691846" y="2828622"/>
            <a:ext cx="15773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.</a:t>
            </a:r>
          </a:p>
          <a:p>
            <a:endParaRPr lang="ru-RU" sz="2400" dirty="0">
              <a:latin typeface="PF DinDisplay Pro Light" panose="02000506000000020004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D3F1F216-46B8-4CAD-8377-FB9F1E702E50}"/>
              </a:ext>
            </a:extLst>
          </p:cNvPr>
          <p:cNvSpPr txBox="1"/>
          <p:nvPr/>
        </p:nvSpPr>
        <p:spPr>
          <a:xfrm>
            <a:off x="2270351" y="2832401"/>
            <a:ext cx="2041003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Если  проанализировать типы контента в разрезе брендов-конкурентов, то видно, что больше всего коммерческого контента (КП) у 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Docke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Строительные организации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 также чаще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всего 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упоминали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кровельные материалы 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Docke 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 (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тег «Монтаж»).</a:t>
            </a:r>
          </a:p>
          <a:p>
            <a:pPr algn="just">
              <a:lnSpc>
                <a:spcPct val="150000"/>
              </a:lnSpc>
            </a:pP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Больше всего сообщений о разного рода рекламных и общественных активностях (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PR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) у 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Tegola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.</a:t>
            </a:r>
            <a:endParaRPr lang="ru-RU" sz="2400" dirty="0">
              <a:solidFill>
                <a:srgbClr val="000000"/>
              </a:solidFill>
              <a:latin typeface="PF DinDisplay Pro" panose="02000506030000020004" pitchFamily="2" charset="0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Больше всего постов в соцсетях (тег «СоцС») у 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Docke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и 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RUFLEX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,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также активно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вели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соцсети </a:t>
            </a:r>
            <a:r>
              <a:rPr lang="en-US" sz="2400" dirty="0" err="1" smtClean="0">
                <a:solidFill>
                  <a:srgbClr val="000000"/>
                </a:solidFill>
                <a:latin typeface="PF DinDisplay Pro" panose="02000506030000020004" pitchFamily="2" charset="0"/>
              </a:rPr>
              <a:t>Roofshield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«Живых» сообщений  от пользователей  больше всего по 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Docke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(тег «ЗМК»)</a:t>
            </a:r>
          </a:p>
        </p:txBody>
      </p:sp>
      <p:graphicFrame>
        <p:nvGraphicFramePr>
          <p:cNvPr id="12" name="Диаграмма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63608339"/>
              </p:ext>
            </p:extLst>
          </p:nvPr>
        </p:nvGraphicFramePr>
        <p:xfrm>
          <a:off x="2691845" y="6172201"/>
          <a:ext cx="19988541" cy="63191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8645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14:reveal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/>
          <p:cNvGrpSpPr/>
          <p:nvPr/>
        </p:nvGrpSpPr>
        <p:grpSpPr>
          <a:xfrm>
            <a:off x="493485" y="483017"/>
            <a:ext cx="23367999" cy="2079087"/>
            <a:chOff x="5312170" y="483017"/>
            <a:chExt cx="13796525" cy="2079087"/>
          </a:xfrm>
        </p:grpSpPr>
        <p:sp>
          <p:nvSpPr>
            <p:cNvPr id="33" name="TextBox 32"/>
            <p:cNvSpPr txBox="1"/>
            <p:nvPr/>
          </p:nvSpPr>
          <p:spPr>
            <a:xfrm>
              <a:off x="5312170" y="483017"/>
              <a:ext cx="13796525" cy="1323421"/>
            </a:xfrm>
            <a:prstGeom prst="rect">
              <a:avLst/>
            </a:prstGeom>
            <a:noFill/>
          </p:spPr>
          <p:txBody>
            <a:bodyPr wrap="square" lIns="91422" tIns="45711" rIns="91422" bIns="45711" rtlCol="0">
              <a:spAutoFit/>
            </a:bodyPr>
            <a:lstStyle/>
            <a:p>
              <a:pPr algn="ctr"/>
              <a:r>
                <a:rPr lang="ru-RU" sz="8000" b="1" dirty="0">
                  <a:solidFill>
                    <a:srgbClr val="000000"/>
                  </a:solidFill>
                  <a:latin typeface="PF DinDisplay Pro" panose="02000506030000020004" pitchFamily="2" charset="0"/>
                  <a:cs typeface="Open Sans"/>
                </a:rPr>
                <a:t>Мониторинг </a:t>
              </a:r>
              <a:endParaRPr lang="id-ID" sz="8000" b="1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1412311" y="2470667"/>
              <a:ext cx="1553038" cy="9143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339" tIns="45672" rIns="91339" bIns="45672" rtlCol="0" anchor="ctr"/>
            <a:lstStyle/>
            <a:p>
              <a:pPr algn="ctr"/>
              <a:endParaRPr lang="en-US" dirty="0">
                <a:solidFill>
                  <a:schemeClr val="accent2"/>
                </a:solidFill>
                <a:latin typeface="PF DinDisplay Pro" panose="02000506030000020004" pitchFamily="2" charset="0"/>
              </a:endParaRPr>
            </a:p>
          </p:txBody>
        </p:sp>
        <p:sp>
          <p:nvSpPr>
            <p:cNvPr id="35" name="Subtitle 2"/>
            <p:cNvSpPr txBox="1">
              <a:spLocks/>
            </p:cNvSpPr>
            <p:nvPr/>
          </p:nvSpPr>
          <p:spPr>
            <a:xfrm>
              <a:off x="6361236" y="1634834"/>
              <a:ext cx="11655185" cy="839116"/>
            </a:xfrm>
            <a:prstGeom prst="rect">
              <a:avLst/>
            </a:prstGeom>
          </p:spPr>
          <p:txBody>
            <a:bodyPr vert="horz" lIns="217490" tIns="108745" rIns="217490" bIns="108745" rtlCol="0">
              <a:norm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Open Sans"/>
                <a:buNone/>
                <a:defRPr sz="2400" kern="1200">
                  <a:solidFill>
                    <a:schemeClr val="tx2"/>
                  </a:solidFill>
                  <a:latin typeface="Open Sans"/>
                  <a:ea typeface="+mn-ea"/>
                  <a:cs typeface="Open Sans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31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endParaRPr>
            </a:p>
          </p:txBody>
        </p:sp>
      </p:grpSp>
      <p:sp>
        <p:nvSpPr>
          <p:cNvPr id="17" name="Content Placeholder 2">
            <a:extLst>
              <a:ext uri="{FF2B5EF4-FFF2-40B4-BE49-F238E27FC236}">
                <a16:creationId xmlns="" xmlns:a16="http://schemas.microsoft.com/office/drawing/2014/main" id="{655D268E-C67B-41FF-BCDC-1144DBA9811B}"/>
              </a:ext>
            </a:extLst>
          </p:cNvPr>
          <p:cNvSpPr txBox="1">
            <a:spLocks/>
          </p:cNvSpPr>
          <p:nvPr/>
        </p:nvSpPr>
        <p:spPr bwMode="auto">
          <a:xfrm>
            <a:off x="10578546" y="13259226"/>
            <a:ext cx="3282370" cy="490431"/>
          </a:xfrm>
          <a:prstGeom prst="rect">
            <a:avLst/>
          </a:prstGeom>
        </p:spPr>
        <p:txBody>
          <a:bodyPr wrap="square" lIns="182843" tIns="91422" rIns="182843" bIns="91422" numCol="1" anchor="t" anchorCtr="0" compatLnSpc="1">
            <a:prstTxWarp prst="textNoShape">
              <a:avLst/>
            </a:prstTxWarp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Open Sans"/>
                <a:cs typeface="Open Sans"/>
              </a:rPr>
              <a:t>wbooster.ru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="" xmlns:a16="http://schemas.microsoft.com/office/drawing/2014/main" id="{096E1E1C-42FD-4B10-AFAC-95EFF8947E27}"/>
              </a:ext>
            </a:extLst>
          </p:cNvPr>
          <p:cNvSpPr txBox="1">
            <a:spLocks/>
          </p:cNvSpPr>
          <p:nvPr/>
        </p:nvSpPr>
        <p:spPr>
          <a:xfrm>
            <a:off x="2366216" y="1596860"/>
            <a:ext cx="19741083" cy="839116"/>
          </a:xfrm>
          <a:prstGeom prst="rect">
            <a:avLst/>
          </a:prstGeom>
        </p:spPr>
        <p:txBody>
          <a:bodyPr vert="horz" lIns="217490" tIns="108745" rIns="217490" bIns="108745" rtlCol="0">
            <a:norm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Open Sans"/>
              <a:buNone/>
              <a:defRPr sz="240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100" b="1" dirty="0">
                <a:solidFill>
                  <a:schemeClr val="bg2">
                    <a:lumMod val="65000"/>
                  </a:schemeClr>
                </a:solidFill>
                <a:latin typeface="PF DinDisplay Pro" panose="02000506030000020004" pitchFamily="2" charset="0"/>
                <a:cs typeface="Open Sans"/>
              </a:rPr>
              <a:t>Источники</a:t>
            </a:r>
            <a:endParaRPr lang="ru-RU" sz="3100" dirty="0">
              <a:solidFill>
                <a:schemeClr val="bg2">
                  <a:lumMod val="65000"/>
                </a:schemeClr>
              </a:solidFill>
              <a:latin typeface="PF DinDisplay Pro" panose="02000506030000020004" pitchFamily="2" charset="0"/>
              <a:cs typeface="Open Sa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6AA34C1-1B4E-45DE-BB7D-DB8FC311AF6B}"/>
              </a:ext>
            </a:extLst>
          </p:cNvPr>
          <p:cNvSpPr txBox="1"/>
          <p:nvPr/>
        </p:nvSpPr>
        <p:spPr>
          <a:xfrm>
            <a:off x="11125200" y="3835712"/>
            <a:ext cx="11047590" cy="2195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4100"/>
              </a:lnSpc>
            </a:pP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Среди источников по общему числу упоминаний лидируют социальные сети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(45%).</a:t>
            </a:r>
            <a:endParaRPr lang="ru-RU" sz="2400" dirty="0">
              <a:solidFill>
                <a:srgbClr val="000000"/>
              </a:solidFill>
              <a:latin typeface="PF DinDisplay Pro" panose="02000506030000020004" pitchFamily="2" charset="0"/>
              <a:cs typeface="Open Sans"/>
            </a:endParaRPr>
          </a:p>
          <a:p>
            <a:pPr algn="just">
              <a:lnSpc>
                <a:spcPts val="4100"/>
              </a:lnSpc>
            </a:pP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Также популярны мессенджеры (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telegram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 и 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max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), значительно меньше - блоги и видеохостинги. </a:t>
            </a:r>
            <a:endParaRPr lang="ru-RU" sz="2400" dirty="0">
              <a:solidFill>
                <a:srgbClr val="000000"/>
              </a:solidFill>
              <a:latin typeface="PF DinDisplay Pro" panose="02000506030000020004" pitchFamily="2" charset="0"/>
              <a:cs typeface="Open Sans"/>
            </a:endParaRPr>
          </a:p>
          <a:p>
            <a:pPr algn="just">
              <a:lnSpc>
                <a:spcPts val="4100"/>
              </a:lnSpc>
            </a:pPr>
            <a:endParaRPr lang="ru-RU" sz="2400" dirty="0">
              <a:solidFill>
                <a:srgbClr val="000000"/>
              </a:solidFill>
              <a:latin typeface="PF DinDisplay Pro" panose="02000506030000020004" pitchFamily="2" charset="0"/>
              <a:cs typeface="Open San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0CBD8F92-89D5-4F66-963B-A29B3ADC6AFF}"/>
              </a:ext>
            </a:extLst>
          </p:cNvPr>
          <p:cNvSpPr txBox="1"/>
          <p:nvPr/>
        </p:nvSpPr>
        <p:spPr>
          <a:xfrm>
            <a:off x="11125200" y="8561428"/>
            <a:ext cx="11633201" cy="3090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4100"/>
              </a:lnSpc>
            </a:pP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Самой популярной площадкой  является </a:t>
            </a:r>
            <a:r>
              <a:rPr lang="en-US" sz="2400" u="sng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vk.com</a:t>
            </a:r>
            <a:r>
              <a:rPr lang="ru-RU" sz="2400" u="sng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. </a:t>
            </a:r>
          </a:p>
          <a:p>
            <a:pPr algn="just"/>
            <a:endParaRPr lang="ru-RU" sz="2400" dirty="0">
              <a:solidFill>
                <a:srgbClr val="000000"/>
              </a:solidFill>
              <a:latin typeface="PF DinDisplay Pro" panose="02000506030000020004" pitchFamily="2" charset="0"/>
              <a:cs typeface="Open Sans"/>
            </a:endParaRPr>
          </a:p>
          <a:p>
            <a:pPr algn="just">
              <a:lnSpc>
                <a:spcPts val="4100"/>
              </a:lnSpc>
            </a:pPr>
            <a:r>
              <a:rPr lang="ru-RU" sz="2400" u="sng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Также </a:t>
            </a:r>
            <a:r>
              <a:rPr lang="ru-RU" sz="2400" u="sng" dirty="0">
                <a:solidFill>
                  <a:srgbClr val="000000"/>
                </a:solidFill>
                <a:latin typeface="PF DinDisplay Pro" panose="02000506030000020004" pitchFamily="2" charset="0"/>
              </a:rPr>
              <a:t> </a:t>
            </a:r>
            <a:r>
              <a:rPr lang="en-US" sz="2400" u="sng" dirty="0">
                <a:solidFill>
                  <a:srgbClr val="000000"/>
                </a:solidFill>
                <a:latin typeface="PF DinDisplay Pro" panose="02000506030000020004" pitchFamily="2" charset="0"/>
              </a:rPr>
              <a:t>RUFLEX </a:t>
            </a:r>
            <a:r>
              <a:rPr lang="ru-RU" sz="2400" u="sng" dirty="0">
                <a:solidFill>
                  <a:srgbClr val="000000"/>
                </a:solidFill>
                <a:latin typeface="PF DinDisplay Pro" panose="02000506030000020004" pitchFamily="2" charset="0"/>
              </a:rPr>
              <a:t>и конкурентов часто упоминали на следующих </a:t>
            </a:r>
            <a:r>
              <a:rPr lang="ru-RU" sz="2400" u="sng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ресурсах: </a:t>
            </a:r>
          </a:p>
          <a:p>
            <a:pPr algn="just">
              <a:lnSpc>
                <a:spcPts val="4100"/>
              </a:lnSpc>
            </a:pP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telegram.org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, 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wildberries.ru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, 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instagram.com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, 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max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.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ru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, 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dzen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.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ru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, 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ok.ru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, 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youtube.com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, 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rutube.ru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, 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x.com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. </a:t>
            </a:r>
          </a:p>
          <a:p>
            <a:pPr algn="just">
              <a:lnSpc>
                <a:spcPts val="4100"/>
              </a:lnSpc>
            </a:pPr>
            <a:endParaRPr lang="ru-RU" sz="2400" dirty="0">
              <a:solidFill>
                <a:srgbClr val="000000"/>
              </a:solidFill>
              <a:latin typeface="PF DinDisplay Pro" panose="02000506030000020004" pitchFamily="2" charset="0"/>
              <a:cs typeface="Open Sans"/>
            </a:endParaRPr>
          </a:p>
        </p:txBody>
      </p:sp>
      <p:graphicFrame>
        <p:nvGraphicFramePr>
          <p:cNvPr id="13" name="Диаграмма 1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4862467"/>
              </p:ext>
            </p:extLst>
          </p:nvPr>
        </p:nvGraphicFramePr>
        <p:xfrm>
          <a:off x="1975758" y="2516385"/>
          <a:ext cx="8602788" cy="40803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4" name="Диаграмма 1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08113899"/>
              </p:ext>
            </p:extLst>
          </p:nvPr>
        </p:nvGraphicFramePr>
        <p:xfrm>
          <a:off x="1975758" y="7200900"/>
          <a:ext cx="8409214" cy="4914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62363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14:reveal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/>
          <p:cNvGrpSpPr/>
          <p:nvPr/>
        </p:nvGrpSpPr>
        <p:grpSpPr>
          <a:xfrm>
            <a:off x="493485" y="483017"/>
            <a:ext cx="23367999" cy="2079087"/>
            <a:chOff x="5312170" y="483017"/>
            <a:chExt cx="13796525" cy="2079087"/>
          </a:xfrm>
        </p:grpSpPr>
        <p:sp>
          <p:nvSpPr>
            <p:cNvPr id="33" name="TextBox 32"/>
            <p:cNvSpPr txBox="1"/>
            <p:nvPr/>
          </p:nvSpPr>
          <p:spPr>
            <a:xfrm>
              <a:off x="5312170" y="483017"/>
              <a:ext cx="13796525" cy="1323421"/>
            </a:xfrm>
            <a:prstGeom prst="rect">
              <a:avLst/>
            </a:prstGeom>
            <a:noFill/>
          </p:spPr>
          <p:txBody>
            <a:bodyPr wrap="square" lIns="91422" tIns="45711" rIns="91422" bIns="45711" rtlCol="0">
              <a:spAutoFit/>
            </a:bodyPr>
            <a:lstStyle/>
            <a:p>
              <a:pPr algn="ctr"/>
              <a:r>
                <a:rPr lang="ru-RU" sz="8000" b="1" dirty="0">
                  <a:solidFill>
                    <a:srgbClr val="000000"/>
                  </a:solidFill>
                  <a:latin typeface="PF DinDisplay Pro" panose="02000506030000020004" pitchFamily="2" charset="0"/>
                  <a:cs typeface="Open Sans"/>
                </a:rPr>
                <a:t>Мониторинг </a:t>
              </a:r>
              <a:endParaRPr lang="id-ID" sz="8000" b="1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1412311" y="2470667"/>
              <a:ext cx="1553038" cy="9143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339" tIns="45672" rIns="91339" bIns="45672" rtlCol="0" anchor="ctr"/>
            <a:lstStyle/>
            <a:p>
              <a:pPr algn="ctr"/>
              <a:endParaRPr lang="en-US" dirty="0">
                <a:solidFill>
                  <a:schemeClr val="accent2"/>
                </a:solidFill>
                <a:latin typeface="PF DinDisplay Pro" panose="02000506030000020004" pitchFamily="2" charset="0"/>
              </a:endParaRPr>
            </a:p>
          </p:txBody>
        </p:sp>
        <p:sp>
          <p:nvSpPr>
            <p:cNvPr id="35" name="Subtitle 2"/>
            <p:cNvSpPr txBox="1">
              <a:spLocks/>
            </p:cNvSpPr>
            <p:nvPr/>
          </p:nvSpPr>
          <p:spPr>
            <a:xfrm>
              <a:off x="6361236" y="1634834"/>
              <a:ext cx="11655185" cy="839116"/>
            </a:xfrm>
            <a:prstGeom prst="rect">
              <a:avLst/>
            </a:prstGeom>
          </p:spPr>
          <p:txBody>
            <a:bodyPr vert="horz" lIns="217490" tIns="108745" rIns="217490" bIns="108745" rtlCol="0">
              <a:norm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Open Sans"/>
                <a:buNone/>
                <a:defRPr sz="2400" kern="1200">
                  <a:solidFill>
                    <a:schemeClr val="tx2"/>
                  </a:solidFill>
                  <a:latin typeface="Open Sans"/>
                  <a:ea typeface="+mn-ea"/>
                  <a:cs typeface="Open Sans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31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endParaRPr>
            </a:p>
          </p:txBody>
        </p:sp>
      </p:grpSp>
      <p:sp>
        <p:nvSpPr>
          <p:cNvPr id="17" name="Content Placeholder 2">
            <a:extLst>
              <a:ext uri="{FF2B5EF4-FFF2-40B4-BE49-F238E27FC236}">
                <a16:creationId xmlns="" xmlns:a16="http://schemas.microsoft.com/office/drawing/2014/main" id="{655D268E-C67B-41FF-BCDC-1144DBA9811B}"/>
              </a:ext>
            </a:extLst>
          </p:cNvPr>
          <p:cNvSpPr txBox="1">
            <a:spLocks/>
          </p:cNvSpPr>
          <p:nvPr/>
        </p:nvSpPr>
        <p:spPr bwMode="auto">
          <a:xfrm>
            <a:off x="10578546" y="13259226"/>
            <a:ext cx="3282370" cy="490431"/>
          </a:xfrm>
          <a:prstGeom prst="rect">
            <a:avLst/>
          </a:prstGeom>
        </p:spPr>
        <p:txBody>
          <a:bodyPr wrap="square" lIns="182843" tIns="91422" rIns="182843" bIns="91422" numCol="1" anchor="t" anchorCtr="0" compatLnSpc="1">
            <a:prstTxWarp prst="textNoShape">
              <a:avLst/>
            </a:prstTxWarp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Open Sans"/>
                <a:cs typeface="Open Sans"/>
              </a:rPr>
              <a:t>wbooster.ru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="" xmlns:a16="http://schemas.microsoft.com/office/drawing/2014/main" id="{096E1E1C-42FD-4B10-AFAC-95EFF8947E27}"/>
              </a:ext>
            </a:extLst>
          </p:cNvPr>
          <p:cNvSpPr txBox="1">
            <a:spLocks/>
          </p:cNvSpPr>
          <p:nvPr/>
        </p:nvSpPr>
        <p:spPr>
          <a:xfrm>
            <a:off x="2366216" y="1596860"/>
            <a:ext cx="19741083" cy="839116"/>
          </a:xfrm>
          <a:prstGeom prst="rect">
            <a:avLst/>
          </a:prstGeom>
        </p:spPr>
        <p:txBody>
          <a:bodyPr vert="horz" lIns="217490" tIns="108745" rIns="217490" bIns="108745" rtlCol="0">
            <a:norm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Open Sans"/>
              <a:buNone/>
              <a:defRPr sz="240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100" b="1" dirty="0">
                <a:solidFill>
                  <a:schemeClr val="bg2">
                    <a:lumMod val="65000"/>
                  </a:schemeClr>
                </a:solidFill>
                <a:latin typeface="PF DinDisplay Pro" panose="02000506030000020004" pitchFamily="2" charset="0"/>
                <a:cs typeface="Open Sans"/>
              </a:rPr>
              <a:t>Источники</a:t>
            </a:r>
            <a:endParaRPr lang="ru-RU" sz="3100" dirty="0">
              <a:solidFill>
                <a:schemeClr val="bg2">
                  <a:lumMod val="65000"/>
                </a:schemeClr>
              </a:solidFill>
              <a:latin typeface="PF DinDisplay Pro" panose="02000506030000020004" pitchFamily="2" charset="0"/>
              <a:cs typeface="Open Sa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6AA34C1-1B4E-45DE-BB7D-DB8FC311AF6B}"/>
              </a:ext>
            </a:extLst>
          </p:cNvPr>
          <p:cNvSpPr txBox="1"/>
          <p:nvPr/>
        </p:nvSpPr>
        <p:spPr>
          <a:xfrm>
            <a:off x="1681841" y="9049761"/>
            <a:ext cx="21281651" cy="3147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4100"/>
              </a:lnSpc>
            </a:pP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Как уже было указано ранее, самый популярный тип источников у всех брендов – социальные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сети, также популярны мессенджеры, </a:t>
            </a:r>
            <a:r>
              <a:rPr lang="ru-RU" sz="2400" dirty="0" err="1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видеоплатформы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и блоги.</a:t>
            </a:r>
          </a:p>
          <a:p>
            <a:pPr algn="just">
              <a:lnSpc>
                <a:spcPts val="4100"/>
              </a:lnSpc>
            </a:pP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На данных площадках представлены упоминания всех исследуемых брендов. </a:t>
            </a:r>
          </a:p>
          <a:p>
            <a:pPr algn="just"/>
            <a:endParaRPr lang="ru-RU" sz="2400" b="1" u="sng" dirty="0">
              <a:solidFill>
                <a:srgbClr val="000000"/>
              </a:solidFill>
              <a:latin typeface="PF DinDisplay Pro" panose="02000506030000020004" pitchFamily="2" charset="0"/>
              <a:cs typeface="Open Sans"/>
            </a:endParaRPr>
          </a:p>
          <a:p>
            <a:r>
              <a:rPr lang="ru-RU" sz="2400" b="1" u="sng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Рекомендация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: при продвижении бренда в интернет-пространстве размещать материалы на разных типах площадок, так как конкуренты активно на них представлены.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Это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позволяет делать максимально широкий охват аудитории.</a:t>
            </a:r>
            <a:b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</a:br>
            <a:endParaRPr lang="ru-RU" sz="2400" dirty="0">
              <a:solidFill>
                <a:srgbClr val="000000"/>
              </a:solidFill>
              <a:latin typeface="PF DinDisplay Pro" panose="02000506030000020004" pitchFamily="2" charset="0"/>
              <a:cs typeface="Open Sans"/>
            </a:endParaRPr>
          </a:p>
          <a:p>
            <a:pPr algn="just">
              <a:lnSpc>
                <a:spcPts val="4100"/>
              </a:lnSpc>
            </a:pPr>
            <a:r>
              <a:rPr lang="ru-RU" sz="2300" b="1" u="sng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Точки роста: Соц. Сети</a:t>
            </a:r>
            <a:r>
              <a:rPr lang="en-US" sz="2300" b="1" u="sng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 </a:t>
            </a:r>
            <a:r>
              <a:rPr lang="ru-RU" sz="2300" b="1" u="sng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(приоритет </a:t>
            </a:r>
            <a:r>
              <a:rPr lang="en-US" sz="2300" b="1" u="sng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Vk.com</a:t>
            </a:r>
            <a:r>
              <a:rPr lang="ru-RU" sz="2300" b="1" u="sng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), Блоги (</a:t>
            </a:r>
            <a:r>
              <a:rPr lang="en-US" sz="2300" b="1" u="sng" dirty="0" err="1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Dzen</a:t>
            </a:r>
            <a:r>
              <a:rPr lang="ru-RU" sz="2300" b="1" u="sng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), Видео, </a:t>
            </a:r>
            <a:r>
              <a:rPr lang="ru-RU" sz="2300" b="1" u="sng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Мессенджеры (кросс </a:t>
            </a:r>
            <a:r>
              <a:rPr lang="ru-RU" sz="2300" b="1" u="sng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постинг). </a:t>
            </a:r>
            <a:endParaRPr lang="ru-RU" sz="2300" b="1" u="sng" dirty="0">
              <a:solidFill>
                <a:srgbClr val="000000"/>
              </a:solidFill>
              <a:latin typeface="PF DinDisplay Pro" panose="02000506030000020004" pitchFamily="2" charset="0"/>
              <a:cs typeface="Open Sans"/>
            </a:endParaRPr>
          </a:p>
        </p:txBody>
      </p:sp>
      <p:graphicFrame>
        <p:nvGraphicFramePr>
          <p:cNvPr id="11" name="Диаграмма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63964476"/>
              </p:ext>
            </p:extLst>
          </p:nvPr>
        </p:nvGraphicFramePr>
        <p:xfrm>
          <a:off x="1828800" y="2694214"/>
          <a:ext cx="21134692" cy="59762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75611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14:reveal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/>
          <p:cNvGrpSpPr/>
          <p:nvPr/>
        </p:nvGrpSpPr>
        <p:grpSpPr>
          <a:xfrm>
            <a:off x="493485" y="483017"/>
            <a:ext cx="23367999" cy="2079087"/>
            <a:chOff x="5312170" y="483017"/>
            <a:chExt cx="13796525" cy="2079087"/>
          </a:xfrm>
        </p:grpSpPr>
        <p:sp>
          <p:nvSpPr>
            <p:cNvPr id="33" name="TextBox 32"/>
            <p:cNvSpPr txBox="1"/>
            <p:nvPr/>
          </p:nvSpPr>
          <p:spPr>
            <a:xfrm>
              <a:off x="5312170" y="483017"/>
              <a:ext cx="13796525" cy="1323421"/>
            </a:xfrm>
            <a:prstGeom prst="rect">
              <a:avLst/>
            </a:prstGeom>
            <a:noFill/>
          </p:spPr>
          <p:txBody>
            <a:bodyPr wrap="square" lIns="91422" tIns="45711" rIns="91422" bIns="45711" rtlCol="0">
              <a:spAutoFit/>
            </a:bodyPr>
            <a:lstStyle/>
            <a:p>
              <a:pPr algn="ctr"/>
              <a:r>
                <a:rPr lang="ru-RU" sz="8000" b="1" dirty="0">
                  <a:solidFill>
                    <a:srgbClr val="000000"/>
                  </a:solidFill>
                  <a:latin typeface="PF DinDisplay Pro" panose="02000506030000020004" pitchFamily="2" charset="0"/>
                  <a:cs typeface="Open Sans"/>
                </a:rPr>
                <a:t>Мониторинг </a:t>
              </a:r>
              <a:endParaRPr lang="id-ID" sz="8000" b="1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1412311" y="2470667"/>
              <a:ext cx="1553038" cy="9143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339" tIns="45672" rIns="91339" bIns="45672" rtlCol="0" anchor="ctr"/>
            <a:lstStyle/>
            <a:p>
              <a:pPr algn="ctr"/>
              <a:endParaRPr lang="en-US" dirty="0">
                <a:solidFill>
                  <a:schemeClr val="accent2"/>
                </a:solidFill>
                <a:latin typeface="PF DinDisplay Pro" panose="02000506030000020004" pitchFamily="2" charset="0"/>
              </a:endParaRPr>
            </a:p>
          </p:txBody>
        </p:sp>
        <p:sp>
          <p:nvSpPr>
            <p:cNvPr id="35" name="Subtitle 2"/>
            <p:cNvSpPr txBox="1">
              <a:spLocks/>
            </p:cNvSpPr>
            <p:nvPr/>
          </p:nvSpPr>
          <p:spPr>
            <a:xfrm>
              <a:off x="6361236" y="1634834"/>
              <a:ext cx="11655185" cy="839116"/>
            </a:xfrm>
            <a:prstGeom prst="rect">
              <a:avLst/>
            </a:prstGeom>
          </p:spPr>
          <p:txBody>
            <a:bodyPr vert="horz" lIns="217490" tIns="108745" rIns="217490" bIns="108745" rtlCol="0">
              <a:norm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Open Sans"/>
                <a:buNone/>
                <a:defRPr sz="2400" kern="1200">
                  <a:solidFill>
                    <a:schemeClr val="tx2"/>
                  </a:solidFill>
                  <a:latin typeface="Open Sans"/>
                  <a:ea typeface="+mn-ea"/>
                  <a:cs typeface="Open Sans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31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endParaRPr>
            </a:p>
          </p:txBody>
        </p:sp>
      </p:grpSp>
      <p:sp>
        <p:nvSpPr>
          <p:cNvPr id="17" name="Content Placeholder 2">
            <a:extLst>
              <a:ext uri="{FF2B5EF4-FFF2-40B4-BE49-F238E27FC236}">
                <a16:creationId xmlns="" xmlns:a16="http://schemas.microsoft.com/office/drawing/2014/main" id="{655D268E-C67B-41FF-BCDC-1144DBA9811B}"/>
              </a:ext>
            </a:extLst>
          </p:cNvPr>
          <p:cNvSpPr txBox="1">
            <a:spLocks/>
          </p:cNvSpPr>
          <p:nvPr/>
        </p:nvSpPr>
        <p:spPr bwMode="auto">
          <a:xfrm>
            <a:off x="10578546" y="13259226"/>
            <a:ext cx="3282370" cy="490431"/>
          </a:xfrm>
          <a:prstGeom prst="rect">
            <a:avLst/>
          </a:prstGeom>
        </p:spPr>
        <p:txBody>
          <a:bodyPr wrap="square" lIns="182843" tIns="91422" rIns="182843" bIns="91422" numCol="1" anchor="t" anchorCtr="0" compatLnSpc="1">
            <a:prstTxWarp prst="textNoShape">
              <a:avLst/>
            </a:prstTxWarp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Open Sans"/>
                <a:cs typeface="Open Sans"/>
              </a:rPr>
              <a:t>wbooster.ru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="" xmlns:a16="http://schemas.microsoft.com/office/drawing/2014/main" id="{096E1E1C-42FD-4B10-AFAC-95EFF8947E27}"/>
              </a:ext>
            </a:extLst>
          </p:cNvPr>
          <p:cNvSpPr txBox="1">
            <a:spLocks/>
          </p:cNvSpPr>
          <p:nvPr/>
        </p:nvSpPr>
        <p:spPr>
          <a:xfrm>
            <a:off x="2366216" y="1596860"/>
            <a:ext cx="19741083" cy="839116"/>
          </a:xfrm>
          <a:prstGeom prst="rect">
            <a:avLst/>
          </a:prstGeom>
        </p:spPr>
        <p:txBody>
          <a:bodyPr vert="horz" lIns="217490" tIns="108745" rIns="217490" bIns="108745" rtlCol="0">
            <a:norm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Open Sans"/>
              <a:buNone/>
              <a:defRPr sz="240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100" b="1" dirty="0">
                <a:solidFill>
                  <a:schemeClr val="bg2">
                    <a:lumMod val="65000"/>
                  </a:schemeClr>
                </a:solidFill>
                <a:latin typeface="PF DinDisplay Pro" panose="02000506030000020004" pitchFamily="2" charset="0"/>
                <a:cs typeface="Open Sans"/>
              </a:rPr>
              <a:t>Источники</a:t>
            </a:r>
            <a:endParaRPr lang="ru-RU" sz="3100" dirty="0">
              <a:solidFill>
                <a:schemeClr val="bg2">
                  <a:lumMod val="65000"/>
                </a:schemeClr>
              </a:solidFill>
              <a:latin typeface="PF DinDisplay Pro" panose="02000506030000020004" pitchFamily="2" charset="0"/>
              <a:cs typeface="Open Sa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6AA34C1-1B4E-45DE-BB7D-DB8FC311AF6B}"/>
              </a:ext>
            </a:extLst>
          </p:cNvPr>
          <p:cNvSpPr txBox="1"/>
          <p:nvPr/>
        </p:nvSpPr>
        <p:spPr>
          <a:xfrm>
            <a:off x="2039529" y="9687469"/>
            <a:ext cx="20853128" cy="2721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4100"/>
              </a:lnSpc>
            </a:pP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Самые активные площадки, где упоминаются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 исследуемые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бренды – 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vk.com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, 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telegram.org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, 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instagram.com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, 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dzen.ru</a:t>
            </a:r>
            <a:endParaRPr lang="ru-RU" sz="2400" b="1" u="sng" dirty="0">
              <a:solidFill>
                <a:srgbClr val="000000"/>
              </a:solidFill>
              <a:latin typeface="PF DinDisplay Pro" panose="02000506030000020004" pitchFamily="2" charset="0"/>
              <a:cs typeface="Open Sans"/>
            </a:endParaRPr>
          </a:p>
          <a:p>
            <a:pPr algn="just">
              <a:lnSpc>
                <a:spcPts val="4100"/>
              </a:lnSpc>
            </a:pPr>
            <a:r>
              <a:rPr lang="ru-RU" sz="2400" b="1" u="sng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Рекомендация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: при продвижении бренда в интернет-пространстве делать упор на указанные площадки, так как конкуренты активно на них представлены.    </a:t>
            </a:r>
            <a:b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</a:br>
            <a:r>
              <a:rPr lang="ru-RU" sz="2400" b="1" u="sng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Точки роста: Соц. Сети</a:t>
            </a:r>
            <a:r>
              <a:rPr lang="en-US" sz="2400" b="1" u="sng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 </a:t>
            </a:r>
            <a:r>
              <a:rPr lang="ru-RU" sz="2400" b="1" u="sng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(приоритет </a:t>
            </a:r>
            <a:r>
              <a:rPr lang="en-US" sz="2400" b="1" u="sng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Vk.com</a:t>
            </a:r>
            <a:r>
              <a:rPr lang="ru-RU" sz="2400" b="1" u="sng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), Блоги (</a:t>
            </a:r>
            <a:r>
              <a:rPr lang="en-US" sz="2400" b="1" u="sng" dirty="0" err="1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Dzen</a:t>
            </a:r>
            <a:r>
              <a:rPr lang="ru-RU" sz="2400" b="1" u="sng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), Видео, Мессенджеры - добавление </a:t>
            </a:r>
            <a:r>
              <a:rPr lang="en-US" sz="2400" b="1" u="sng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MAX </a:t>
            </a:r>
            <a:r>
              <a:rPr lang="ru-RU" sz="2400" b="1" u="sng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как дополнительной площадки для распространения информации о бренде). </a:t>
            </a:r>
            <a:endParaRPr lang="ru-RU" sz="2400" b="1" u="sng" dirty="0">
              <a:solidFill>
                <a:srgbClr val="000000"/>
              </a:solidFill>
              <a:latin typeface="PF DinDisplay Pro" panose="02000506030000020004" pitchFamily="2" charset="0"/>
              <a:cs typeface="Open Sans"/>
            </a:endParaRPr>
          </a:p>
          <a:p>
            <a:pPr algn="just">
              <a:lnSpc>
                <a:spcPts val="4100"/>
              </a:lnSpc>
            </a:pPr>
            <a:endParaRPr lang="ru-RU" sz="2400" dirty="0">
              <a:solidFill>
                <a:srgbClr val="000000"/>
              </a:solidFill>
              <a:latin typeface="PF DinDisplay Pro" panose="02000506030000020004" pitchFamily="2" charset="0"/>
              <a:cs typeface="Open Sans"/>
            </a:endParaRPr>
          </a:p>
        </p:txBody>
      </p:sp>
      <p:graphicFrame>
        <p:nvGraphicFramePr>
          <p:cNvPr id="11" name="Диаграмма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97866265"/>
              </p:ext>
            </p:extLst>
          </p:nvPr>
        </p:nvGraphicFramePr>
        <p:xfrm>
          <a:off x="2039529" y="2743201"/>
          <a:ext cx="20706171" cy="66457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51173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14:reveal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/>
          <p:cNvGrpSpPr/>
          <p:nvPr/>
        </p:nvGrpSpPr>
        <p:grpSpPr>
          <a:xfrm>
            <a:off x="493485" y="483017"/>
            <a:ext cx="23367999" cy="2079087"/>
            <a:chOff x="5312170" y="483017"/>
            <a:chExt cx="13796525" cy="2079087"/>
          </a:xfrm>
        </p:grpSpPr>
        <p:sp>
          <p:nvSpPr>
            <p:cNvPr id="33" name="TextBox 32"/>
            <p:cNvSpPr txBox="1"/>
            <p:nvPr/>
          </p:nvSpPr>
          <p:spPr>
            <a:xfrm>
              <a:off x="5312170" y="483017"/>
              <a:ext cx="13796525" cy="1323421"/>
            </a:xfrm>
            <a:prstGeom prst="rect">
              <a:avLst/>
            </a:prstGeom>
            <a:noFill/>
          </p:spPr>
          <p:txBody>
            <a:bodyPr wrap="square" lIns="91422" tIns="45711" rIns="91422" bIns="45711" rtlCol="0">
              <a:spAutoFit/>
            </a:bodyPr>
            <a:lstStyle/>
            <a:p>
              <a:pPr algn="ctr"/>
              <a:r>
                <a:rPr lang="ru-RU" sz="8000" b="1" dirty="0">
                  <a:solidFill>
                    <a:srgbClr val="000000"/>
                  </a:solidFill>
                  <a:latin typeface="PF DinDisplay Pro" panose="02000506030000020004" pitchFamily="2" charset="0"/>
                  <a:cs typeface="Open Sans"/>
                </a:rPr>
                <a:t>Мониторинг </a:t>
              </a:r>
              <a:endParaRPr lang="id-ID" sz="8000" b="1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1412311" y="2470667"/>
              <a:ext cx="1553038" cy="9143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339" tIns="45672" rIns="91339" bIns="45672" rtlCol="0" anchor="ctr"/>
            <a:lstStyle/>
            <a:p>
              <a:pPr algn="ctr"/>
              <a:endParaRPr lang="en-US" dirty="0">
                <a:solidFill>
                  <a:schemeClr val="accent2"/>
                </a:solidFill>
                <a:latin typeface="PF DinDisplay Pro" panose="02000506030000020004" pitchFamily="2" charset="0"/>
              </a:endParaRPr>
            </a:p>
          </p:txBody>
        </p:sp>
        <p:sp>
          <p:nvSpPr>
            <p:cNvPr id="35" name="Subtitle 2"/>
            <p:cNvSpPr txBox="1">
              <a:spLocks/>
            </p:cNvSpPr>
            <p:nvPr/>
          </p:nvSpPr>
          <p:spPr>
            <a:xfrm>
              <a:off x="6361236" y="1634834"/>
              <a:ext cx="11655185" cy="839116"/>
            </a:xfrm>
            <a:prstGeom prst="rect">
              <a:avLst/>
            </a:prstGeom>
          </p:spPr>
          <p:txBody>
            <a:bodyPr vert="horz" lIns="217490" tIns="108745" rIns="217490" bIns="108745" rtlCol="0">
              <a:norm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Open Sans"/>
                <a:buNone/>
                <a:defRPr sz="2400" kern="1200">
                  <a:solidFill>
                    <a:schemeClr val="tx2"/>
                  </a:solidFill>
                  <a:latin typeface="Open Sans"/>
                  <a:ea typeface="+mn-ea"/>
                  <a:cs typeface="Open Sans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31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endParaRPr>
            </a:p>
          </p:txBody>
        </p:sp>
      </p:grpSp>
      <p:sp>
        <p:nvSpPr>
          <p:cNvPr id="17" name="Content Placeholder 2">
            <a:extLst>
              <a:ext uri="{FF2B5EF4-FFF2-40B4-BE49-F238E27FC236}">
                <a16:creationId xmlns="" xmlns:a16="http://schemas.microsoft.com/office/drawing/2014/main" id="{655D268E-C67B-41FF-BCDC-1144DBA9811B}"/>
              </a:ext>
            </a:extLst>
          </p:cNvPr>
          <p:cNvSpPr txBox="1">
            <a:spLocks/>
          </p:cNvSpPr>
          <p:nvPr/>
        </p:nvSpPr>
        <p:spPr bwMode="auto">
          <a:xfrm>
            <a:off x="10578546" y="13259226"/>
            <a:ext cx="3282370" cy="490431"/>
          </a:xfrm>
          <a:prstGeom prst="rect">
            <a:avLst/>
          </a:prstGeom>
        </p:spPr>
        <p:txBody>
          <a:bodyPr wrap="square" lIns="182843" tIns="91422" rIns="182843" bIns="91422" numCol="1" anchor="t" anchorCtr="0" compatLnSpc="1">
            <a:prstTxWarp prst="textNoShape">
              <a:avLst/>
            </a:prstTxWarp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Open Sans"/>
                <a:cs typeface="Open Sans"/>
              </a:rPr>
              <a:t>wbooster.ru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="" xmlns:a16="http://schemas.microsoft.com/office/drawing/2014/main" id="{096E1E1C-42FD-4B10-AFAC-95EFF8947E27}"/>
              </a:ext>
            </a:extLst>
          </p:cNvPr>
          <p:cNvSpPr txBox="1">
            <a:spLocks/>
          </p:cNvSpPr>
          <p:nvPr/>
        </p:nvSpPr>
        <p:spPr>
          <a:xfrm>
            <a:off x="2366216" y="1596860"/>
            <a:ext cx="19741083" cy="839116"/>
          </a:xfrm>
          <a:prstGeom prst="rect">
            <a:avLst/>
          </a:prstGeom>
        </p:spPr>
        <p:txBody>
          <a:bodyPr vert="horz" lIns="217490" tIns="108745" rIns="217490" bIns="108745" rtlCol="0">
            <a:norm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Open Sans"/>
              <a:buNone/>
              <a:defRPr sz="240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100" b="1" dirty="0">
                <a:solidFill>
                  <a:schemeClr val="bg2">
                    <a:lumMod val="65000"/>
                  </a:schemeClr>
                </a:solidFill>
                <a:latin typeface="PF DinDisplay Pro" panose="02000506030000020004" pitchFamily="2" charset="0"/>
                <a:cs typeface="Open Sans"/>
              </a:rPr>
              <a:t>Аудитория</a:t>
            </a:r>
            <a:endParaRPr lang="ru-RU" sz="3100" dirty="0">
              <a:solidFill>
                <a:schemeClr val="bg2">
                  <a:lumMod val="65000"/>
                </a:schemeClr>
              </a:solidFill>
              <a:latin typeface="PF DinDisplay Pro" panose="02000506030000020004" pitchFamily="2" charset="0"/>
              <a:cs typeface="Open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28799" y="2516385"/>
            <a:ext cx="2100813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u="sng" dirty="0">
                <a:solidFill>
                  <a:srgbClr val="000000"/>
                </a:solidFill>
                <a:latin typeface="PF DinDisplay Pro" panose="02000506030000020004" pitchFamily="2" charset="0"/>
              </a:rPr>
              <a:t>Потенциальная максимальная аудитория</a:t>
            </a:r>
            <a:r>
              <a:rPr lang="ru-RU" sz="2400" b="1" dirty="0">
                <a:solidFill>
                  <a:srgbClr val="000000"/>
                </a:solidFill>
                <a:latin typeface="PF DinDisplay Pro" panose="02000506030000020004" pitchFamily="2" charset="0"/>
              </a:rPr>
              <a:t> 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упоминаний бренда и конкурентов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по всем источникам составляет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 4,3 млн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. человек. </a:t>
            </a:r>
          </a:p>
          <a:p>
            <a:pPr algn="just">
              <a:lnSpc>
                <a:spcPct val="150000"/>
              </a:lnSpc>
            </a:pPr>
            <a:r>
              <a:rPr lang="ru-RU" sz="2400" b="1" u="sng" dirty="0">
                <a:solidFill>
                  <a:srgbClr val="000000"/>
                </a:solidFill>
                <a:latin typeface="PF DinDisplay Pro" panose="02000506030000020004" pitchFamily="2" charset="0"/>
              </a:rPr>
              <a:t>Самая многочисленная аудитория</a:t>
            </a:r>
            <a:r>
              <a:rPr lang="ru-RU" sz="2400" b="1" dirty="0">
                <a:solidFill>
                  <a:srgbClr val="000000"/>
                </a:solidFill>
                <a:latin typeface="PF DinDisplay Pro" panose="02000506030000020004" pitchFamily="2" charset="0"/>
              </a:rPr>
              <a:t>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на 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youtube.com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 и 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telegram.org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– по 1,3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млн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. человек, на втором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 месте  –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vk.com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 – 1,1 млн. чел,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на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третьем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instagram.com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-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– 442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тыс. чел.</a:t>
            </a:r>
            <a:endParaRPr lang="ru-RU" sz="2400" u="sng" dirty="0">
              <a:solidFill>
                <a:srgbClr val="000000"/>
              </a:solidFill>
              <a:latin typeface="PF DinDisplay Pro" panose="02000506030000020004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b="1" u="sng" dirty="0">
                <a:solidFill>
                  <a:srgbClr val="000000"/>
                </a:solidFill>
                <a:latin typeface="PF DinDisplay Pro" panose="02000506030000020004" pitchFamily="2" charset="0"/>
              </a:rPr>
              <a:t>Вовлеченность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 (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сумма комментариев, лайков и репостов)  – 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11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тыс. </a:t>
            </a:r>
          </a:p>
          <a:p>
            <a:pPr algn="just">
              <a:lnSpc>
                <a:spcPct val="150000"/>
              </a:lnSpc>
            </a:pP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По вовлеченности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лидирует 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instagram.com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– 4,8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тыс., на втором месте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- 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youtube.com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 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– 2,9 тыс., на третьем месте –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vk.com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–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  1,6 тыс. 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По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числу просмотров лидирует 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vk.com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 –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203 тыс.,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на втором месте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- 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telegram.org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 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– 112 тыс.</a:t>
            </a:r>
            <a:endParaRPr lang="ru-RU" sz="2400" dirty="0">
              <a:solidFill>
                <a:srgbClr val="000000"/>
              </a:solidFill>
              <a:latin typeface="PF DinDisplay Pro" panose="02000506030000020004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b="1" u="sng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Рекомендация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: при продвижении бренда в интернет-пространстве делать упор на 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vk.com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, 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telegram.org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, 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max.ru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 и 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youtube.com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 (по возможности) как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площадки с самой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большой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и активной аудиторией.</a:t>
            </a:r>
            <a:endParaRPr lang="ru-RU" sz="2400" dirty="0">
              <a:solidFill>
                <a:srgbClr val="000000"/>
              </a:solidFill>
              <a:latin typeface="PF DinDisplay Pro" panose="02000506030000020004" pitchFamily="2" charset="0"/>
            </a:endParaRPr>
          </a:p>
        </p:txBody>
      </p:sp>
      <p:graphicFrame>
        <p:nvGraphicFramePr>
          <p:cNvPr id="13" name="Диаграмма 1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16990066"/>
              </p:ext>
            </p:extLst>
          </p:nvPr>
        </p:nvGraphicFramePr>
        <p:xfrm>
          <a:off x="2225943" y="7040700"/>
          <a:ext cx="9677586" cy="5646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8" name="Диаграмма 1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64216065"/>
              </p:ext>
            </p:extLst>
          </p:nvPr>
        </p:nvGraphicFramePr>
        <p:xfrm>
          <a:off x="12586151" y="7040699"/>
          <a:ext cx="10633077" cy="54343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892471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14:reveal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/>
          <p:cNvGrpSpPr/>
          <p:nvPr/>
        </p:nvGrpSpPr>
        <p:grpSpPr>
          <a:xfrm>
            <a:off x="493485" y="483017"/>
            <a:ext cx="23367999" cy="2079087"/>
            <a:chOff x="5312170" y="483017"/>
            <a:chExt cx="13796525" cy="2079087"/>
          </a:xfrm>
        </p:grpSpPr>
        <p:sp>
          <p:nvSpPr>
            <p:cNvPr id="33" name="TextBox 32"/>
            <p:cNvSpPr txBox="1"/>
            <p:nvPr/>
          </p:nvSpPr>
          <p:spPr>
            <a:xfrm>
              <a:off x="5312170" y="483017"/>
              <a:ext cx="13796525" cy="1323421"/>
            </a:xfrm>
            <a:prstGeom prst="rect">
              <a:avLst/>
            </a:prstGeom>
            <a:noFill/>
          </p:spPr>
          <p:txBody>
            <a:bodyPr wrap="square" lIns="91422" tIns="45711" rIns="91422" bIns="45711" rtlCol="0">
              <a:spAutoFit/>
            </a:bodyPr>
            <a:lstStyle/>
            <a:p>
              <a:pPr algn="ctr"/>
              <a:r>
                <a:rPr lang="ru-RU" sz="8000" b="1" dirty="0">
                  <a:solidFill>
                    <a:srgbClr val="000000"/>
                  </a:solidFill>
                  <a:latin typeface="PF DinDisplay Pro" panose="02000506030000020004" pitchFamily="2" charset="0"/>
                  <a:cs typeface="Open Sans"/>
                </a:rPr>
                <a:t>Мониторинг </a:t>
              </a:r>
              <a:endParaRPr lang="id-ID" sz="8000" b="1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1412311" y="2470667"/>
              <a:ext cx="1553038" cy="9143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339" tIns="45672" rIns="91339" bIns="45672" rtlCol="0" anchor="ctr"/>
            <a:lstStyle/>
            <a:p>
              <a:pPr algn="ctr"/>
              <a:endParaRPr lang="en-US" dirty="0">
                <a:solidFill>
                  <a:schemeClr val="accent2"/>
                </a:solidFill>
                <a:latin typeface="PF DinDisplay Pro" panose="02000506030000020004" pitchFamily="2" charset="0"/>
              </a:endParaRPr>
            </a:p>
          </p:txBody>
        </p:sp>
        <p:sp>
          <p:nvSpPr>
            <p:cNvPr id="35" name="Subtitle 2"/>
            <p:cNvSpPr txBox="1">
              <a:spLocks/>
            </p:cNvSpPr>
            <p:nvPr/>
          </p:nvSpPr>
          <p:spPr>
            <a:xfrm>
              <a:off x="6361236" y="1634834"/>
              <a:ext cx="11655185" cy="839116"/>
            </a:xfrm>
            <a:prstGeom prst="rect">
              <a:avLst/>
            </a:prstGeom>
          </p:spPr>
          <p:txBody>
            <a:bodyPr vert="horz" lIns="217490" tIns="108745" rIns="217490" bIns="108745" rtlCol="0">
              <a:norm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Open Sans"/>
                <a:buNone/>
                <a:defRPr sz="2400" kern="1200">
                  <a:solidFill>
                    <a:schemeClr val="tx2"/>
                  </a:solidFill>
                  <a:latin typeface="Open Sans"/>
                  <a:ea typeface="+mn-ea"/>
                  <a:cs typeface="Open Sans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31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endParaRPr>
            </a:p>
          </p:txBody>
        </p:sp>
      </p:grpSp>
      <p:sp>
        <p:nvSpPr>
          <p:cNvPr id="17" name="Content Placeholder 2">
            <a:extLst>
              <a:ext uri="{FF2B5EF4-FFF2-40B4-BE49-F238E27FC236}">
                <a16:creationId xmlns="" xmlns:a16="http://schemas.microsoft.com/office/drawing/2014/main" id="{655D268E-C67B-41FF-BCDC-1144DBA9811B}"/>
              </a:ext>
            </a:extLst>
          </p:cNvPr>
          <p:cNvSpPr txBox="1">
            <a:spLocks/>
          </p:cNvSpPr>
          <p:nvPr/>
        </p:nvSpPr>
        <p:spPr bwMode="auto">
          <a:xfrm>
            <a:off x="10578546" y="13259226"/>
            <a:ext cx="3282370" cy="490431"/>
          </a:xfrm>
          <a:prstGeom prst="rect">
            <a:avLst/>
          </a:prstGeom>
        </p:spPr>
        <p:txBody>
          <a:bodyPr wrap="square" lIns="182843" tIns="91422" rIns="182843" bIns="91422" numCol="1" anchor="t" anchorCtr="0" compatLnSpc="1">
            <a:prstTxWarp prst="textNoShape">
              <a:avLst/>
            </a:prstTxWarp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Open Sans"/>
                <a:cs typeface="Open Sans"/>
              </a:rPr>
              <a:t>wbooster.ru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="" xmlns:a16="http://schemas.microsoft.com/office/drawing/2014/main" id="{096E1E1C-42FD-4B10-AFAC-95EFF8947E27}"/>
              </a:ext>
            </a:extLst>
          </p:cNvPr>
          <p:cNvSpPr txBox="1">
            <a:spLocks/>
          </p:cNvSpPr>
          <p:nvPr/>
        </p:nvSpPr>
        <p:spPr>
          <a:xfrm>
            <a:off x="2366216" y="1596860"/>
            <a:ext cx="19741083" cy="839116"/>
          </a:xfrm>
          <a:prstGeom prst="rect">
            <a:avLst/>
          </a:prstGeom>
        </p:spPr>
        <p:txBody>
          <a:bodyPr vert="horz" lIns="217490" tIns="108745" rIns="217490" bIns="108745" rtlCol="0">
            <a:norm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Open Sans"/>
              <a:buNone/>
              <a:defRPr sz="240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100" b="1" dirty="0">
                <a:solidFill>
                  <a:schemeClr val="bg2">
                    <a:lumMod val="65000"/>
                  </a:schemeClr>
                </a:solidFill>
                <a:latin typeface="PF DinDisplay Pro" panose="02000506030000020004" pitchFamily="2" charset="0"/>
                <a:cs typeface="Open Sans"/>
              </a:rPr>
              <a:t>Аудитория</a:t>
            </a:r>
            <a:endParaRPr lang="ru-RU" sz="3100" dirty="0">
              <a:solidFill>
                <a:schemeClr val="bg2">
                  <a:lumMod val="65000"/>
                </a:schemeClr>
              </a:solidFill>
              <a:latin typeface="PF DinDisplay Pro" panose="02000506030000020004" pitchFamily="2" charset="0"/>
              <a:cs typeface="Open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072070" y="2719153"/>
            <a:ext cx="2029532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u="sng" dirty="0">
                <a:solidFill>
                  <a:srgbClr val="000000"/>
                </a:solidFill>
                <a:latin typeface="PF DinDisplay Pro" panose="02000506030000020004" pitchFamily="2" charset="0"/>
              </a:rPr>
              <a:t>Анализ в разрезе по брендам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показал, что самая большая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 потенциальная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аудитория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 в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исследуемом периоде у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бренда 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Docke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– 2,4 млн. чел., на втором месте – 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Tegola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 –  2,3 тыс. чел., на третьем месте 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Quiet Tile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 – 160 тыс. чел. Самый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маленький показатель – у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PF DinDisplay Pro" panose="02000506030000020004" pitchFamily="2" charset="0"/>
              </a:rPr>
              <a:t>Faracs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 – 72 тыс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. человек.</a:t>
            </a:r>
          </a:p>
          <a:p>
            <a:pPr algn="just"/>
            <a:endParaRPr lang="ru-RU" sz="2400" u="sng" dirty="0">
              <a:solidFill>
                <a:srgbClr val="000000"/>
              </a:solidFill>
              <a:latin typeface="PF DinDisplay Pro" panose="02000506030000020004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u="sng" dirty="0">
                <a:solidFill>
                  <a:srgbClr val="000000"/>
                </a:solidFill>
                <a:latin typeface="PF DinDisplay Pro" panose="02000506030000020004" pitchFamily="2" charset="0"/>
              </a:rPr>
              <a:t>Самая высокая активность аудитории </a:t>
            </a:r>
            <a:r>
              <a:rPr lang="ru-RU" sz="2400" u="sng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 (число просмотров и вовлеченность)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связана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с  упоминаниями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Docke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и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Tegola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.</a:t>
            </a:r>
            <a:endParaRPr lang="ru-RU" sz="2400" dirty="0">
              <a:solidFill>
                <a:srgbClr val="000000"/>
              </a:solidFill>
              <a:latin typeface="PF DinDisplay Pro" panose="02000506030000020004" pitchFamily="2" charset="0"/>
            </a:endParaRPr>
          </a:p>
        </p:txBody>
      </p:sp>
      <p:graphicFrame>
        <p:nvGraphicFramePr>
          <p:cNvPr id="12" name="Диаграмма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42793250"/>
              </p:ext>
            </p:extLst>
          </p:nvPr>
        </p:nvGraphicFramePr>
        <p:xfrm>
          <a:off x="2072071" y="5502729"/>
          <a:ext cx="8329230" cy="65804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Диаграмма 1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51506077"/>
              </p:ext>
            </p:extLst>
          </p:nvPr>
        </p:nvGraphicFramePr>
        <p:xfrm>
          <a:off x="11185071" y="5502729"/>
          <a:ext cx="11527971" cy="65804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88216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14:reveal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/>
          <p:cNvGrpSpPr/>
          <p:nvPr/>
        </p:nvGrpSpPr>
        <p:grpSpPr>
          <a:xfrm>
            <a:off x="2270351" y="1709133"/>
            <a:ext cx="19741083" cy="927270"/>
            <a:chOff x="6361236" y="1634834"/>
            <a:chExt cx="11655185" cy="927270"/>
          </a:xfrm>
        </p:grpSpPr>
        <p:sp>
          <p:nvSpPr>
            <p:cNvPr id="34" name="Rectangle 33"/>
            <p:cNvSpPr/>
            <p:nvPr/>
          </p:nvSpPr>
          <p:spPr>
            <a:xfrm>
              <a:off x="11412311" y="2470667"/>
              <a:ext cx="1553038" cy="9143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339" tIns="45672" rIns="91339" bIns="45672" rtlCol="0" anchor="ctr"/>
            <a:lstStyle/>
            <a:p>
              <a:pPr algn="ctr"/>
              <a:endParaRPr lang="en-US" dirty="0">
                <a:solidFill>
                  <a:schemeClr val="accent2"/>
                </a:solidFill>
                <a:latin typeface="PF DinDisplay Pro" panose="02000506030000020004" pitchFamily="2" charset="0"/>
              </a:endParaRPr>
            </a:p>
          </p:txBody>
        </p:sp>
        <p:sp>
          <p:nvSpPr>
            <p:cNvPr id="35" name="Subtitle 2"/>
            <p:cNvSpPr txBox="1">
              <a:spLocks/>
            </p:cNvSpPr>
            <p:nvPr/>
          </p:nvSpPr>
          <p:spPr>
            <a:xfrm>
              <a:off x="6361236" y="1634834"/>
              <a:ext cx="11655185" cy="839116"/>
            </a:xfrm>
            <a:prstGeom prst="rect">
              <a:avLst/>
            </a:prstGeom>
          </p:spPr>
          <p:txBody>
            <a:bodyPr vert="horz" lIns="217490" tIns="108745" rIns="217490" bIns="108745" rtlCol="0">
              <a:norm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Open Sans"/>
                <a:buNone/>
                <a:defRPr sz="2400" kern="1200">
                  <a:solidFill>
                    <a:schemeClr val="tx2"/>
                  </a:solidFill>
                  <a:latin typeface="Open Sans"/>
                  <a:ea typeface="+mn-ea"/>
                  <a:cs typeface="Open Sans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31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endParaRPr>
            </a:p>
          </p:txBody>
        </p:sp>
      </p:grpSp>
      <p:sp>
        <p:nvSpPr>
          <p:cNvPr id="17" name="Content Placeholder 2">
            <a:extLst>
              <a:ext uri="{FF2B5EF4-FFF2-40B4-BE49-F238E27FC236}">
                <a16:creationId xmlns="" xmlns:a16="http://schemas.microsoft.com/office/drawing/2014/main" id="{655D268E-C67B-41FF-BCDC-1144DBA9811B}"/>
              </a:ext>
            </a:extLst>
          </p:cNvPr>
          <p:cNvSpPr txBox="1">
            <a:spLocks/>
          </p:cNvSpPr>
          <p:nvPr/>
        </p:nvSpPr>
        <p:spPr bwMode="auto">
          <a:xfrm>
            <a:off x="10578546" y="13259226"/>
            <a:ext cx="3282370" cy="490431"/>
          </a:xfrm>
          <a:prstGeom prst="rect">
            <a:avLst/>
          </a:prstGeom>
        </p:spPr>
        <p:txBody>
          <a:bodyPr wrap="square" lIns="182843" tIns="91422" rIns="182843" bIns="91422" numCol="1" anchor="t" anchorCtr="0" compatLnSpc="1">
            <a:prstTxWarp prst="textNoShape">
              <a:avLst/>
            </a:prstTxWarp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Open Sans"/>
                <a:cs typeface="Open Sans"/>
              </a:rPr>
              <a:t>wbooster.ru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="" xmlns:a16="http://schemas.microsoft.com/office/drawing/2014/main" id="{096E1E1C-42FD-4B10-AFAC-95EFF8947E27}"/>
              </a:ext>
            </a:extLst>
          </p:cNvPr>
          <p:cNvSpPr txBox="1">
            <a:spLocks/>
          </p:cNvSpPr>
          <p:nvPr/>
        </p:nvSpPr>
        <p:spPr>
          <a:xfrm>
            <a:off x="2366216" y="1596860"/>
            <a:ext cx="19741083" cy="839116"/>
          </a:xfrm>
          <a:prstGeom prst="rect">
            <a:avLst/>
          </a:prstGeom>
        </p:spPr>
        <p:txBody>
          <a:bodyPr vert="horz" lIns="217490" tIns="108745" rIns="217490" bIns="108745" rtlCol="0">
            <a:norm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Open Sans"/>
              <a:buNone/>
              <a:defRPr sz="240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100" b="1" dirty="0">
                <a:solidFill>
                  <a:schemeClr val="bg2">
                    <a:lumMod val="65000"/>
                  </a:schemeClr>
                </a:solidFill>
                <a:latin typeface="PF DinDisplay Pro" panose="02000506030000020004" pitchFamily="2" charset="0"/>
                <a:cs typeface="Open Sans"/>
              </a:rPr>
              <a:t>Аудитория. Пол, возраст</a:t>
            </a:r>
            <a:endParaRPr lang="ru-RU" sz="3100" dirty="0">
              <a:solidFill>
                <a:schemeClr val="bg2">
                  <a:lumMod val="65000"/>
                </a:schemeClr>
              </a:solidFill>
              <a:latin typeface="PF DinDisplay Pro" panose="02000506030000020004" pitchFamily="2" charset="0"/>
              <a:cs typeface="Open San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0F07F0D0-4895-42C2-BA12-07DCBFEC2973}"/>
              </a:ext>
            </a:extLst>
          </p:cNvPr>
          <p:cNvSpPr txBox="1"/>
          <p:nvPr/>
        </p:nvSpPr>
        <p:spPr>
          <a:xfrm>
            <a:off x="1985652" y="2894484"/>
            <a:ext cx="20310475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-US" sz="2400" dirty="0" smtClean="0">
                <a:solidFill>
                  <a:prstClr val="black"/>
                </a:solidFill>
                <a:latin typeface="PF DinDisplay Pro" panose="02000506030000020004" pitchFamily="2" charset="0"/>
              </a:rPr>
              <a:t>*</a:t>
            </a:r>
            <a:r>
              <a:rPr lang="ru-RU" sz="2400" i="1" dirty="0">
                <a:solidFill>
                  <a:srgbClr val="000000"/>
                </a:solidFill>
                <a:latin typeface="PF DinDisplay Pro" panose="02000506030000020004" pitchFamily="2" charset="0"/>
              </a:rPr>
              <a:t>Данные по полу имеются для </a:t>
            </a:r>
            <a:r>
              <a:rPr lang="ru-RU" sz="2400" i="1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 22% </a:t>
            </a:r>
            <a:r>
              <a:rPr lang="ru-RU" sz="2400" i="1" dirty="0">
                <a:solidFill>
                  <a:srgbClr val="000000"/>
                </a:solidFill>
                <a:latin typeface="PF DinDisplay Pro" panose="02000506030000020004" pitchFamily="2" charset="0"/>
              </a:rPr>
              <a:t>авторов </a:t>
            </a:r>
            <a:r>
              <a:rPr lang="ru-RU" sz="2400" i="1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темы, </a:t>
            </a:r>
            <a:r>
              <a:rPr lang="ru-RU" sz="2400" dirty="0" smtClean="0"/>
              <a:t> </a:t>
            </a:r>
            <a:r>
              <a:rPr lang="ru-RU" sz="2400" i="1" dirty="0">
                <a:solidFill>
                  <a:srgbClr val="000000"/>
                </a:solidFill>
                <a:latin typeface="PF DinDisplay Pro" panose="02000506030000020004" pitchFamily="2" charset="0"/>
              </a:rPr>
              <a:t>по возрасту – </a:t>
            </a:r>
            <a:r>
              <a:rPr lang="ru-RU" sz="2400" i="1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для   </a:t>
            </a:r>
            <a:r>
              <a:rPr lang="ru-RU" sz="2400" i="1" dirty="0">
                <a:solidFill>
                  <a:srgbClr val="000000"/>
                </a:solidFill>
                <a:latin typeface="PF DinDisplay Pro" panose="02000506030000020004" pitchFamily="2" charset="0"/>
              </a:rPr>
              <a:t>7</a:t>
            </a:r>
            <a:r>
              <a:rPr lang="ru-RU" sz="2400" i="1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% </a:t>
            </a:r>
            <a:r>
              <a:rPr lang="ru-RU" sz="2400" i="1" dirty="0">
                <a:solidFill>
                  <a:srgbClr val="000000"/>
                </a:solidFill>
                <a:latin typeface="PF DinDisplay Pro" panose="02000506030000020004" pitchFamily="2" charset="0"/>
              </a:rPr>
              <a:t>авторов темы</a:t>
            </a:r>
            <a:r>
              <a:rPr lang="ru-RU" sz="2400" i="1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.</a:t>
            </a:r>
          </a:p>
          <a:p>
            <a:pPr algn="just" defTabSz="914400"/>
            <a:endParaRPr lang="ru-RU" sz="2400" i="1" dirty="0" smtClean="0">
              <a:solidFill>
                <a:srgbClr val="000000"/>
              </a:solidFill>
              <a:latin typeface="PF DinDisplay Pro" panose="02000506030000020004" pitchFamily="2" charset="0"/>
            </a:endParaRPr>
          </a:p>
          <a:p>
            <a:pPr algn="just" defTabSz="914400">
              <a:lnSpc>
                <a:spcPct val="150000"/>
              </a:lnSpc>
            </a:pPr>
            <a:r>
              <a:rPr lang="ru-RU" sz="2400" dirty="0" smtClean="0">
                <a:solidFill>
                  <a:prstClr val="black"/>
                </a:solidFill>
                <a:latin typeface="PF DinDisplay Pro" panose="02000506030000020004" pitchFamily="2" charset="0"/>
              </a:rPr>
              <a:t>У большинства брендов</a:t>
            </a:r>
            <a:r>
              <a:rPr lang="en-US" sz="2400" dirty="0" smtClean="0">
                <a:solidFill>
                  <a:prstClr val="black"/>
                </a:solidFill>
                <a:latin typeface="PF DinDisplay Pro" panose="02000506030000020004" pitchFamily="2" charset="0"/>
              </a:rPr>
              <a:t> </a:t>
            </a:r>
            <a:r>
              <a:rPr lang="ru-RU" sz="2400" dirty="0" smtClean="0">
                <a:solidFill>
                  <a:prstClr val="black"/>
                </a:solidFill>
                <a:latin typeface="PF DinDisplay Pro" panose="02000506030000020004" pitchFamily="2" charset="0"/>
              </a:rPr>
              <a:t> авторами </a:t>
            </a:r>
            <a:r>
              <a:rPr lang="ru-RU" sz="2400" dirty="0">
                <a:solidFill>
                  <a:prstClr val="black"/>
                </a:solidFill>
                <a:latin typeface="PF DinDisplay Pro" panose="02000506030000020004" pitchFamily="2" charset="0"/>
              </a:rPr>
              <a:t>большинства упоминаний </a:t>
            </a:r>
            <a:r>
              <a:rPr lang="en-US" sz="2400" dirty="0" smtClean="0">
                <a:solidFill>
                  <a:prstClr val="black"/>
                </a:solidFill>
                <a:latin typeface="PF DinDisplay Pro" panose="02000506030000020004" pitchFamily="2" charset="0"/>
              </a:rPr>
              <a:t> </a:t>
            </a:r>
            <a:r>
              <a:rPr lang="ru-RU" sz="2400" dirty="0" smtClean="0">
                <a:solidFill>
                  <a:prstClr val="black"/>
                </a:solidFill>
                <a:latin typeface="PF DinDisplay Pro" panose="02000506030000020004" pitchFamily="2" charset="0"/>
              </a:rPr>
              <a:t>брендов являются мужчины, у </a:t>
            </a:r>
            <a:r>
              <a:rPr lang="en-US" sz="2400" dirty="0" err="1">
                <a:solidFill>
                  <a:prstClr val="black"/>
                </a:solidFill>
                <a:latin typeface="PF DinDisplay Pro" panose="02000506030000020004" pitchFamily="2" charset="0"/>
              </a:rPr>
              <a:t>Faracs</a:t>
            </a:r>
            <a:r>
              <a:rPr lang="en-US" sz="2400" dirty="0">
                <a:solidFill>
                  <a:prstClr val="black"/>
                </a:solidFill>
                <a:latin typeface="PF DinDisplay Pro" panose="02000506030000020004" pitchFamily="2" charset="0"/>
              </a:rPr>
              <a:t> </a:t>
            </a:r>
            <a:r>
              <a:rPr lang="ru-RU" sz="2400" dirty="0" smtClean="0">
                <a:solidFill>
                  <a:prstClr val="black"/>
                </a:solidFill>
                <a:latin typeface="PF DinDisplay Pro" panose="02000506030000020004" pitchFamily="2" charset="0"/>
              </a:rPr>
              <a:t>и </a:t>
            </a:r>
            <a:r>
              <a:rPr lang="en-US" sz="2400" dirty="0" smtClean="0">
                <a:solidFill>
                  <a:prstClr val="black"/>
                </a:solidFill>
                <a:latin typeface="PF DinDisplay Pro" panose="02000506030000020004" pitchFamily="2" charset="0"/>
              </a:rPr>
              <a:t>Tegola</a:t>
            </a:r>
            <a:r>
              <a:rPr lang="ru-RU" sz="2400" dirty="0" smtClean="0">
                <a:solidFill>
                  <a:prstClr val="black"/>
                </a:solidFill>
                <a:latin typeface="PF DinDisplay Pro" panose="02000506030000020004" pitchFamily="2" charset="0"/>
              </a:rPr>
              <a:t> – женщины (в связи с большим кол-вом постов об архитектуре и дизайне).</a:t>
            </a:r>
          </a:p>
          <a:p>
            <a:pPr defTabSz="914400">
              <a:lnSpc>
                <a:spcPct val="150000"/>
              </a:lnSpc>
            </a:pPr>
            <a:r>
              <a:rPr lang="ru-RU" sz="2400" dirty="0" smtClean="0">
                <a:solidFill>
                  <a:prstClr val="black"/>
                </a:solidFill>
                <a:latin typeface="PF DinDisplay Pro" panose="02000506030000020004" pitchFamily="2" charset="0"/>
              </a:rPr>
              <a:t>Преобладающий </a:t>
            </a:r>
            <a:r>
              <a:rPr lang="ru-RU" sz="2400" dirty="0">
                <a:solidFill>
                  <a:prstClr val="black"/>
                </a:solidFill>
                <a:latin typeface="PF DinDisplay Pro" panose="02000506030000020004" pitchFamily="2" charset="0"/>
              </a:rPr>
              <a:t>возраст аудитории: </a:t>
            </a:r>
            <a:r>
              <a:rPr lang="ru-RU" sz="2400" dirty="0" smtClean="0">
                <a:solidFill>
                  <a:prstClr val="black"/>
                </a:solidFill>
                <a:latin typeface="PF DinDisplay Pro" panose="02000506030000020004" pitchFamily="2" charset="0"/>
              </a:rPr>
              <a:t>у </a:t>
            </a:r>
            <a:r>
              <a:rPr lang="en-US" sz="2400" dirty="0" smtClean="0">
                <a:solidFill>
                  <a:prstClr val="black"/>
                </a:solidFill>
                <a:latin typeface="PF DinDisplay Pro" panose="02000506030000020004" pitchFamily="2" charset="0"/>
              </a:rPr>
              <a:t>Docke </a:t>
            </a:r>
            <a:r>
              <a:rPr lang="ru-RU" sz="2400" dirty="0" smtClean="0">
                <a:solidFill>
                  <a:prstClr val="black"/>
                </a:solidFill>
                <a:latin typeface="PF DinDisplay Pro" panose="02000506030000020004" pitchFamily="2" charset="0"/>
              </a:rPr>
              <a:t>- 35-44, у </a:t>
            </a:r>
            <a:r>
              <a:rPr lang="en-US" sz="2400" dirty="0" smtClean="0">
                <a:solidFill>
                  <a:prstClr val="black"/>
                </a:solidFill>
                <a:latin typeface="PF DinDisplay Pro" panose="02000506030000020004" pitchFamily="2" charset="0"/>
              </a:rPr>
              <a:t>Tegola</a:t>
            </a:r>
            <a:r>
              <a:rPr lang="ru-RU" sz="2400" dirty="0" smtClean="0">
                <a:solidFill>
                  <a:prstClr val="black"/>
                </a:solidFill>
                <a:latin typeface="PF DinDisplay Pro" panose="02000506030000020004" pitchFamily="2" charset="0"/>
              </a:rPr>
              <a:t>, </a:t>
            </a:r>
            <a:r>
              <a:rPr lang="en-US" sz="2400" dirty="0" err="1" smtClean="0">
                <a:solidFill>
                  <a:prstClr val="black"/>
                </a:solidFill>
                <a:latin typeface="PF DinDisplay Pro" panose="02000506030000020004" pitchFamily="2" charset="0"/>
              </a:rPr>
              <a:t>Faracs</a:t>
            </a:r>
            <a:r>
              <a:rPr lang="ru-RU" sz="2400" dirty="0" smtClean="0">
                <a:solidFill>
                  <a:prstClr val="black"/>
                </a:solidFill>
                <a:latin typeface="PF DinDisplay Pro" panose="02000506030000020004" pitchFamily="2" charset="0"/>
              </a:rPr>
              <a:t>, </a:t>
            </a:r>
            <a:r>
              <a:rPr lang="en-US" sz="2400" dirty="0">
                <a:solidFill>
                  <a:prstClr val="black"/>
                </a:solidFill>
                <a:latin typeface="PF DinDisplay Pro" panose="02000506030000020004" pitchFamily="2" charset="0"/>
              </a:rPr>
              <a:t>RUFLEX</a:t>
            </a:r>
            <a:r>
              <a:rPr lang="ru-RU" sz="2400" dirty="0">
                <a:solidFill>
                  <a:prstClr val="black"/>
                </a:solidFill>
                <a:latin typeface="PF DinDisplay Pro" panose="02000506030000020004" pitchFamily="2" charset="0"/>
              </a:rPr>
              <a:t> </a:t>
            </a:r>
            <a:r>
              <a:rPr lang="ru-RU" sz="2400" dirty="0" smtClean="0">
                <a:solidFill>
                  <a:prstClr val="black"/>
                </a:solidFill>
                <a:latin typeface="PF DinDisplay Pro" panose="02000506030000020004" pitchFamily="2" charset="0"/>
              </a:rPr>
              <a:t> </a:t>
            </a:r>
            <a:r>
              <a:rPr lang="en-US" sz="2400" dirty="0" smtClean="0">
                <a:solidFill>
                  <a:prstClr val="black"/>
                </a:solidFill>
                <a:latin typeface="PF DinDisplay Pro" panose="02000506030000020004" pitchFamily="2" charset="0"/>
              </a:rPr>
              <a:t>– </a:t>
            </a:r>
            <a:r>
              <a:rPr lang="ru-RU" sz="2400" dirty="0" smtClean="0">
                <a:solidFill>
                  <a:prstClr val="black"/>
                </a:solidFill>
                <a:latin typeface="PF DinDisplay Pro" panose="02000506030000020004" pitchFamily="2" charset="0"/>
              </a:rPr>
              <a:t>45-54 , у </a:t>
            </a:r>
            <a:r>
              <a:rPr lang="en-US" sz="2400" dirty="0" err="1" smtClean="0">
                <a:solidFill>
                  <a:prstClr val="black"/>
                </a:solidFill>
                <a:latin typeface="PF DinDisplay Pro" panose="02000506030000020004" pitchFamily="2" charset="0"/>
              </a:rPr>
              <a:t>Roofshield</a:t>
            </a:r>
            <a:r>
              <a:rPr lang="ru-RU" sz="2400" dirty="0" smtClean="0">
                <a:solidFill>
                  <a:prstClr val="black"/>
                </a:solidFill>
                <a:latin typeface="PF DinDisplay Pro" panose="02000506030000020004" pitchFamily="2" charset="0"/>
              </a:rPr>
              <a:t> – 25-34 лет.</a:t>
            </a:r>
          </a:p>
          <a:p>
            <a:pPr defTabSz="914400">
              <a:lnSpc>
                <a:spcPct val="150000"/>
              </a:lnSpc>
            </a:pPr>
            <a:r>
              <a:rPr lang="ru-RU" sz="2400" dirty="0" smtClean="0">
                <a:solidFill>
                  <a:prstClr val="black"/>
                </a:solidFill>
                <a:latin typeface="PF DinDisplay Pro" panose="02000506030000020004" pitchFamily="2" charset="0"/>
              </a:rPr>
              <a:t>По  </a:t>
            </a:r>
            <a:r>
              <a:rPr lang="en-US" sz="2400" dirty="0">
                <a:solidFill>
                  <a:prstClr val="black"/>
                </a:solidFill>
                <a:latin typeface="PF DinDisplay Pro" panose="02000506030000020004" pitchFamily="2" charset="0"/>
              </a:rPr>
              <a:t>Quiet </a:t>
            </a:r>
            <a:r>
              <a:rPr lang="en-US" sz="2400" dirty="0" smtClean="0">
                <a:solidFill>
                  <a:prstClr val="black"/>
                </a:solidFill>
                <a:latin typeface="PF DinDisplay Pro" panose="02000506030000020004" pitchFamily="2" charset="0"/>
              </a:rPr>
              <a:t>Tile</a:t>
            </a:r>
            <a:r>
              <a:rPr lang="ru-RU" sz="2400" dirty="0" smtClean="0">
                <a:solidFill>
                  <a:prstClr val="black"/>
                </a:solidFill>
                <a:latin typeface="PF DinDisplay Pro" panose="02000506030000020004" pitchFamily="2" charset="0"/>
              </a:rPr>
              <a:t>  данных  по полу и возрасту нет (авторами не указаны сведения о возрасте в аккаунтах).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AF434C8E-404A-4183-A5B3-F08FC36E3CF2}"/>
              </a:ext>
            </a:extLst>
          </p:cNvPr>
          <p:cNvSpPr txBox="1"/>
          <p:nvPr/>
        </p:nvSpPr>
        <p:spPr>
          <a:xfrm>
            <a:off x="493485" y="483017"/>
            <a:ext cx="23367999" cy="1323421"/>
          </a:xfrm>
          <a:prstGeom prst="rect">
            <a:avLst/>
          </a:prstGeom>
          <a:noFill/>
        </p:spPr>
        <p:txBody>
          <a:bodyPr wrap="square" lIns="91422" tIns="45711" rIns="91422" bIns="45711" rtlCol="0">
            <a:spAutoFit/>
          </a:bodyPr>
          <a:lstStyle/>
          <a:p>
            <a:pPr algn="ctr"/>
            <a:r>
              <a:rPr lang="ru-RU" sz="8000" b="1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Мониторинг </a:t>
            </a:r>
            <a:endParaRPr lang="id-ID" sz="8000" b="1" dirty="0">
              <a:solidFill>
                <a:srgbClr val="000000"/>
              </a:solidFill>
              <a:latin typeface="PF DinDisplay Pro" panose="02000506030000020004" pitchFamily="2" charset="0"/>
              <a:cs typeface="Open Sans"/>
            </a:endParaRPr>
          </a:p>
        </p:txBody>
      </p:sp>
      <p:graphicFrame>
        <p:nvGraphicFramePr>
          <p:cNvPr id="12" name="Диаграмма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210756"/>
              </p:ext>
            </p:extLst>
          </p:nvPr>
        </p:nvGraphicFramePr>
        <p:xfrm>
          <a:off x="2366216" y="6645729"/>
          <a:ext cx="8573927" cy="55353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Диаграмма 1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02525620"/>
              </p:ext>
            </p:extLst>
          </p:nvPr>
        </p:nvGraphicFramePr>
        <p:xfrm>
          <a:off x="10940143" y="6645729"/>
          <a:ext cx="11756571" cy="53231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384700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14:reveal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/>
          <p:cNvGrpSpPr/>
          <p:nvPr/>
        </p:nvGrpSpPr>
        <p:grpSpPr>
          <a:xfrm>
            <a:off x="2270351" y="1709133"/>
            <a:ext cx="19741083" cy="927270"/>
            <a:chOff x="6361236" y="1634834"/>
            <a:chExt cx="11655185" cy="927270"/>
          </a:xfrm>
        </p:grpSpPr>
        <p:sp>
          <p:nvSpPr>
            <p:cNvPr id="34" name="Rectangle 33"/>
            <p:cNvSpPr/>
            <p:nvPr/>
          </p:nvSpPr>
          <p:spPr>
            <a:xfrm>
              <a:off x="11412311" y="2470667"/>
              <a:ext cx="1553038" cy="9143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339" tIns="45672" rIns="91339" bIns="45672" rtlCol="0" anchor="ctr"/>
            <a:lstStyle/>
            <a:p>
              <a:pPr algn="ctr"/>
              <a:endParaRPr lang="en-US" dirty="0">
                <a:solidFill>
                  <a:schemeClr val="accent2"/>
                </a:solidFill>
                <a:latin typeface="PF DinDisplay Pro" panose="02000506030000020004" pitchFamily="2" charset="0"/>
              </a:endParaRPr>
            </a:p>
          </p:txBody>
        </p:sp>
        <p:sp>
          <p:nvSpPr>
            <p:cNvPr id="35" name="Subtitle 2"/>
            <p:cNvSpPr txBox="1">
              <a:spLocks/>
            </p:cNvSpPr>
            <p:nvPr/>
          </p:nvSpPr>
          <p:spPr>
            <a:xfrm>
              <a:off x="6361236" y="1634834"/>
              <a:ext cx="11655185" cy="839116"/>
            </a:xfrm>
            <a:prstGeom prst="rect">
              <a:avLst/>
            </a:prstGeom>
          </p:spPr>
          <p:txBody>
            <a:bodyPr vert="horz" lIns="217490" tIns="108745" rIns="217490" bIns="108745" rtlCol="0">
              <a:norm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Open Sans"/>
                <a:buNone/>
                <a:defRPr sz="2400" kern="1200">
                  <a:solidFill>
                    <a:schemeClr val="tx2"/>
                  </a:solidFill>
                  <a:latin typeface="Open Sans"/>
                  <a:ea typeface="+mn-ea"/>
                  <a:cs typeface="Open Sans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31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endParaRPr>
            </a:p>
          </p:txBody>
        </p:sp>
      </p:grpSp>
      <p:sp>
        <p:nvSpPr>
          <p:cNvPr id="17" name="Content Placeholder 2">
            <a:extLst>
              <a:ext uri="{FF2B5EF4-FFF2-40B4-BE49-F238E27FC236}">
                <a16:creationId xmlns="" xmlns:a16="http://schemas.microsoft.com/office/drawing/2014/main" id="{655D268E-C67B-41FF-BCDC-1144DBA9811B}"/>
              </a:ext>
            </a:extLst>
          </p:cNvPr>
          <p:cNvSpPr txBox="1">
            <a:spLocks/>
          </p:cNvSpPr>
          <p:nvPr/>
        </p:nvSpPr>
        <p:spPr bwMode="auto">
          <a:xfrm>
            <a:off x="10578546" y="13259226"/>
            <a:ext cx="3282370" cy="490431"/>
          </a:xfrm>
          <a:prstGeom prst="rect">
            <a:avLst/>
          </a:prstGeom>
        </p:spPr>
        <p:txBody>
          <a:bodyPr wrap="square" lIns="182843" tIns="91422" rIns="182843" bIns="91422" numCol="1" anchor="t" anchorCtr="0" compatLnSpc="1">
            <a:prstTxWarp prst="textNoShape">
              <a:avLst/>
            </a:prstTxWarp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Open Sans"/>
                <a:cs typeface="Open Sans"/>
              </a:rPr>
              <a:t>wbooster.ru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="" xmlns:a16="http://schemas.microsoft.com/office/drawing/2014/main" id="{096E1E1C-42FD-4B10-AFAC-95EFF8947E27}"/>
              </a:ext>
            </a:extLst>
          </p:cNvPr>
          <p:cNvSpPr txBox="1">
            <a:spLocks/>
          </p:cNvSpPr>
          <p:nvPr/>
        </p:nvSpPr>
        <p:spPr>
          <a:xfrm>
            <a:off x="2366216" y="1596860"/>
            <a:ext cx="19741083" cy="839116"/>
          </a:xfrm>
          <a:prstGeom prst="rect">
            <a:avLst/>
          </a:prstGeom>
        </p:spPr>
        <p:txBody>
          <a:bodyPr vert="horz" lIns="217490" tIns="108745" rIns="217490" bIns="108745" rtlCol="0">
            <a:norm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Open Sans"/>
              <a:buNone/>
              <a:defRPr sz="240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100" b="1" dirty="0">
                <a:solidFill>
                  <a:schemeClr val="bg2">
                    <a:lumMod val="65000"/>
                  </a:schemeClr>
                </a:solidFill>
                <a:latin typeface="PF DinDisplay Pro" panose="02000506030000020004" pitchFamily="2" charset="0"/>
                <a:cs typeface="Open Sans"/>
              </a:rPr>
              <a:t>Аудитория. География</a:t>
            </a:r>
            <a:endParaRPr lang="ru-RU" sz="3100" dirty="0">
              <a:solidFill>
                <a:schemeClr val="bg2">
                  <a:lumMod val="65000"/>
                </a:schemeClr>
              </a:solidFill>
              <a:latin typeface="PF DinDisplay Pro" panose="02000506030000020004" pitchFamily="2" charset="0"/>
              <a:cs typeface="Open San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0F07F0D0-4895-42C2-BA12-07DCBFEC2973}"/>
              </a:ext>
            </a:extLst>
          </p:cNvPr>
          <p:cNvSpPr txBox="1"/>
          <p:nvPr/>
        </p:nvSpPr>
        <p:spPr>
          <a:xfrm>
            <a:off x="2120673" y="2651567"/>
            <a:ext cx="20275853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 </a:t>
            </a:r>
            <a:r>
              <a:rPr lang="ru-RU" sz="2400" i="1" dirty="0">
                <a:solidFill>
                  <a:srgbClr val="000000"/>
                </a:solidFill>
                <a:latin typeface="PF DinDisplay Pro" panose="02000506030000020004" pitchFamily="2" charset="0"/>
              </a:rPr>
              <a:t>Отчёт представлен только по тем авторам, для которых есть данные по местоположению – </a:t>
            </a:r>
            <a:r>
              <a:rPr lang="ru-RU" sz="2400" i="1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46%.</a:t>
            </a:r>
            <a:endParaRPr lang="ru-RU" sz="2400" i="1" dirty="0">
              <a:solidFill>
                <a:srgbClr val="000000"/>
              </a:solidFill>
              <a:latin typeface="PF DinDisplay Pro" panose="02000506030000020004" pitchFamily="2" charset="0"/>
            </a:endParaRPr>
          </a:p>
          <a:p>
            <a:pPr algn="just"/>
            <a:endParaRPr lang="ru-RU" sz="2400" i="1" dirty="0">
              <a:solidFill>
                <a:srgbClr val="000000"/>
              </a:solidFill>
              <a:latin typeface="PF DinDisplay Pro" panose="02000506030000020004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Упоминания размещены авторами из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43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регионов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и  96 городов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Российской Федерации.</a:t>
            </a:r>
          </a:p>
          <a:p>
            <a:pPr algn="just">
              <a:lnSpc>
                <a:spcPct val="150000"/>
              </a:lnSpc>
            </a:pP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Анализ по регионам показал, что больше всего упоминаний брендов было размещено авторами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из Москвы,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Рязанской области,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 Калужской области, Московской области, Челябинской области, Санкт-Петербурга, Тульской области.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В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разрезе по городам больше всего упоминаний бренда и конкурентов было опубликовано авторами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из  Москвы, Рязани, Калуги.</a:t>
            </a:r>
            <a:endParaRPr lang="ru-RU" u="sng" dirty="0">
              <a:latin typeface="PF DinDisplay Pro" panose="02000506030000020004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AF434C8E-404A-4183-A5B3-F08FC36E3CF2}"/>
              </a:ext>
            </a:extLst>
          </p:cNvPr>
          <p:cNvSpPr txBox="1"/>
          <p:nvPr/>
        </p:nvSpPr>
        <p:spPr>
          <a:xfrm>
            <a:off x="493485" y="483017"/>
            <a:ext cx="23367999" cy="1323421"/>
          </a:xfrm>
          <a:prstGeom prst="rect">
            <a:avLst/>
          </a:prstGeom>
          <a:noFill/>
        </p:spPr>
        <p:txBody>
          <a:bodyPr wrap="square" lIns="91422" tIns="45711" rIns="91422" bIns="45711" rtlCol="0">
            <a:spAutoFit/>
          </a:bodyPr>
          <a:lstStyle/>
          <a:p>
            <a:pPr algn="ctr"/>
            <a:r>
              <a:rPr lang="ru-RU" sz="8000" b="1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Мониторинг </a:t>
            </a:r>
            <a:endParaRPr lang="id-ID" sz="8000" b="1" dirty="0">
              <a:solidFill>
                <a:srgbClr val="000000"/>
              </a:solidFill>
              <a:latin typeface="PF DinDisplay Pro" panose="02000506030000020004" pitchFamily="2" charset="0"/>
              <a:cs typeface="Open Sans"/>
            </a:endParaRPr>
          </a:p>
        </p:txBody>
      </p:sp>
      <p:graphicFrame>
        <p:nvGraphicFramePr>
          <p:cNvPr id="12" name="Диаграмма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54341543"/>
              </p:ext>
            </p:extLst>
          </p:nvPr>
        </p:nvGraphicFramePr>
        <p:xfrm>
          <a:off x="1976436" y="6400799"/>
          <a:ext cx="11168064" cy="59109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Диаграмма 1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94672875"/>
              </p:ext>
            </p:extLst>
          </p:nvPr>
        </p:nvGraphicFramePr>
        <p:xfrm>
          <a:off x="13860915" y="6400800"/>
          <a:ext cx="9015413" cy="59109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201090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14:reveal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/>
          <p:cNvGrpSpPr/>
          <p:nvPr/>
        </p:nvGrpSpPr>
        <p:grpSpPr>
          <a:xfrm>
            <a:off x="2270351" y="1709133"/>
            <a:ext cx="19741083" cy="927270"/>
            <a:chOff x="6361236" y="1634834"/>
            <a:chExt cx="11655185" cy="927270"/>
          </a:xfrm>
        </p:grpSpPr>
        <p:sp>
          <p:nvSpPr>
            <p:cNvPr id="34" name="Rectangle 33"/>
            <p:cNvSpPr/>
            <p:nvPr/>
          </p:nvSpPr>
          <p:spPr>
            <a:xfrm>
              <a:off x="11412311" y="2470667"/>
              <a:ext cx="1553038" cy="9143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339" tIns="45672" rIns="91339" bIns="45672" rtlCol="0" anchor="ctr"/>
            <a:lstStyle/>
            <a:p>
              <a:pPr algn="ctr"/>
              <a:endParaRPr lang="en-US" dirty="0">
                <a:solidFill>
                  <a:schemeClr val="accent2"/>
                </a:solidFill>
                <a:latin typeface="PF DinDisplay Pro" panose="02000506030000020004" pitchFamily="2" charset="0"/>
              </a:endParaRPr>
            </a:p>
          </p:txBody>
        </p:sp>
        <p:sp>
          <p:nvSpPr>
            <p:cNvPr id="35" name="Subtitle 2"/>
            <p:cNvSpPr txBox="1">
              <a:spLocks/>
            </p:cNvSpPr>
            <p:nvPr/>
          </p:nvSpPr>
          <p:spPr>
            <a:xfrm>
              <a:off x="6361236" y="1634834"/>
              <a:ext cx="11655185" cy="839116"/>
            </a:xfrm>
            <a:prstGeom prst="rect">
              <a:avLst/>
            </a:prstGeom>
          </p:spPr>
          <p:txBody>
            <a:bodyPr vert="horz" lIns="217490" tIns="108745" rIns="217490" bIns="108745" rtlCol="0">
              <a:norm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Open Sans"/>
                <a:buNone/>
                <a:defRPr sz="2400" kern="1200">
                  <a:solidFill>
                    <a:schemeClr val="tx2"/>
                  </a:solidFill>
                  <a:latin typeface="Open Sans"/>
                  <a:ea typeface="+mn-ea"/>
                  <a:cs typeface="Open Sans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31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endParaRPr>
            </a:p>
          </p:txBody>
        </p:sp>
      </p:grpSp>
      <p:sp>
        <p:nvSpPr>
          <p:cNvPr id="17" name="Content Placeholder 2">
            <a:extLst>
              <a:ext uri="{FF2B5EF4-FFF2-40B4-BE49-F238E27FC236}">
                <a16:creationId xmlns="" xmlns:a16="http://schemas.microsoft.com/office/drawing/2014/main" id="{655D268E-C67B-41FF-BCDC-1144DBA9811B}"/>
              </a:ext>
            </a:extLst>
          </p:cNvPr>
          <p:cNvSpPr txBox="1">
            <a:spLocks/>
          </p:cNvSpPr>
          <p:nvPr/>
        </p:nvSpPr>
        <p:spPr bwMode="auto">
          <a:xfrm>
            <a:off x="10578546" y="13259226"/>
            <a:ext cx="3282370" cy="490431"/>
          </a:xfrm>
          <a:prstGeom prst="rect">
            <a:avLst/>
          </a:prstGeom>
        </p:spPr>
        <p:txBody>
          <a:bodyPr wrap="square" lIns="182843" tIns="91422" rIns="182843" bIns="91422" numCol="1" anchor="t" anchorCtr="0" compatLnSpc="1">
            <a:prstTxWarp prst="textNoShape">
              <a:avLst/>
            </a:prstTxWarp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Open Sans"/>
                <a:cs typeface="Open Sans"/>
              </a:rPr>
              <a:t>wbooster.ru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="" xmlns:a16="http://schemas.microsoft.com/office/drawing/2014/main" id="{096E1E1C-42FD-4B10-AFAC-95EFF8947E27}"/>
              </a:ext>
            </a:extLst>
          </p:cNvPr>
          <p:cNvSpPr txBox="1">
            <a:spLocks/>
          </p:cNvSpPr>
          <p:nvPr/>
        </p:nvSpPr>
        <p:spPr>
          <a:xfrm>
            <a:off x="2366216" y="1596860"/>
            <a:ext cx="19741083" cy="839116"/>
          </a:xfrm>
          <a:prstGeom prst="rect">
            <a:avLst/>
          </a:prstGeom>
        </p:spPr>
        <p:txBody>
          <a:bodyPr vert="horz" lIns="217490" tIns="108745" rIns="217490" bIns="108745" rtlCol="0">
            <a:norm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Open Sans"/>
              <a:buNone/>
              <a:defRPr sz="240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100" b="1" dirty="0">
                <a:solidFill>
                  <a:schemeClr val="bg2">
                    <a:lumMod val="65000"/>
                  </a:schemeClr>
                </a:solidFill>
                <a:latin typeface="PF DinDisplay Pro" panose="02000506030000020004" pitchFamily="2" charset="0"/>
                <a:cs typeface="Open Sans"/>
              </a:rPr>
              <a:t>Аудитория. География</a:t>
            </a:r>
            <a:endParaRPr lang="ru-RU" sz="3100" dirty="0">
              <a:solidFill>
                <a:schemeClr val="bg2">
                  <a:lumMod val="65000"/>
                </a:schemeClr>
              </a:solidFill>
              <a:latin typeface="PF DinDisplay Pro" panose="02000506030000020004" pitchFamily="2" charset="0"/>
              <a:cs typeface="Open San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0F07F0D0-4895-42C2-BA12-07DCBFEC2973}"/>
              </a:ext>
            </a:extLst>
          </p:cNvPr>
          <p:cNvSpPr txBox="1"/>
          <p:nvPr/>
        </p:nvSpPr>
        <p:spPr>
          <a:xfrm>
            <a:off x="2270351" y="2832031"/>
            <a:ext cx="2097069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Анализ  по регионам из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показал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, что авторами из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 Москвы, Рязанской области, Калужской области, Челябинской области Санкт-Петербурга, Тульской области, Удмуртии, Свердловской области  чаще всего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упоминался 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Docke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Также авторами из Москвы часто упоминался 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RUFLE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Х, в Рязанской области , Калужской области, Челябинской области, Тульской  области, Иркутской области – 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Tegola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.</a:t>
            </a:r>
            <a:endParaRPr lang="en-US" sz="2400" dirty="0" smtClean="0">
              <a:solidFill>
                <a:srgbClr val="000000"/>
              </a:solidFill>
              <a:latin typeface="PF DinDisplay Pro" panose="02000506030000020004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По кол-ву регионов, где упоминалась продукция бренда, лидирует 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Docke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, на втором месте – 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Tegola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. 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RUFLEX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и </a:t>
            </a:r>
            <a:r>
              <a:rPr lang="en-US" sz="2400" dirty="0" err="1" smtClean="0">
                <a:solidFill>
                  <a:srgbClr val="000000"/>
                </a:solidFill>
                <a:latin typeface="PF DinDisplay Pro" panose="02000506030000020004" pitchFamily="2" charset="0"/>
              </a:rPr>
              <a:t>Roofshield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 –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на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третьем 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месте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.  </a:t>
            </a:r>
            <a:endParaRPr lang="ru-RU" sz="2400" dirty="0">
              <a:solidFill>
                <a:srgbClr val="000000"/>
              </a:solidFill>
              <a:latin typeface="PF DinDisplay Pro" panose="02000506030000020004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AF434C8E-404A-4183-A5B3-F08FC36E3CF2}"/>
              </a:ext>
            </a:extLst>
          </p:cNvPr>
          <p:cNvSpPr txBox="1"/>
          <p:nvPr/>
        </p:nvSpPr>
        <p:spPr>
          <a:xfrm>
            <a:off x="493485" y="483017"/>
            <a:ext cx="23367999" cy="1323421"/>
          </a:xfrm>
          <a:prstGeom prst="rect">
            <a:avLst/>
          </a:prstGeom>
          <a:noFill/>
        </p:spPr>
        <p:txBody>
          <a:bodyPr wrap="square" lIns="91422" tIns="45711" rIns="91422" bIns="45711" rtlCol="0">
            <a:spAutoFit/>
          </a:bodyPr>
          <a:lstStyle/>
          <a:p>
            <a:pPr algn="ctr"/>
            <a:r>
              <a:rPr lang="ru-RU" sz="8000" b="1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Мониторинг </a:t>
            </a:r>
            <a:endParaRPr lang="id-ID" sz="8000" b="1" dirty="0">
              <a:solidFill>
                <a:srgbClr val="000000"/>
              </a:solidFill>
              <a:latin typeface="PF DinDisplay Pro" panose="02000506030000020004" pitchFamily="2" charset="0"/>
              <a:cs typeface="Open Sans"/>
            </a:endParaRPr>
          </a:p>
        </p:txBody>
      </p:sp>
      <p:graphicFrame>
        <p:nvGraphicFramePr>
          <p:cNvPr id="12" name="Диаграмма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98696517"/>
              </p:ext>
            </p:extLst>
          </p:nvPr>
        </p:nvGraphicFramePr>
        <p:xfrm>
          <a:off x="2366216" y="5976257"/>
          <a:ext cx="16264685" cy="65477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Диаграмма 1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36517000"/>
              </p:ext>
            </p:extLst>
          </p:nvPr>
        </p:nvGraphicFramePr>
        <p:xfrm>
          <a:off x="18630901" y="5976257"/>
          <a:ext cx="4751614" cy="6041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413263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14:reveal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/>
          <p:cNvGrpSpPr/>
          <p:nvPr/>
        </p:nvGrpSpPr>
        <p:grpSpPr>
          <a:xfrm>
            <a:off x="2270351" y="1709133"/>
            <a:ext cx="19741083" cy="927270"/>
            <a:chOff x="6361236" y="1634834"/>
            <a:chExt cx="11655185" cy="927270"/>
          </a:xfrm>
        </p:grpSpPr>
        <p:sp>
          <p:nvSpPr>
            <p:cNvPr id="34" name="Rectangle 33"/>
            <p:cNvSpPr/>
            <p:nvPr/>
          </p:nvSpPr>
          <p:spPr>
            <a:xfrm>
              <a:off x="11412311" y="2470667"/>
              <a:ext cx="1553038" cy="9143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339" tIns="45672" rIns="91339" bIns="45672" rtlCol="0" anchor="ctr"/>
            <a:lstStyle/>
            <a:p>
              <a:pPr algn="ctr"/>
              <a:endParaRPr lang="en-US" dirty="0">
                <a:solidFill>
                  <a:schemeClr val="accent2"/>
                </a:solidFill>
                <a:latin typeface="PF DinDisplay Pro" panose="02000506030000020004" pitchFamily="2" charset="0"/>
              </a:endParaRPr>
            </a:p>
          </p:txBody>
        </p:sp>
        <p:sp>
          <p:nvSpPr>
            <p:cNvPr id="35" name="Subtitle 2"/>
            <p:cNvSpPr txBox="1">
              <a:spLocks/>
            </p:cNvSpPr>
            <p:nvPr/>
          </p:nvSpPr>
          <p:spPr>
            <a:xfrm>
              <a:off x="6361236" y="1634834"/>
              <a:ext cx="11655185" cy="839116"/>
            </a:xfrm>
            <a:prstGeom prst="rect">
              <a:avLst/>
            </a:prstGeom>
          </p:spPr>
          <p:txBody>
            <a:bodyPr vert="horz" lIns="217490" tIns="108745" rIns="217490" bIns="108745" rtlCol="0">
              <a:norm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Open Sans"/>
                <a:buNone/>
                <a:defRPr sz="2400" kern="1200">
                  <a:solidFill>
                    <a:schemeClr val="tx2"/>
                  </a:solidFill>
                  <a:latin typeface="Open Sans"/>
                  <a:ea typeface="+mn-ea"/>
                  <a:cs typeface="Open Sans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31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endParaRPr>
            </a:p>
          </p:txBody>
        </p:sp>
      </p:grpSp>
      <p:sp>
        <p:nvSpPr>
          <p:cNvPr id="17" name="Content Placeholder 2">
            <a:extLst>
              <a:ext uri="{FF2B5EF4-FFF2-40B4-BE49-F238E27FC236}">
                <a16:creationId xmlns="" xmlns:a16="http://schemas.microsoft.com/office/drawing/2014/main" id="{655D268E-C67B-41FF-BCDC-1144DBA9811B}"/>
              </a:ext>
            </a:extLst>
          </p:cNvPr>
          <p:cNvSpPr txBox="1">
            <a:spLocks/>
          </p:cNvSpPr>
          <p:nvPr/>
        </p:nvSpPr>
        <p:spPr bwMode="auto">
          <a:xfrm>
            <a:off x="10578546" y="13259226"/>
            <a:ext cx="3282370" cy="490431"/>
          </a:xfrm>
          <a:prstGeom prst="rect">
            <a:avLst/>
          </a:prstGeom>
        </p:spPr>
        <p:txBody>
          <a:bodyPr wrap="square" lIns="182843" tIns="91422" rIns="182843" bIns="91422" numCol="1" anchor="t" anchorCtr="0" compatLnSpc="1">
            <a:prstTxWarp prst="textNoShape">
              <a:avLst/>
            </a:prstTxWarp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Open Sans"/>
                <a:cs typeface="Open Sans"/>
              </a:rPr>
              <a:t>wbooster.ru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="" xmlns:a16="http://schemas.microsoft.com/office/drawing/2014/main" id="{096E1E1C-42FD-4B10-AFAC-95EFF8947E27}"/>
              </a:ext>
            </a:extLst>
          </p:cNvPr>
          <p:cNvSpPr txBox="1">
            <a:spLocks/>
          </p:cNvSpPr>
          <p:nvPr/>
        </p:nvSpPr>
        <p:spPr>
          <a:xfrm>
            <a:off x="2366216" y="1596860"/>
            <a:ext cx="19741083" cy="839116"/>
          </a:xfrm>
          <a:prstGeom prst="rect">
            <a:avLst/>
          </a:prstGeom>
        </p:spPr>
        <p:txBody>
          <a:bodyPr vert="horz" lIns="217490" tIns="108745" rIns="217490" bIns="108745" rtlCol="0">
            <a:norm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Open Sans"/>
              <a:buNone/>
              <a:defRPr sz="240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100" b="1" dirty="0">
                <a:solidFill>
                  <a:schemeClr val="bg2">
                    <a:lumMod val="65000"/>
                  </a:schemeClr>
                </a:solidFill>
                <a:latin typeface="PF DinDisplay Pro" panose="02000506030000020004" pitchFamily="2" charset="0"/>
                <a:cs typeface="Open Sans"/>
              </a:rPr>
              <a:t>Аудитория. География</a:t>
            </a:r>
            <a:endParaRPr lang="ru-RU" sz="3100" dirty="0">
              <a:solidFill>
                <a:schemeClr val="bg2">
                  <a:lumMod val="65000"/>
                </a:schemeClr>
              </a:solidFill>
              <a:latin typeface="PF DinDisplay Pro" panose="02000506030000020004" pitchFamily="2" charset="0"/>
              <a:cs typeface="Open San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0F07F0D0-4895-42C2-BA12-07DCBFEC2973}"/>
              </a:ext>
            </a:extLst>
          </p:cNvPr>
          <p:cNvSpPr txBox="1"/>
          <p:nvPr/>
        </p:nvSpPr>
        <p:spPr>
          <a:xfrm>
            <a:off x="1761067" y="2826342"/>
            <a:ext cx="2124123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i="1" dirty="0">
                <a:solidFill>
                  <a:srgbClr val="000000"/>
                </a:solidFill>
                <a:latin typeface="PF DinDisplay Pro" panose="02000506030000020004" pitchFamily="2" charset="0"/>
              </a:rPr>
              <a:t>Отчёт представлен только по тем авторам, для которых есть данные по </a:t>
            </a:r>
            <a:r>
              <a:rPr lang="ru-RU" sz="2400" i="1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местоположению - 46%.</a:t>
            </a:r>
            <a:endParaRPr lang="ru-RU" sz="2400" i="1" dirty="0">
              <a:solidFill>
                <a:srgbClr val="000000"/>
              </a:solidFill>
              <a:latin typeface="PF DinDisplay Pro" panose="02000506030000020004" pitchFamily="2" charset="0"/>
            </a:endParaRPr>
          </a:p>
          <a:p>
            <a:pPr algn="just"/>
            <a:endParaRPr lang="ru-RU" sz="2400" u="sng" dirty="0" smtClean="0">
              <a:solidFill>
                <a:srgbClr val="000000"/>
              </a:solidFill>
              <a:latin typeface="PF DinDisplay Pro" panose="02000506030000020004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u="sng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География </a:t>
            </a:r>
            <a:r>
              <a:rPr lang="ru-RU" sz="2400" u="sng" dirty="0">
                <a:solidFill>
                  <a:srgbClr val="000000"/>
                </a:solidFill>
                <a:latin typeface="PF DinDisplay Pro" panose="02000506030000020004" pitchFamily="2" charset="0"/>
              </a:rPr>
              <a:t>по </a:t>
            </a:r>
            <a:r>
              <a:rPr lang="en-US" sz="2400" u="sng" dirty="0">
                <a:solidFill>
                  <a:srgbClr val="000000"/>
                </a:solidFill>
                <a:latin typeface="PF DinDisplay Pro" panose="02000506030000020004" pitchFamily="2" charset="0"/>
              </a:rPr>
              <a:t>RUFLEX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: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5  регионов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и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6 городов.</a:t>
            </a:r>
            <a:endParaRPr lang="ru-RU" sz="2400" dirty="0">
              <a:solidFill>
                <a:srgbClr val="000000"/>
              </a:solidFill>
              <a:latin typeface="PF DinDisplay Pro" panose="02000506030000020004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Больше всего упоминаний авторами из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 Москвы  и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Московской области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.</a:t>
            </a:r>
            <a:endParaRPr lang="ru-RU" sz="2400" dirty="0">
              <a:solidFill>
                <a:srgbClr val="000000"/>
              </a:solidFill>
              <a:latin typeface="PF DinDisplay Pro" panose="02000506030000020004" pitchFamily="2" charset="0"/>
            </a:endParaRPr>
          </a:p>
          <a:p>
            <a:pPr algn="just"/>
            <a:endParaRPr lang="ru-RU" sz="2400" dirty="0">
              <a:solidFill>
                <a:srgbClr val="000000"/>
              </a:solidFill>
              <a:latin typeface="PF DinDisplay Pro" panose="02000506030000020004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b="1" u="sng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Рекомендация: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 работа по расширению  географической представленности бренда в сети через работу с дилерами, строительными организациями, сообщения от агентов влияния.</a:t>
            </a:r>
            <a:endParaRPr lang="ru-RU" sz="2400" dirty="0">
              <a:solidFill>
                <a:srgbClr val="000000"/>
              </a:solidFill>
              <a:latin typeface="PF DinDisplay Pro" panose="02000506030000020004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AF434C8E-404A-4183-A5B3-F08FC36E3CF2}"/>
              </a:ext>
            </a:extLst>
          </p:cNvPr>
          <p:cNvSpPr txBox="1"/>
          <p:nvPr/>
        </p:nvSpPr>
        <p:spPr>
          <a:xfrm>
            <a:off x="493485" y="483017"/>
            <a:ext cx="23367999" cy="1323421"/>
          </a:xfrm>
          <a:prstGeom prst="rect">
            <a:avLst/>
          </a:prstGeom>
          <a:noFill/>
        </p:spPr>
        <p:txBody>
          <a:bodyPr wrap="square" lIns="91422" tIns="45711" rIns="91422" bIns="45711" rtlCol="0">
            <a:spAutoFit/>
          </a:bodyPr>
          <a:lstStyle/>
          <a:p>
            <a:pPr algn="ctr"/>
            <a:r>
              <a:rPr lang="ru-RU" sz="8000" b="1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Мониторинг </a:t>
            </a:r>
            <a:endParaRPr lang="id-ID" sz="8000" b="1" dirty="0">
              <a:solidFill>
                <a:srgbClr val="000000"/>
              </a:solidFill>
              <a:latin typeface="PF DinDisplay Pro" panose="02000506030000020004" pitchFamily="2" charset="0"/>
              <a:cs typeface="Open Sans"/>
            </a:endParaRPr>
          </a:p>
        </p:txBody>
      </p:sp>
      <p:graphicFrame>
        <p:nvGraphicFramePr>
          <p:cNvPr id="12" name="Диаграмма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39915402"/>
              </p:ext>
            </p:extLst>
          </p:nvPr>
        </p:nvGraphicFramePr>
        <p:xfrm>
          <a:off x="2939680" y="6427328"/>
          <a:ext cx="9442001" cy="5688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Диаграмма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83446222"/>
              </p:ext>
            </p:extLst>
          </p:nvPr>
        </p:nvGraphicFramePr>
        <p:xfrm>
          <a:off x="13010696" y="6629400"/>
          <a:ext cx="8885918" cy="548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217351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14:reveal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/>
          <p:cNvGrpSpPr/>
          <p:nvPr/>
        </p:nvGrpSpPr>
        <p:grpSpPr>
          <a:xfrm>
            <a:off x="493485" y="483017"/>
            <a:ext cx="23367999" cy="2079087"/>
            <a:chOff x="5312170" y="483017"/>
            <a:chExt cx="13796525" cy="2079087"/>
          </a:xfrm>
        </p:grpSpPr>
        <p:sp>
          <p:nvSpPr>
            <p:cNvPr id="33" name="TextBox 32"/>
            <p:cNvSpPr txBox="1"/>
            <p:nvPr/>
          </p:nvSpPr>
          <p:spPr>
            <a:xfrm>
              <a:off x="5312170" y="483017"/>
              <a:ext cx="13796525" cy="1323421"/>
            </a:xfrm>
            <a:prstGeom prst="rect">
              <a:avLst/>
            </a:prstGeom>
            <a:noFill/>
          </p:spPr>
          <p:txBody>
            <a:bodyPr wrap="square" lIns="91422" tIns="45711" rIns="91422" bIns="45711" rtlCol="0">
              <a:spAutoFit/>
            </a:bodyPr>
            <a:lstStyle/>
            <a:p>
              <a:pPr algn="ctr"/>
              <a:r>
                <a:rPr lang="ru-RU" sz="8000" b="1" dirty="0">
                  <a:solidFill>
                    <a:srgbClr val="000000"/>
                  </a:solidFill>
                  <a:latin typeface="PF DinDisplay Pro" panose="02000506030000020004" pitchFamily="2" charset="0"/>
                  <a:cs typeface="Open Sans"/>
                </a:rPr>
                <a:t>Мониторинг</a:t>
              </a:r>
              <a:endParaRPr lang="id-ID" sz="8000" b="1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1412311" y="2470667"/>
              <a:ext cx="1553038" cy="9143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339" tIns="45672" rIns="91339" bIns="45672" rtlCol="0" anchor="ctr"/>
            <a:lstStyle/>
            <a:p>
              <a:pPr algn="ctr"/>
              <a:endParaRPr lang="en-US" dirty="0">
                <a:solidFill>
                  <a:schemeClr val="accent2"/>
                </a:solidFill>
                <a:latin typeface="PF DinDisplay Pro" panose="02000506030000020004" pitchFamily="2" charset="0"/>
              </a:endParaRPr>
            </a:p>
          </p:txBody>
        </p:sp>
        <p:sp>
          <p:nvSpPr>
            <p:cNvPr id="35" name="Subtitle 2"/>
            <p:cNvSpPr txBox="1">
              <a:spLocks/>
            </p:cNvSpPr>
            <p:nvPr/>
          </p:nvSpPr>
          <p:spPr>
            <a:xfrm>
              <a:off x="6361236" y="1634834"/>
              <a:ext cx="11655185" cy="839116"/>
            </a:xfrm>
            <a:prstGeom prst="rect">
              <a:avLst/>
            </a:prstGeom>
          </p:spPr>
          <p:txBody>
            <a:bodyPr vert="horz" lIns="217490" tIns="108745" rIns="217490" bIns="108745" rtlCol="0">
              <a:norm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Open Sans"/>
                <a:buNone/>
                <a:defRPr sz="2400" kern="1200">
                  <a:solidFill>
                    <a:schemeClr val="tx2"/>
                  </a:solidFill>
                  <a:latin typeface="Open Sans"/>
                  <a:ea typeface="+mn-ea"/>
                  <a:cs typeface="Open Sans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31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endParaRPr>
            </a:p>
          </p:txBody>
        </p:sp>
      </p:grpSp>
      <p:sp>
        <p:nvSpPr>
          <p:cNvPr id="17" name="Content Placeholder 2">
            <a:extLst>
              <a:ext uri="{FF2B5EF4-FFF2-40B4-BE49-F238E27FC236}">
                <a16:creationId xmlns="" xmlns:a16="http://schemas.microsoft.com/office/drawing/2014/main" id="{655D268E-C67B-41FF-BCDC-1144DBA9811B}"/>
              </a:ext>
            </a:extLst>
          </p:cNvPr>
          <p:cNvSpPr txBox="1">
            <a:spLocks/>
          </p:cNvSpPr>
          <p:nvPr/>
        </p:nvSpPr>
        <p:spPr bwMode="auto">
          <a:xfrm>
            <a:off x="10578546" y="13259226"/>
            <a:ext cx="3282370" cy="490431"/>
          </a:xfrm>
          <a:prstGeom prst="rect">
            <a:avLst/>
          </a:prstGeom>
        </p:spPr>
        <p:txBody>
          <a:bodyPr wrap="square" lIns="182843" tIns="91422" rIns="182843" bIns="91422" numCol="1" anchor="t" anchorCtr="0" compatLnSpc="1">
            <a:prstTxWarp prst="textNoShape">
              <a:avLst/>
            </a:prstTxWarp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Open Sans"/>
                <a:cs typeface="Open Sans"/>
              </a:rPr>
              <a:t>wbooster.ru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="" xmlns:a16="http://schemas.microsoft.com/office/drawing/2014/main" id="{096E1E1C-42FD-4B10-AFAC-95EFF8947E27}"/>
              </a:ext>
            </a:extLst>
          </p:cNvPr>
          <p:cNvSpPr txBox="1">
            <a:spLocks/>
          </p:cNvSpPr>
          <p:nvPr/>
        </p:nvSpPr>
        <p:spPr>
          <a:xfrm>
            <a:off x="2270350" y="1689413"/>
            <a:ext cx="19741083" cy="839116"/>
          </a:xfrm>
          <a:prstGeom prst="rect">
            <a:avLst/>
          </a:prstGeom>
        </p:spPr>
        <p:txBody>
          <a:bodyPr vert="horz" lIns="217490" tIns="108745" rIns="217490" bIns="108745" rtlCol="0">
            <a:norm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Open Sans"/>
              <a:buNone/>
              <a:defRPr sz="240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100" b="1" dirty="0">
                <a:solidFill>
                  <a:schemeClr val="bg2">
                    <a:lumMod val="65000"/>
                  </a:schemeClr>
                </a:solidFill>
                <a:latin typeface="PF DinDisplay Pro" panose="02000506030000020004" pitchFamily="2" charset="0"/>
                <a:cs typeface="Open Sans"/>
              </a:rPr>
              <a:t>Теги: КП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B8C4C9AD-72DE-4CB6-AE3D-690AC29535F8}"/>
              </a:ext>
            </a:extLst>
          </p:cNvPr>
          <p:cNvSpPr txBox="1"/>
          <p:nvPr/>
        </p:nvSpPr>
        <p:spPr>
          <a:xfrm>
            <a:off x="1689315" y="2564649"/>
            <a:ext cx="2120455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В исследуемом периоде был размещен  346  коммерческих постов с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объявлениями о продаже кровельных материалов исследуемых брендов, в т.ч.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репосты.</a:t>
            </a:r>
            <a:endParaRPr lang="ru-RU" sz="2400" dirty="0">
              <a:solidFill>
                <a:srgbClr val="000000"/>
              </a:solidFill>
              <a:latin typeface="PF DinDisplay Pro" panose="02000506030000020004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Потенциальная аудитория упоминаний –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1,7 млн.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человек, вовлеченность –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0,8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тыс., количество просмотров –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211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тыс. </a:t>
            </a:r>
          </a:p>
          <a:p>
            <a:pPr algn="just">
              <a:lnSpc>
                <a:spcPct val="150000"/>
              </a:lnSpc>
            </a:pP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Больше всего коммерческих упоминаний размещено на 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vk.com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и 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telegram.org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.</a:t>
            </a:r>
            <a:endParaRPr lang="ru-RU" sz="2400" dirty="0">
              <a:solidFill>
                <a:srgbClr val="000000"/>
              </a:solidFill>
              <a:latin typeface="PF DinDisplay Pro" panose="02000506030000020004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В разрезе по брендам лидер по числу упоминаний – 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Docke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(56%),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на втором месте 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Tegola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 - 39%,  на третьем - 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Quiet Tile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  –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3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 %. </a:t>
            </a:r>
            <a:endParaRPr lang="ru-RU" sz="2400" dirty="0">
              <a:solidFill>
                <a:srgbClr val="000000"/>
              </a:solidFill>
              <a:latin typeface="PF DinDisplay Pro" panose="02000506030000020004" pitchFamily="2" charset="0"/>
            </a:endParaRPr>
          </a:p>
          <a:p>
            <a:pPr algn="just"/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В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Приложении 2 к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отчёту сформирован список  ресурсов дилеров (группы в социальных сетях, сайты, блоги), размещавших объявления о продаже кровельных материалов.  </a:t>
            </a:r>
          </a:p>
          <a:p>
            <a:pPr algn="just"/>
            <a:endParaRPr lang="ru-RU" sz="2400" dirty="0">
              <a:solidFill>
                <a:srgbClr val="000000"/>
              </a:solidFill>
              <a:latin typeface="PF DinDisplay Pro" panose="02000506030000020004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b="1" u="sng" dirty="0">
                <a:solidFill>
                  <a:srgbClr val="000000"/>
                </a:solidFill>
                <a:latin typeface="PF DinDisplay Pro" panose="02000506030000020004" pitchFamily="2" charset="0"/>
              </a:rPr>
              <a:t>Рекомендация:</a:t>
            </a:r>
            <a:r>
              <a:rPr lang="ru-RU" sz="2400" b="1" dirty="0">
                <a:solidFill>
                  <a:srgbClr val="000000"/>
                </a:solidFill>
                <a:latin typeface="PF DinDisplay Pro" panose="02000506030000020004" pitchFamily="2" charset="0"/>
              </a:rPr>
              <a:t>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авторов данной категории можно рассмотреть как потенциальных партнёров для продвижения продукции бренда через коммерческий контент.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Осуществлять работу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с дилерами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в соцсетях – предоставление  материалов для публикации, распространение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полезных постов,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видео/отзывов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от строителей.</a:t>
            </a:r>
            <a:endParaRPr lang="ru-RU" sz="2400" u="sng" dirty="0">
              <a:solidFill>
                <a:srgbClr val="000000"/>
              </a:solidFill>
              <a:latin typeface="PF DinDisplay Pro" panose="02000506030000020004" pitchFamily="2" charset="0"/>
            </a:endParaRPr>
          </a:p>
        </p:txBody>
      </p:sp>
      <p:graphicFrame>
        <p:nvGraphicFramePr>
          <p:cNvPr id="10" name="Диаграмма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60143579"/>
              </p:ext>
            </p:extLst>
          </p:nvPr>
        </p:nvGraphicFramePr>
        <p:xfrm>
          <a:off x="2270351" y="7576185"/>
          <a:ext cx="8718778" cy="51274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Диаграмма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69790914"/>
              </p:ext>
            </p:extLst>
          </p:nvPr>
        </p:nvGraphicFramePr>
        <p:xfrm>
          <a:off x="11780256" y="7576185"/>
          <a:ext cx="10785829" cy="51274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423516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14:reveal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/>
          <p:cNvGrpSpPr/>
          <p:nvPr/>
        </p:nvGrpSpPr>
        <p:grpSpPr>
          <a:xfrm>
            <a:off x="493485" y="483017"/>
            <a:ext cx="23367999" cy="2079087"/>
            <a:chOff x="5312170" y="483017"/>
            <a:chExt cx="13796525" cy="2079087"/>
          </a:xfrm>
        </p:grpSpPr>
        <p:sp>
          <p:nvSpPr>
            <p:cNvPr id="33" name="TextBox 32"/>
            <p:cNvSpPr txBox="1"/>
            <p:nvPr/>
          </p:nvSpPr>
          <p:spPr>
            <a:xfrm>
              <a:off x="5312170" y="483017"/>
              <a:ext cx="13796525" cy="1323421"/>
            </a:xfrm>
            <a:prstGeom prst="rect">
              <a:avLst/>
            </a:prstGeom>
            <a:noFill/>
          </p:spPr>
          <p:txBody>
            <a:bodyPr wrap="square" lIns="91422" tIns="45711" rIns="91422" bIns="45711" rtlCol="0">
              <a:spAutoFit/>
            </a:bodyPr>
            <a:lstStyle/>
            <a:p>
              <a:pPr algn="ctr"/>
              <a:r>
                <a:rPr lang="ru-RU" sz="8000" b="1" dirty="0">
                  <a:solidFill>
                    <a:srgbClr val="000000"/>
                  </a:solidFill>
                  <a:latin typeface="PF DinDisplay Pro" panose="02000506030000020004" pitchFamily="2" charset="0"/>
                  <a:cs typeface="Open Sans"/>
                </a:rPr>
                <a:t>Мониторинг</a:t>
              </a:r>
              <a:endParaRPr lang="id-ID" sz="8000" b="1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1412311" y="2470667"/>
              <a:ext cx="1553038" cy="9143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339" tIns="45672" rIns="91339" bIns="45672" rtlCol="0" anchor="ctr"/>
            <a:lstStyle/>
            <a:p>
              <a:pPr algn="ctr"/>
              <a:endParaRPr lang="en-US" dirty="0">
                <a:solidFill>
                  <a:schemeClr val="accent2"/>
                </a:solidFill>
                <a:latin typeface="PF DinDisplay Pro" panose="02000506030000020004" pitchFamily="2" charset="0"/>
              </a:endParaRPr>
            </a:p>
          </p:txBody>
        </p:sp>
        <p:sp>
          <p:nvSpPr>
            <p:cNvPr id="35" name="Subtitle 2"/>
            <p:cNvSpPr txBox="1">
              <a:spLocks/>
            </p:cNvSpPr>
            <p:nvPr/>
          </p:nvSpPr>
          <p:spPr>
            <a:xfrm>
              <a:off x="6361236" y="1634834"/>
              <a:ext cx="11655185" cy="839116"/>
            </a:xfrm>
            <a:prstGeom prst="rect">
              <a:avLst/>
            </a:prstGeom>
          </p:spPr>
          <p:txBody>
            <a:bodyPr vert="horz" lIns="217490" tIns="108745" rIns="217490" bIns="108745" rtlCol="0">
              <a:norm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Open Sans"/>
                <a:buNone/>
                <a:defRPr sz="2400" kern="1200">
                  <a:solidFill>
                    <a:schemeClr val="tx2"/>
                  </a:solidFill>
                  <a:latin typeface="Open Sans"/>
                  <a:ea typeface="+mn-ea"/>
                  <a:cs typeface="Open Sans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31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endParaRPr>
            </a:p>
          </p:txBody>
        </p:sp>
      </p:grpSp>
      <p:sp>
        <p:nvSpPr>
          <p:cNvPr id="17" name="Content Placeholder 2">
            <a:extLst>
              <a:ext uri="{FF2B5EF4-FFF2-40B4-BE49-F238E27FC236}">
                <a16:creationId xmlns="" xmlns:a16="http://schemas.microsoft.com/office/drawing/2014/main" id="{655D268E-C67B-41FF-BCDC-1144DBA9811B}"/>
              </a:ext>
            </a:extLst>
          </p:cNvPr>
          <p:cNvSpPr txBox="1">
            <a:spLocks/>
          </p:cNvSpPr>
          <p:nvPr/>
        </p:nvSpPr>
        <p:spPr bwMode="auto">
          <a:xfrm>
            <a:off x="10578546" y="13259226"/>
            <a:ext cx="3282370" cy="490431"/>
          </a:xfrm>
          <a:prstGeom prst="rect">
            <a:avLst/>
          </a:prstGeom>
        </p:spPr>
        <p:txBody>
          <a:bodyPr wrap="square" lIns="182843" tIns="91422" rIns="182843" bIns="91422" numCol="1" anchor="t" anchorCtr="0" compatLnSpc="1">
            <a:prstTxWarp prst="textNoShape">
              <a:avLst/>
            </a:prstTxWarp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Open Sans"/>
                <a:cs typeface="Open Sans"/>
              </a:rPr>
              <a:t>wbooster.ru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="" xmlns:a16="http://schemas.microsoft.com/office/drawing/2014/main" id="{096E1E1C-42FD-4B10-AFAC-95EFF8947E27}"/>
              </a:ext>
            </a:extLst>
          </p:cNvPr>
          <p:cNvSpPr txBox="1">
            <a:spLocks/>
          </p:cNvSpPr>
          <p:nvPr/>
        </p:nvSpPr>
        <p:spPr>
          <a:xfrm>
            <a:off x="2270350" y="1689413"/>
            <a:ext cx="19741083" cy="839116"/>
          </a:xfrm>
          <a:prstGeom prst="rect">
            <a:avLst/>
          </a:prstGeom>
        </p:spPr>
        <p:txBody>
          <a:bodyPr vert="horz" lIns="217490" tIns="108745" rIns="217490" bIns="108745" rtlCol="0">
            <a:norm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Open Sans"/>
              <a:buNone/>
              <a:defRPr sz="240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100" b="1" dirty="0">
                <a:solidFill>
                  <a:schemeClr val="bg2">
                    <a:lumMod val="65000"/>
                  </a:schemeClr>
                </a:solidFill>
                <a:latin typeface="PF DinDisplay Pro" panose="02000506030000020004" pitchFamily="2" charset="0"/>
                <a:cs typeface="Open Sans"/>
              </a:rPr>
              <a:t>Теги: Монтаж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B8C4C9AD-72DE-4CB6-AE3D-690AC29535F8}"/>
              </a:ext>
            </a:extLst>
          </p:cNvPr>
          <p:cNvSpPr txBox="1"/>
          <p:nvPr/>
        </p:nvSpPr>
        <p:spPr>
          <a:xfrm>
            <a:off x="1761943" y="2562104"/>
            <a:ext cx="21345071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В отчетном периоде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размещено 175  постов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от строительных и монтажных организаций, архитекторов и авторов, ведущих блоги на тему строительства.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Чаще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всего это посты с фото/видео готовых объектов, при строительстве которых использовали материалы того или иного бренда, а также подробные проекты домов. </a:t>
            </a:r>
          </a:p>
          <a:p>
            <a:pPr algn="just">
              <a:lnSpc>
                <a:spcPct val="150000"/>
              </a:lnSpc>
            </a:pPr>
            <a:r>
              <a:rPr lang="ru-RU" sz="2400" u="sng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Потенциальная </a:t>
            </a:r>
            <a:r>
              <a:rPr lang="ru-RU" sz="2400" u="sng" dirty="0">
                <a:solidFill>
                  <a:srgbClr val="000000"/>
                </a:solidFill>
                <a:latin typeface="PF DinDisplay Pro" panose="02000506030000020004" pitchFamily="2" charset="0"/>
              </a:rPr>
              <a:t>аудитория </a:t>
            </a:r>
            <a:r>
              <a:rPr lang="ru-RU" sz="2400" u="sng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упоминаний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–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1,5 млн. человек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, вовлеченность –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3,7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тыс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.,  количество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просмотров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– 170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тыс. </a:t>
            </a:r>
          </a:p>
          <a:p>
            <a:pPr algn="just">
              <a:lnSpc>
                <a:spcPct val="150000"/>
              </a:lnSpc>
            </a:pP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Больше всего постов с примерами использования кровельных материалов размещено на 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vk.com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.</a:t>
            </a:r>
            <a:endParaRPr lang="ru-RU" sz="2400" dirty="0">
              <a:solidFill>
                <a:srgbClr val="000000"/>
              </a:solidFill>
              <a:latin typeface="PF DinDisplay Pro" panose="02000506030000020004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В разрезе по брендам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лидер по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числу упоминаний – 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Docke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(51% ). </a:t>
            </a:r>
            <a:r>
              <a:rPr lang="ru-RU" sz="2400" u="sng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По  </a:t>
            </a:r>
            <a:r>
              <a:rPr lang="en-US" sz="2400" u="sng" dirty="0">
                <a:solidFill>
                  <a:srgbClr val="000000"/>
                </a:solidFill>
                <a:latin typeface="PF DinDisplay Pro" panose="02000506030000020004" pitchFamily="2" charset="0"/>
              </a:rPr>
              <a:t>RUFLEX </a:t>
            </a:r>
            <a:r>
              <a:rPr lang="ru-RU" sz="2400" u="sng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упоминаний  данной категории  10%.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В Приложении 2 к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отчёту сформирован список  ресурсов в социальных сетях авторов с тегом «Монтаж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».</a:t>
            </a:r>
          </a:p>
          <a:p>
            <a:pPr algn="just"/>
            <a:endParaRPr lang="ru-RU" sz="2400" dirty="0">
              <a:solidFill>
                <a:srgbClr val="000000"/>
              </a:solidFill>
              <a:latin typeface="PF DinDisplay Pro" panose="02000506030000020004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b="1" u="sng" dirty="0">
                <a:solidFill>
                  <a:srgbClr val="000000"/>
                </a:solidFill>
                <a:latin typeface="PF DinDisplay Pro" panose="02000506030000020004" pitchFamily="2" charset="0"/>
              </a:rPr>
              <a:t>Рекомендация: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авторов данной категории можно рассмотреть как потенциальных партнёров для продвижения продукции бренда. Посты со страниц специалистов-монтажников и строительных компаний можно </a:t>
            </a:r>
            <a:r>
              <a:rPr lang="ru-RU" sz="2400" dirty="0" err="1">
                <a:solidFill>
                  <a:srgbClr val="000000"/>
                </a:solidFill>
                <a:latin typeface="PF DinDisplay Pro" panose="02000506030000020004" pitchFamily="2" charset="0"/>
              </a:rPr>
              <a:t>репостить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в собственных сообществах. Список строителей можно использовать для распространения информации об обучающих семинарах и акциях бренда 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RUFLEX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.</a:t>
            </a:r>
            <a:endParaRPr lang="ru-RU" sz="2400" u="sng" dirty="0">
              <a:solidFill>
                <a:srgbClr val="000000"/>
              </a:solidFill>
              <a:latin typeface="PF DinDisplay Pro" panose="02000506030000020004" pitchFamily="2" charset="0"/>
            </a:endParaRPr>
          </a:p>
        </p:txBody>
      </p:sp>
      <p:graphicFrame>
        <p:nvGraphicFramePr>
          <p:cNvPr id="12" name="Диаграмма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439154"/>
              </p:ext>
            </p:extLst>
          </p:nvPr>
        </p:nvGraphicFramePr>
        <p:xfrm>
          <a:off x="1895420" y="8498861"/>
          <a:ext cx="9093708" cy="40904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Диаграмма 1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27085431"/>
              </p:ext>
            </p:extLst>
          </p:nvPr>
        </p:nvGraphicFramePr>
        <p:xfrm>
          <a:off x="12219731" y="8050410"/>
          <a:ext cx="10656598" cy="45389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931239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14:reveal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/>
          <p:cNvGrpSpPr/>
          <p:nvPr/>
        </p:nvGrpSpPr>
        <p:grpSpPr>
          <a:xfrm>
            <a:off x="493485" y="483017"/>
            <a:ext cx="23367999" cy="2079087"/>
            <a:chOff x="5312170" y="483017"/>
            <a:chExt cx="13796525" cy="2079087"/>
          </a:xfrm>
        </p:grpSpPr>
        <p:sp>
          <p:nvSpPr>
            <p:cNvPr id="33" name="TextBox 32"/>
            <p:cNvSpPr txBox="1"/>
            <p:nvPr/>
          </p:nvSpPr>
          <p:spPr>
            <a:xfrm>
              <a:off x="5312170" y="483017"/>
              <a:ext cx="13796525" cy="1323421"/>
            </a:xfrm>
            <a:prstGeom prst="rect">
              <a:avLst/>
            </a:prstGeom>
            <a:noFill/>
          </p:spPr>
          <p:txBody>
            <a:bodyPr wrap="square" lIns="91422" tIns="45711" rIns="91422" bIns="45711" rtlCol="0">
              <a:spAutoFit/>
            </a:bodyPr>
            <a:lstStyle/>
            <a:p>
              <a:pPr algn="ctr"/>
              <a:r>
                <a:rPr lang="ru-RU" sz="8000" b="1" dirty="0">
                  <a:solidFill>
                    <a:srgbClr val="000000"/>
                  </a:solidFill>
                  <a:latin typeface="PF DinDisplay Pro" panose="02000506030000020004" pitchFamily="2" charset="0"/>
                  <a:cs typeface="Open Sans"/>
                </a:rPr>
                <a:t>Мониторинг</a:t>
              </a:r>
              <a:endParaRPr lang="id-ID" sz="8000" b="1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1412311" y="2470667"/>
              <a:ext cx="1553038" cy="9143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339" tIns="45672" rIns="91339" bIns="45672" rtlCol="0" anchor="ctr"/>
            <a:lstStyle/>
            <a:p>
              <a:pPr algn="ctr"/>
              <a:endParaRPr lang="en-US" dirty="0">
                <a:solidFill>
                  <a:schemeClr val="accent2"/>
                </a:solidFill>
                <a:latin typeface="PF DinDisplay Pro" panose="02000506030000020004" pitchFamily="2" charset="0"/>
              </a:endParaRPr>
            </a:p>
          </p:txBody>
        </p:sp>
        <p:sp>
          <p:nvSpPr>
            <p:cNvPr id="35" name="Subtitle 2"/>
            <p:cNvSpPr txBox="1">
              <a:spLocks/>
            </p:cNvSpPr>
            <p:nvPr/>
          </p:nvSpPr>
          <p:spPr>
            <a:xfrm>
              <a:off x="6361236" y="1634834"/>
              <a:ext cx="11655185" cy="839116"/>
            </a:xfrm>
            <a:prstGeom prst="rect">
              <a:avLst/>
            </a:prstGeom>
          </p:spPr>
          <p:txBody>
            <a:bodyPr vert="horz" lIns="217490" tIns="108745" rIns="217490" bIns="108745" rtlCol="0">
              <a:norm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Open Sans"/>
                <a:buNone/>
                <a:defRPr sz="2400" kern="1200">
                  <a:solidFill>
                    <a:schemeClr val="tx2"/>
                  </a:solidFill>
                  <a:latin typeface="Open Sans"/>
                  <a:ea typeface="+mn-ea"/>
                  <a:cs typeface="Open Sans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31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endParaRPr>
            </a:p>
          </p:txBody>
        </p:sp>
      </p:grpSp>
      <p:sp>
        <p:nvSpPr>
          <p:cNvPr id="17" name="Content Placeholder 2">
            <a:extLst>
              <a:ext uri="{FF2B5EF4-FFF2-40B4-BE49-F238E27FC236}">
                <a16:creationId xmlns="" xmlns:a16="http://schemas.microsoft.com/office/drawing/2014/main" id="{655D268E-C67B-41FF-BCDC-1144DBA9811B}"/>
              </a:ext>
            </a:extLst>
          </p:cNvPr>
          <p:cNvSpPr txBox="1">
            <a:spLocks/>
          </p:cNvSpPr>
          <p:nvPr/>
        </p:nvSpPr>
        <p:spPr bwMode="auto">
          <a:xfrm>
            <a:off x="10593148" y="13225569"/>
            <a:ext cx="3282370" cy="490431"/>
          </a:xfrm>
          <a:prstGeom prst="rect">
            <a:avLst/>
          </a:prstGeom>
        </p:spPr>
        <p:txBody>
          <a:bodyPr wrap="square" lIns="182843" tIns="91422" rIns="182843" bIns="91422" numCol="1" anchor="t" anchorCtr="0" compatLnSpc="1">
            <a:prstTxWarp prst="textNoShape">
              <a:avLst/>
            </a:prstTxWarp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Open Sans"/>
                <a:cs typeface="Open Sans"/>
              </a:rPr>
              <a:t>wbooster.ru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="" xmlns:a16="http://schemas.microsoft.com/office/drawing/2014/main" id="{096E1E1C-42FD-4B10-AFAC-95EFF8947E27}"/>
              </a:ext>
            </a:extLst>
          </p:cNvPr>
          <p:cNvSpPr txBox="1">
            <a:spLocks/>
          </p:cNvSpPr>
          <p:nvPr/>
        </p:nvSpPr>
        <p:spPr>
          <a:xfrm>
            <a:off x="2270350" y="1689413"/>
            <a:ext cx="19741083" cy="839116"/>
          </a:xfrm>
          <a:prstGeom prst="rect">
            <a:avLst/>
          </a:prstGeom>
        </p:spPr>
        <p:txBody>
          <a:bodyPr vert="horz" lIns="217490" tIns="108745" rIns="217490" bIns="108745" rtlCol="0">
            <a:norm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Open Sans"/>
              <a:buNone/>
              <a:defRPr sz="240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100" b="1" dirty="0">
                <a:solidFill>
                  <a:schemeClr val="bg2">
                    <a:lumMod val="65000"/>
                  </a:schemeClr>
                </a:solidFill>
                <a:latin typeface="PF DinDisplay Pro" panose="02000506030000020004" pitchFamily="2" charset="0"/>
                <a:cs typeface="Open Sans"/>
              </a:rPr>
              <a:t>Тег: </a:t>
            </a:r>
            <a:r>
              <a:rPr lang="ru-RU" sz="3100" b="1" dirty="0" err="1">
                <a:solidFill>
                  <a:schemeClr val="bg2">
                    <a:lumMod val="65000"/>
                  </a:schemeClr>
                </a:solidFill>
                <a:latin typeface="PF DinDisplay Pro" panose="02000506030000020004" pitchFamily="2" charset="0"/>
                <a:cs typeface="Open Sans"/>
              </a:rPr>
              <a:t>СоцС</a:t>
            </a:r>
            <a:endParaRPr lang="ru-RU" sz="3100" b="1" dirty="0">
              <a:solidFill>
                <a:schemeClr val="bg2">
                  <a:lumMod val="65000"/>
                </a:schemeClr>
              </a:solidFill>
              <a:latin typeface="PF DinDisplay Pro" panose="02000506030000020004" pitchFamily="2" charset="0"/>
              <a:cs typeface="Open Sans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773162" y="2600795"/>
            <a:ext cx="211836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В следуемом периоде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размещен  194  публикации 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в социальных сетях бренда 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RUFLEX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и конкурентов.</a:t>
            </a:r>
            <a:endParaRPr lang="en-US" sz="2400" dirty="0">
              <a:solidFill>
                <a:srgbClr val="000000"/>
              </a:solidFill>
              <a:latin typeface="PF DinDisplay Pro" panose="02000506030000020004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Больше всего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публикаций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в совокупности по всем соцсетям у 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Docke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и 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RUFLEX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 (76 и 57).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Также активно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вели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соцсети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Roofshield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 (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включая соцсети завода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КРЗ)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и 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Tegola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.   </a:t>
            </a:r>
            <a:r>
              <a:rPr lang="en-US" sz="2400" dirty="0" err="1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Faracs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и 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Quiet 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Tile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соцсети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не вели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По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величине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аудитории и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числу просмотров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лидирует 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Docke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, по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вовлеченности (сумме лайков, репостов и комментариев)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– 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Tegola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.</a:t>
            </a:r>
            <a:endParaRPr lang="ru-RU" sz="2400" dirty="0">
              <a:solidFill>
                <a:srgbClr val="000000"/>
              </a:solidFill>
              <a:latin typeface="PF DinDisplay Pro" panose="02000506030000020004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Аудитория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данных  брендов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самая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активная .</a:t>
            </a:r>
            <a:endParaRPr lang="ru-RU" sz="2400" dirty="0">
              <a:solidFill>
                <a:srgbClr val="000000"/>
              </a:solidFill>
              <a:latin typeface="PF DinDisplay Pro" panose="02000506030000020004" pitchFamily="2" charset="0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По 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RUFLEX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аудитория –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6,1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тыс. чел, число просмотров –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1,4 тыс.,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вовлеченность –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162.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Самые популярные площадки , где было размещено большинство публикаций - 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telegram.org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и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vk.com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.</a:t>
            </a:r>
            <a:endParaRPr lang="ru-RU" sz="2400" u="sng" dirty="0">
              <a:solidFill>
                <a:srgbClr val="000000"/>
              </a:solidFill>
              <a:latin typeface="PF DinDisplay Pro" panose="02000506030000020004" pitchFamily="2" charset="0"/>
              <a:cs typeface="Open Sans"/>
            </a:endParaRPr>
          </a:p>
        </p:txBody>
      </p:sp>
      <p:graphicFrame>
        <p:nvGraphicFramePr>
          <p:cNvPr id="14" name="Диаграмма 1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88210579"/>
              </p:ext>
            </p:extLst>
          </p:nvPr>
        </p:nvGraphicFramePr>
        <p:xfrm>
          <a:off x="1773163" y="6988629"/>
          <a:ext cx="3468308" cy="57149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6" name="Диаграмма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74898336"/>
              </p:ext>
            </p:extLst>
          </p:nvPr>
        </p:nvGraphicFramePr>
        <p:xfrm>
          <a:off x="5470072" y="6988629"/>
          <a:ext cx="6319158" cy="55517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8" name="Диаграмма 1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6332156"/>
              </p:ext>
            </p:extLst>
          </p:nvPr>
        </p:nvGraphicFramePr>
        <p:xfrm>
          <a:off x="11818118" y="6958966"/>
          <a:ext cx="4114800" cy="55517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9" name="Диаграмма 1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34053293"/>
              </p:ext>
            </p:extLst>
          </p:nvPr>
        </p:nvGraphicFramePr>
        <p:xfrm>
          <a:off x="16344901" y="7007951"/>
          <a:ext cx="6611862" cy="55517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646411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14:reveal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/>
          <p:cNvGrpSpPr/>
          <p:nvPr/>
        </p:nvGrpSpPr>
        <p:grpSpPr>
          <a:xfrm>
            <a:off x="493485" y="483017"/>
            <a:ext cx="23367999" cy="2079087"/>
            <a:chOff x="5312170" y="483017"/>
            <a:chExt cx="13796525" cy="2079087"/>
          </a:xfrm>
        </p:grpSpPr>
        <p:sp>
          <p:nvSpPr>
            <p:cNvPr id="33" name="TextBox 32"/>
            <p:cNvSpPr txBox="1"/>
            <p:nvPr/>
          </p:nvSpPr>
          <p:spPr>
            <a:xfrm>
              <a:off x="5312170" y="483017"/>
              <a:ext cx="13796525" cy="1323421"/>
            </a:xfrm>
            <a:prstGeom prst="rect">
              <a:avLst/>
            </a:prstGeom>
            <a:noFill/>
          </p:spPr>
          <p:txBody>
            <a:bodyPr wrap="square" lIns="91422" tIns="45711" rIns="91422" bIns="45711" rtlCol="0">
              <a:spAutoFit/>
            </a:bodyPr>
            <a:lstStyle/>
            <a:p>
              <a:pPr algn="ctr"/>
              <a:r>
                <a:rPr lang="ru-RU" sz="8000" b="1" dirty="0">
                  <a:solidFill>
                    <a:srgbClr val="000000"/>
                  </a:solidFill>
                  <a:latin typeface="PF DinDisplay Pro" panose="02000506030000020004" pitchFamily="2" charset="0"/>
                  <a:cs typeface="Open Sans"/>
                </a:rPr>
                <a:t>Мониторинг</a:t>
              </a:r>
              <a:endParaRPr lang="id-ID" sz="8000" b="1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1412311" y="2470667"/>
              <a:ext cx="1553038" cy="9143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339" tIns="45672" rIns="91339" bIns="45672" rtlCol="0" anchor="ctr"/>
            <a:lstStyle/>
            <a:p>
              <a:pPr algn="ctr"/>
              <a:endParaRPr lang="en-US" dirty="0">
                <a:solidFill>
                  <a:schemeClr val="accent2"/>
                </a:solidFill>
                <a:latin typeface="PF DinDisplay Pro" panose="02000506030000020004" pitchFamily="2" charset="0"/>
              </a:endParaRPr>
            </a:p>
          </p:txBody>
        </p:sp>
        <p:sp>
          <p:nvSpPr>
            <p:cNvPr id="35" name="Subtitle 2"/>
            <p:cNvSpPr txBox="1">
              <a:spLocks/>
            </p:cNvSpPr>
            <p:nvPr/>
          </p:nvSpPr>
          <p:spPr>
            <a:xfrm>
              <a:off x="6361236" y="1634834"/>
              <a:ext cx="11655185" cy="839116"/>
            </a:xfrm>
            <a:prstGeom prst="rect">
              <a:avLst/>
            </a:prstGeom>
          </p:spPr>
          <p:txBody>
            <a:bodyPr vert="horz" lIns="217490" tIns="108745" rIns="217490" bIns="108745" rtlCol="0">
              <a:norm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Open Sans"/>
                <a:buNone/>
                <a:defRPr sz="2400" kern="1200">
                  <a:solidFill>
                    <a:schemeClr val="tx2"/>
                  </a:solidFill>
                  <a:latin typeface="Open Sans"/>
                  <a:ea typeface="+mn-ea"/>
                  <a:cs typeface="Open Sans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31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endParaRPr>
            </a:p>
          </p:txBody>
        </p:sp>
      </p:grpSp>
      <p:sp>
        <p:nvSpPr>
          <p:cNvPr id="17" name="Content Placeholder 2">
            <a:extLst>
              <a:ext uri="{FF2B5EF4-FFF2-40B4-BE49-F238E27FC236}">
                <a16:creationId xmlns="" xmlns:a16="http://schemas.microsoft.com/office/drawing/2014/main" id="{655D268E-C67B-41FF-BCDC-1144DBA9811B}"/>
              </a:ext>
            </a:extLst>
          </p:cNvPr>
          <p:cNvSpPr txBox="1">
            <a:spLocks/>
          </p:cNvSpPr>
          <p:nvPr/>
        </p:nvSpPr>
        <p:spPr bwMode="auto">
          <a:xfrm>
            <a:off x="10578546" y="13259226"/>
            <a:ext cx="3282370" cy="490431"/>
          </a:xfrm>
          <a:prstGeom prst="rect">
            <a:avLst/>
          </a:prstGeom>
        </p:spPr>
        <p:txBody>
          <a:bodyPr wrap="square" lIns="182843" tIns="91422" rIns="182843" bIns="91422" numCol="1" anchor="t" anchorCtr="0" compatLnSpc="1">
            <a:prstTxWarp prst="textNoShape">
              <a:avLst/>
            </a:prstTxWarp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Open Sans"/>
                <a:cs typeface="Open Sans"/>
              </a:rPr>
              <a:t>wbooster.ru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="" xmlns:a16="http://schemas.microsoft.com/office/drawing/2014/main" id="{096E1E1C-42FD-4B10-AFAC-95EFF8947E27}"/>
              </a:ext>
            </a:extLst>
          </p:cNvPr>
          <p:cNvSpPr txBox="1">
            <a:spLocks/>
          </p:cNvSpPr>
          <p:nvPr/>
        </p:nvSpPr>
        <p:spPr>
          <a:xfrm>
            <a:off x="2270350" y="1689413"/>
            <a:ext cx="19741083" cy="839116"/>
          </a:xfrm>
          <a:prstGeom prst="rect">
            <a:avLst/>
          </a:prstGeom>
        </p:spPr>
        <p:txBody>
          <a:bodyPr vert="horz" lIns="217490" tIns="108745" rIns="217490" bIns="108745" rtlCol="0">
            <a:norm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Open Sans"/>
              <a:buNone/>
              <a:defRPr sz="240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100" b="1" dirty="0">
                <a:solidFill>
                  <a:schemeClr val="bg2">
                    <a:lumMod val="65000"/>
                  </a:schemeClr>
                </a:solidFill>
                <a:latin typeface="PF DinDisplay Pro" panose="02000506030000020004" pitchFamily="2" charset="0"/>
                <a:cs typeface="Open Sans"/>
              </a:rPr>
              <a:t>Тег: </a:t>
            </a:r>
            <a:r>
              <a:rPr lang="ru-RU" sz="3100" b="1" dirty="0" err="1">
                <a:solidFill>
                  <a:schemeClr val="bg2">
                    <a:lumMod val="65000"/>
                  </a:schemeClr>
                </a:solidFill>
                <a:latin typeface="PF DinDisplay Pro" panose="02000506030000020004" pitchFamily="2" charset="0"/>
                <a:cs typeface="Open Sans"/>
              </a:rPr>
              <a:t>СоцС</a:t>
            </a:r>
            <a:endParaRPr lang="ru-RU" sz="3100" b="1" dirty="0">
              <a:solidFill>
                <a:schemeClr val="bg2">
                  <a:lumMod val="65000"/>
                </a:schemeClr>
              </a:solidFill>
              <a:latin typeface="PF DinDisplay Pro" panose="02000506030000020004" pitchFamily="2" charset="0"/>
              <a:cs typeface="Open Sans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825322" y="2716917"/>
            <a:ext cx="2053537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Перечень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групп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в социальных сетях по брендам представлен в таблице. Больше всего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площадок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у 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RUFLEX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и 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Docke –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по 7.</a:t>
            </a:r>
            <a:endParaRPr lang="ru-RU" sz="2400" dirty="0">
              <a:solidFill>
                <a:srgbClr val="000000"/>
              </a:solidFill>
              <a:latin typeface="PF DinDisplay Pro" panose="02000506030000020004" pitchFamily="2" charset="0"/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8582115"/>
              </p:ext>
            </p:extLst>
          </p:nvPr>
        </p:nvGraphicFramePr>
        <p:xfrm>
          <a:off x="2092326" y="3737936"/>
          <a:ext cx="20473759" cy="67776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1958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79180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57502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79399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412843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2391533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1401397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1089865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1853908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1853908"/>
                <a:gridCol w="1989901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</a:tblGrid>
              <a:tr h="388808"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u="none" strike="noStrike" dirty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</a:rPr>
                        <a:t> </a:t>
                      </a:r>
                      <a:endParaRPr lang="ru-RU" sz="2000" b="1" i="0" u="none" strike="noStrike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1" u="none" strike="noStrike" dirty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</a:rPr>
                        <a:t>ВК</a:t>
                      </a:r>
                      <a:endParaRPr lang="ru-RU" sz="2000" b="1" i="0" u="none" strike="noStrike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</a:rPr>
                        <a:t>YouTube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1" u="none" strike="noStrike" dirty="0" smtClean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</a:rPr>
                        <a:t>ОК</a:t>
                      </a:r>
                      <a:endParaRPr lang="ru-RU" sz="2000" b="1" i="0" u="none" strike="noStrike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1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</a:rPr>
                        <a:t>Д</a:t>
                      </a:r>
                      <a:r>
                        <a:rPr lang="ru-RU" sz="2000" b="1" u="none" strike="noStrike" dirty="0" smtClean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</a:rPr>
                        <a:t>зен</a:t>
                      </a:r>
                      <a:endParaRPr lang="ru-RU" sz="2000" b="1" i="0" u="none" strike="noStrike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1" u="none" strike="noStrike" dirty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</a:rPr>
                        <a:t>Телеграм</a:t>
                      </a:r>
                      <a:endParaRPr lang="ru-RU" sz="2000" b="1" i="0" u="none" strike="noStrike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 err="1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</a:rPr>
                        <a:t>RuTube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</a:rPr>
                        <a:t>X</a:t>
                      </a:r>
                      <a:r>
                        <a:rPr lang="ru-RU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</a:rPr>
                        <a:t>.</a:t>
                      </a:r>
                      <a:r>
                        <a:rPr lang="en-US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</a:rPr>
                        <a:t>com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 err="1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</a:rPr>
                        <a:t>Instagram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</a:rPr>
                        <a:t>MAX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1" u="none" strike="noStrike" dirty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</a:rPr>
                        <a:t>Итого площадок</a:t>
                      </a:r>
                      <a:endParaRPr lang="ru-RU" sz="2000" b="1" i="0" u="none" strike="noStrike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9289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</a:rPr>
                        <a:t>RUFLEX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900" dirty="0" smtClean="0">
                          <a:latin typeface="PF DinDisplay Pro" panose="02000506030000020004" pitchFamily="2" charset="0"/>
                          <a:hlinkClick r:id="rId2"/>
                        </a:rPr>
                        <a:t>http://vk.com/club25423789</a:t>
                      </a:r>
                      <a:endParaRPr lang="en-US" sz="1900" b="0" i="0" u="sng" strike="noStrike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900" dirty="0">
                          <a:latin typeface="PF DinDisplay Pro" panose="02000506030000020004" pitchFamily="2" charset="0"/>
                          <a:hlinkClick r:id="rId3"/>
                        </a:rPr>
                        <a:t>http://youtube.com/channel/UCBXkFIbPwiGw5fFl31ufiaw</a:t>
                      </a:r>
                      <a:endParaRPr lang="en-US" sz="1900" b="0" i="0" u="sng" strike="noStrike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900" b="0" i="0" u="sng" strike="noStrike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900" dirty="0" smtClean="0">
                          <a:latin typeface="PF DinDisplay Pro" panose="02000506030000020004" pitchFamily="2" charset="0"/>
                          <a:hlinkClick r:id="rId4"/>
                        </a:rPr>
                        <a:t>https://dzen.ru/ruflexdranka</a:t>
                      </a:r>
                      <a:endParaRPr lang="en-US" sz="1900" b="0" i="0" u="sng" strike="noStrike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1828434" rtl="0" eaLnBrk="1" fontAlgn="ctr" latinLnBrk="0" hangingPunct="1"/>
                      <a:r>
                        <a:rPr lang="en-US" sz="1900" b="0" u="sng" strike="noStrike" kern="1200" dirty="0">
                          <a:solidFill>
                            <a:srgbClr val="FF0000"/>
                          </a:solidFill>
                          <a:effectLst/>
                          <a:latin typeface="PF DinDisplay Pro" panose="02000506030000020004" pitchFamily="2" charset="0"/>
                          <a:ea typeface="+mn-ea"/>
                          <a:cs typeface="+mn-cs"/>
                        </a:rPr>
                        <a:t>t.me/</a:t>
                      </a:r>
                      <a:r>
                        <a:rPr lang="en-US" sz="1900" b="0" u="sng" strike="noStrike" kern="1200" dirty="0" err="1">
                          <a:solidFill>
                            <a:srgbClr val="FF0000"/>
                          </a:solidFill>
                          <a:effectLst/>
                          <a:latin typeface="PF DinDisplay Pro" panose="02000506030000020004" pitchFamily="2" charset="0"/>
                          <a:ea typeface="+mn-ea"/>
                          <a:cs typeface="+mn-cs"/>
                        </a:rPr>
                        <a:t>ruflex</a:t>
                      </a:r>
                      <a:endParaRPr lang="ru-RU" sz="1900" b="0" u="sng" strike="noStrike" kern="1200" dirty="0">
                        <a:solidFill>
                          <a:srgbClr val="FF0000"/>
                        </a:solidFill>
                        <a:effectLst/>
                        <a:latin typeface="PF DinDisplay Pro" panose="02000506030000020004" pitchFamily="2" charset="0"/>
                        <a:ea typeface="+mn-ea"/>
                        <a:cs typeface="+mn-cs"/>
                      </a:endParaRPr>
                    </a:p>
                    <a:p>
                      <a:pPr marL="0" algn="ctr" defTabSz="1828434" rtl="0" eaLnBrk="1" fontAlgn="ctr" latinLnBrk="0" hangingPunct="1"/>
                      <a:endParaRPr lang="en-US" sz="1900" b="0" u="sng" strike="noStrike" kern="1200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1828434" rtl="0" eaLnBrk="1" fontAlgn="ctr" latinLnBrk="0" hangingPunct="1"/>
                      <a:r>
                        <a:rPr lang="en-US" sz="1900" b="0" u="sng" strike="noStrike" kern="1200" dirty="0" smtClean="0">
                          <a:solidFill>
                            <a:srgbClr val="FF0000"/>
                          </a:solidFill>
                          <a:effectLst/>
                          <a:latin typeface="PF DinDisplay Pro" panose="02000506030000020004" pitchFamily="2" charset="0"/>
                          <a:ea typeface="+mn-ea"/>
                          <a:cs typeface="+mn-cs"/>
                        </a:rPr>
                        <a:t>https://rutube.ru/channel/59018421</a:t>
                      </a:r>
                      <a:r>
                        <a:rPr lang="en-US" sz="1900" b="0" u="sng" strike="noStrike" kern="1200" dirty="0" smtClean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  <a:ea typeface="+mn-ea"/>
                          <a:cs typeface="+mn-cs"/>
                        </a:rPr>
                        <a:t>/</a:t>
                      </a:r>
                      <a:endParaRPr lang="en-US" sz="1900" b="0" u="sng" strike="noStrike" kern="1200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900" dirty="0" smtClean="0">
                          <a:latin typeface="PF DinDisplay Pro" panose="02000506030000020004" pitchFamily="2" charset="0"/>
                          <a:hlinkClick r:id="rId5"/>
                        </a:rPr>
                        <a:t>https://x.com/ruflex_ru</a:t>
                      </a:r>
                      <a:endParaRPr lang="en-US" sz="1900" b="0" i="0" u="sng" strike="noStrike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900" dirty="0">
                          <a:latin typeface="PF DinDisplay Pro" panose="02000506030000020004" pitchFamily="2" charset="0"/>
                          <a:hlinkClick r:id="rId6"/>
                        </a:rPr>
                        <a:t>http://instagram.com/ruflex_official</a:t>
                      </a:r>
                      <a:endParaRPr lang="en-US" sz="1900" b="0" i="0" u="sng" strike="noStrike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900" b="0" i="0" u="sng" strike="noStrike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</a:rPr>
                        <a:t>7</a:t>
                      </a:r>
                      <a:endParaRPr lang="ru-RU" sz="2000" b="1" i="0" u="none" strike="noStrike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19422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PF DinDisplay Pro" panose="02000506030000020004" pitchFamily="2" charset="0"/>
                          <a:cs typeface="Open Sans"/>
                        </a:rPr>
                        <a:t>Roofshield</a:t>
                      </a:r>
                      <a:endParaRPr lang="ru-RU" sz="2000" b="1" i="0" u="none" strike="noStrike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900" b="0" i="0" u="sng" strike="noStrike" dirty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  <a:hlinkClick r:id="rId7"/>
                        </a:rPr>
                        <a:t>https://vk.com/mpkkrz</a:t>
                      </a:r>
                      <a:endParaRPr lang="ru-RU" sz="1900" b="0" i="0" u="sng" strike="noStrike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  <a:p>
                      <a:pPr algn="ctr" fontAlgn="ctr"/>
                      <a:endParaRPr lang="ru-RU" sz="1900" b="0" i="0" u="sng" strike="noStrike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  <a:p>
                      <a:pPr algn="ctr" fontAlgn="ctr"/>
                      <a:r>
                        <a:rPr lang="en-US" sz="1900" b="0" i="0" u="sng" strike="noStrike" dirty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  <a:hlinkClick r:id="rId8"/>
                        </a:rPr>
                        <a:t>https://vk.com/roofshield</a:t>
                      </a:r>
                      <a:endParaRPr lang="ru-RU" sz="1900" b="0" i="0" u="sng" strike="noStrike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  <a:p>
                      <a:pPr algn="ctr" fontAlgn="ctr"/>
                      <a:endParaRPr lang="en-US" sz="1900" b="0" i="0" u="sng" strike="noStrike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900" b="0" i="0" u="sng" strike="noStrike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900" b="0" i="0" u="sng" strike="noStrike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900" dirty="0" smtClean="0">
                          <a:latin typeface="PF DinDisplay Pro" panose="02000506030000020004" pitchFamily="2" charset="0"/>
                          <a:hlinkClick r:id="rId9"/>
                        </a:rPr>
                        <a:t>https://dzen.ru/mpkkrz</a:t>
                      </a:r>
                      <a:endParaRPr lang="en-US" sz="1900" b="0" i="0" u="sng" strike="noStrike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1828434" rtl="0" eaLnBrk="1" fontAlgn="ctr" latinLnBrk="0" hangingPunct="1"/>
                      <a:r>
                        <a:rPr lang="en-US" sz="1900" u="sng" strike="noStrike" kern="1200" dirty="0">
                          <a:solidFill>
                            <a:srgbClr val="FF0000"/>
                          </a:solidFill>
                          <a:effectLst/>
                          <a:latin typeface="PF DinDisplay Pro" panose="02000506030000020004" pitchFamily="2" charset="0"/>
                          <a:ea typeface="+mn-ea"/>
                          <a:cs typeface="+mn-cs"/>
                        </a:rPr>
                        <a:t>t.me/</a:t>
                      </a:r>
                      <a:r>
                        <a:rPr lang="en-US" sz="1900" u="sng" strike="noStrike" kern="1200" dirty="0" err="1">
                          <a:solidFill>
                            <a:srgbClr val="FF0000"/>
                          </a:solidFill>
                          <a:effectLst/>
                          <a:latin typeface="PF DinDisplay Pro" panose="02000506030000020004" pitchFamily="2" charset="0"/>
                          <a:ea typeface="+mn-ea"/>
                          <a:cs typeface="+mn-cs"/>
                        </a:rPr>
                        <a:t>mpkrz</a:t>
                      </a:r>
                      <a:endParaRPr lang="ru-RU" sz="1900" u="sng" strike="noStrike" kern="1200" dirty="0">
                        <a:solidFill>
                          <a:srgbClr val="FF0000"/>
                        </a:solidFill>
                        <a:effectLst/>
                        <a:latin typeface="PF DinDisplay Pro" panose="02000506030000020004" pitchFamily="2" charset="0"/>
                        <a:ea typeface="+mn-ea"/>
                        <a:cs typeface="+mn-cs"/>
                      </a:endParaRPr>
                    </a:p>
                    <a:p>
                      <a:pPr marL="0" algn="ctr" defTabSz="1828434" rtl="0" eaLnBrk="1" fontAlgn="ctr" latinLnBrk="0" hangingPunct="1"/>
                      <a:endParaRPr lang="en-US" sz="1900" u="sng" strike="noStrike" kern="1200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1828434" rtl="0" eaLnBrk="1" fontAlgn="ctr" latinLnBrk="0" hangingPunct="1"/>
                      <a:r>
                        <a:rPr lang="en-US" sz="1900" u="sng" strike="noStrike" kern="1200" dirty="0" smtClean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  <a:ea typeface="+mn-ea"/>
                          <a:cs typeface="+mn-cs"/>
                          <a:hlinkClick r:id="rId10"/>
                        </a:rPr>
                        <a:t>https://rutube.ru/channel/33556134/</a:t>
                      </a:r>
                      <a:endParaRPr lang="ru-RU" sz="1900" u="sng" strike="noStrike" kern="1200" dirty="0" smtClean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  <a:ea typeface="+mn-ea"/>
                        <a:cs typeface="+mn-cs"/>
                      </a:endParaRPr>
                    </a:p>
                    <a:p>
                      <a:pPr marL="0" algn="ctr" defTabSz="1828434" rtl="0" eaLnBrk="1" fontAlgn="ctr" latinLnBrk="0" hangingPunct="1"/>
                      <a:endParaRPr lang="en-US" sz="1900" u="sng" strike="noStrike" kern="1200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900" b="0" i="0" u="sng" strike="noStrike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900" b="0" i="0" u="sng" strike="noStrike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900" b="0" i="0" u="sng" strike="noStrike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</a:rPr>
                        <a:t>4</a:t>
                      </a:r>
                      <a:endParaRPr lang="ru-RU" sz="2000" b="1" i="0" u="none" strike="noStrike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286097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 err="1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</a:rPr>
                        <a:t>Docke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900" u="sng" strike="noStrike" dirty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  <a:hlinkClick r:id="rId11"/>
                        </a:rPr>
                        <a:t>https://vk.com/dockeru</a:t>
                      </a:r>
                      <a:endParaRPr lang="en-US" sz="1900" b="0" i="0" u="sng" strike="noStrike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900" u="sng" strike="noStrike" dirty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  <a:hlinkClick r:id="rId12"/>
                        </a:rPr>
                        <a:t>https://www.youtube.com/@DockeDom</a:t>
                      </a:r>
                      <a:endParaRPr lang="en-US" sz="1900" b="0" i="0" u="sng" strike="noStrike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900" u="sng" strike="noStrike" dirty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  <a:hlinkClick r:id="rId13"/>
                        </a:rPr>
                        <a:t>https://ok.ru/group/54338769780817</a:t>
                      </a:r>
                      <a:endParaRPr lang="en-US" sz="1900" b="0" i="0" u="sng" strike="noStrike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900" u="sng" strike="noStrike" dirty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  <a:hlinkClick r:id="rId14"/>
                        </a:rPr>
                        <a:t>https://dzen.ru/docke</a:t>
                      </a:r>
                      <a:endParaRPr lang="en-US" sz="1900" b="0" i="0" u="sng" strike="noStrike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900" u="sng" strike="noStrike" dirty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  <a:hlinkClick r:id="rId15"/>
                        </a:rPr>
                        <a:t>https://telegram.me/dockeofficial</a:t>
                      </a:r>
                      <a:endParaRPr lang="en-US" sz="1900" b="0" i="0" u="sng" strike="noStrike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900" u="none" strike="noStrike" dirty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  <a:hlinkClick r:id="rId16"/>
                        </a:rPr>
                        <a:t>https://rutube.ru/channel/24621492/</a:t>
                      </a:r>
                      <a:endParaRPr lang="ru-RU" sz="1900" u="none" strike="noStrike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  <a:p>
                      <a:pPr algn="ctr" fontAlgn="ctr"/>
                      <a:r>
                        <a:rPr lang="ru-RU" sz="1900" u="none" strike="noStrike" dirty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</a:rPr>
                        <a:t> 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900" u="none" strike="noStrike" dirty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</a:rPr>
                        <a:t> 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900" u="none" strike="noStrike" dirty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</a:rPr>
                        <a:t> 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dirty="0" smtClean="0">
                          <a:latin typeface="PF DinDisplay Pro" panose="02000506030000020004" pitchFamily="2" charset="0"/>
                          <a:hlinkClick r:id="rId17"/>
                        </a:rPr>
                        <a:t>https://max.ru/dockeru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</a:rPr>
                        <a:t>7</a:t>
                      </a:r>
                      <a:endParaRPr lang="ru-RU" sz="2000" b="1" i="0" u="none" strike="noStrike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785366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 err="1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</a:rPr>
                        <a:t>Tegola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900" u="sng" strike="noStrike" dirty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  <a:hlinkClick r:id="rId18"/>
                        </a:rPr>
                        <a:t>https://vk.com/club114225157</a:t>
                      </a:r>
                      <a:endParaRPr lang="en-US" sz="1900" b="0" i="0" u="sng" strike="noStrike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900" u="sng" strike="noStrike" dirty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  <a:hlinkClick r:id="rId19"/>
                        </a:rPr>
                        <a:t>https://www.youtube.com/@tegolaru</a:t>
                      </a:r>
                      <a:endParaRPr lang="en-US" sz="1900" b="0" i="0" u="sng" strike="noStrike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900" u="none" strike="noStrike" dirty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</a:rPr>
                        <a:t> 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900" u="none" strike="noStrike" dirty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</a:rPr>
                        <a:t> </a:t>
                      </a:r>
                      <a:r>
                        <a:rPr lang="en-US" sz="1900" u="sng" strike="noStrike" dirty="0">
                          <a:solidFill>
                            <a:srgbClr val="FF0000"/>
                          </a:solidFill>
                          <a:effectLst/>
                          <a:latin typeface="PF DinDisplay Pro" panose="02000506030000020004" pitchFamily="2" charset="0"/>
                        </a:rPr>
                        <a:t>https://dzen.ru/id/5f169d5cd9d70f6a9d7e7a08</a:t>
                      </a:r>
                      <a:endParaRPr lang="ru-RU" sz="1900" u="sng" strike="noStrike" dirty="0">
                        <a:solidFill>
                          <a:srgbClr val="FF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  <a:p>
                      <a:pPr algn="ctr" fontAlgn="ctr"/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1828434" rtl="0" eaLnBrk="1" fontAlgn="ctr" latinLnBrk="0" hangingPunct="1"/>
                      <a:r>
                        <a:rPr lang="en-US" sz="1900" u="sng" strike="noStrike" kern="1200" dirty="0">
                          <a:solidFill>
                            <a:srgbClr val="FF0000"/>
                          </a:solidFill>
                          <a:effectLst/>
                          <a:latin typeface="PF DinDisplay Pro" panose="02000506030000020004" pitchFamily="2" charset="0"/>
                          <a:ea typeface="+mn-ea"/>
                          <a:cs typeface="+mn-cs"/>
                        </a:rPr>
                        <a:t>https://t.me/tegola_russia</a:t>
                      </a:r>
                      <a:r>
                        <a:rPr lang="ru-RU" sz="1900" u="sng" strike="noStrike" kern="1200" dirty="0">
                          <a:solidFill>
                            <a:srgbClr val="FF0000"/>
                          </a:solidFill>
                          <a:effectLst/>
                          <a:latin typeface="PF DinDisplay Pro" panose="02000506030000020004" pitchFamily="2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900" u="none" strike="noStrike" dirty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  <a:hlinkClick r:id="rId20"/>
                        </a:rPr>
                        <a:t>https://rutube.ru/channel/44039670/</a:t>
                      </a:r>
                      <a:endParaRPr lang="ru-RU" sz="1900" u="none" strike="noStrike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  <a:p>
                      <a:pPr algn="ctr" fontAlgn="ctr"/>
                      <a:r>
                        <a:rPr lang="ru-RU" sz="1900" u="none" strike="noStrike" dirty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</a:rPr>
                        <a:t> 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900" u="none" strike="noStrike" dirty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</a:rPr>
                        <a:t> 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900" dirty="0">
                          <a:latin typeface="PF DinDisplay Pro" panose="02000506030000020004" pitchFamily="2" charset="0"/>
                          <a:hlinkClick r:id="rId21"/>
                        </a:rPr>
                        <a:t>http://instagram.com/prozarovskaya</a:t>
                      </a:r>
                      <a:r>
                        <a:rPr lang="ru-RU" sz="1900" u="none" strike="noStrike" dirty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</a:rPr>
                        <a:t> 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</a:rPr>
                        <a:t>6</a:t>
                      </a:r>
                      <a:endParaRPr lang="ru-RU" sz="2000" b="1" i="0" u="none" strike="noStrike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194220">
                <a:tc>
                  <a:txBody>
                    <a:bodyPr/>
                    <a:lstStyle/>
                    <a:p>
                      <a:pPr marL="0" algn="l" defTabSz="1828434" rtl="0" eaLnBrk="1" fontAlgn="ctr" latinLnBrk="0" hangingPunct="1"/>
                      <a:r>
                        <a:rPr lang="en-US" sz="200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  <a:ea typeface="+mn-ea"/>
                          <a:cs typeface="+mn-cs"/>
                        </a:rPr>
                        <a:t>Faracs</a:t>
                      </a:r>
                      <a:endParaRPr lang="en-US" sz="2000" u="none" strike="noStrike" kern="1200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900" dirty="0" smtClean="0">
                          <a:latin typeface="PF DinDisplay Pro" panose="02000506030000020004" pitchFamily="2" charset="0"/>
                          <a:hlinkClick r:id="rId22"/>
                        </a:rPr>
                        <a:t>http://vk.com/club229790609</a:t>
                      </a:r>
                      <a:endParaRPr lang="en-US" sz="1900" b="0" i="0" u="sng" strike="noStrike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900" dirty="0" smtClean="0">
                          <a:latin typeface="PF DinDisplay Pro" panose="02000506030000020004" pitchFamily="2" charset="0"/>
                          <a:hlinkClick r:id="rId23"/>
                        </a:rPr>
                        <a:t>http://youtube.com/channel/UCq6fpOWeDgv6sObmnvqIV6g</a:t>
                      </a:r>
                      <a:endParaRPr lang="en-US" sz="1900" b="0" i="0" u="sng" strike="noStrike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900" dirty="0" smtClean="0">
                          <a:latin typeface="PF DinDisplay Pro" panose="02000506030000020004" pitchFamily="2" charset="0"/>
                          <a:hlinkClick r:id="rId24"/>
                        </a:rPr>
                        <a:t>https://dzen.ru/id/67dbba54a7f58e4248450db6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1828434" rtl="0" eaLnBrk="1" fontAlgn="ctr" latinLnBrk="0" hangingPunct="1"/>
                      <a:r>
                        <a:rPr lang="en-US" sz="1900" u="sng" strike="noStrike" kern="1200" dirty="0" smtClean="0">
                          <a:solidFill>
                            <a:srgbClr val="FF0000"/>
                          </a:solidFill>
                          <a:effectLst/>
                          <a:latin typeface="PF DinDisplay Pro" panose="02000506030000020004" pitchFamily="2" charset="0"/>
                          <a:ea typeface="+mn-ea"/>
                          <a:cs typeface="+mn-cs"/>
                        </a:rPr>
                        <a:t>t.me/</a:t>
                      </a:r>
                      <a:r>
                        <a:rPr lang="en-US" sz="1900" u="sng" strike="noStrike" kern="1200" dirty="0" err="1" smtClean="0">
                          <a:solidFill>
                            <a:srgbClr val="FF0000"/>
                          </a:solidFill>
                          <a:effectLst/>
                          <a:latin typeface="PF DinDisplay Pro" panose="02000506030000020004" pitchFamily="2" charset="0"/>
                          <a:ea typeface="+mn-ea"/>
                          <a:cs typeface="+mn-cs"/>
                        </a:rPr>
                        <a:t>faracsru</a:t>
                      </a:r>
                      <a:endParaRPr lang="ru-RU" sz="1900" u="sng" strike="noStrike" kern="1200" dirty="0">
                        <a:solidFill>
                          <a:srgbClr val="FF0000"/>
                        </a:solidFill>
                        <a:effectLst/>
                        <a:latin typeface="PF DinDisplay Pro" panose="02000506030000020004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900" dirty="0" smtClean="0">
                          <a:latin typeface="PF DinDisplay Pro" panose="02000506030000020004" pitchFamily="2" charset="0"/>
                          <a:hlinkClick r:id="rId25"/>
                        </a:rPr>
                        <a:t>https://rutube.ru/video/person/59340115/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PF DinDisplay Pro" panose="02000506030000020004" pitchFamily="2" charset="0"/>
                        </a:rPr>
                        <a:t>5</a:t>
                      </a:r>
                      <a:endParaRPr lang="ru-RU" sz="2000" b="1" i="0" u="none" strike="noStrike" dirty="0">
                        <a:solidFill>
                          <a:srgbClr val="000000"/>
                        </a:solidFill>
                        <a:effectLst/>
                        <a:latin typeface="PF DinDisplay Pro" panose="02000506030000020004" pitchFamily="2" charset="0"/>
                      </a:endParaRPr>
                    </a:p>
                  </a:txBody>
                  <a:tcPr marL="7620" marR="7620" marT="7620" marB="0" anchor="ctr"/>
                </a:tc>
              </a:tr>
            </a:tbl>
          </a:graphicData>
        </a:graphic>
      </p:graphicFrame>
      <p:sp>
        <p:nvSpPr>
          <p:cNvPr id="4" name="Прямоугольник 3"/>
          <p:cNvSpPr/>
          <p:nvPr/>
        </p:nvSpPr>
        <p:spPr>
          <a:xfrm>
            <a:off x="1825322" y="10824296"/>
            <a:ext cx="20980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u="sng" dirty="0">
                <a:solidFill>
                  <a:srgbClr val="000000"/>
                </a:solidFill>
                <a:latin typeface="PF DinDisplay Pro" panose="02000506030000020004" pitchFamily="2" charset="0"/>
              </a:rPr>
              <a:t>Рекомендация: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 для увеличения числа каналов распространения информации о бренде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размещать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контент на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различных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площадках, популяризировать бренд через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 контент  различного формата и репосты. Добавить в список активных площадку  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MAX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52836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14:reveal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/>
          <p:cNvGrpSpPr/>
          <p:nvPr/>
        </p:nvGrpSpPr>
        <p:grpSpPr>
          <a:xfrm>
            <a:off x="493485" y="483017"/>
            <a:ext cx="23367999" cy="2079087"/>
            <a:chOff x="5312170" y="483017"/>
            <a:chExt cx="13796525" cy="2079087"/>
          </a:xfrm>
        </p:grpSpPr>
        <p:sp>
          <p:nvSpPr>
            <p:cNvPr id="33" name="TextBox 32"/>
            <p:cNvSpPr txBox="1"/>
            <p:nvPr/>
          </p:nvSpPr>
          <p:spPr>
            <a:xfrm>
              <a:off x="5312170" y="483017"/>
              <a:ext cx="13796525" cy="1323421"/>
            </a:xfrm>
            <a:prstGeom prst="rect">
              <a:avLst/>
            </a:prstGeom>
            <a:noFill/>
          </p:spPr>
          <p:txBody>
            <a:bodyPr wrap="square" lIns="91422" tIns="45711" rIns="91422" bIns="45711" rtlCol="0">
              <a:spAutoFit/>
            </a:bodyPr>
            <a:lstStyle/>
            <a:p>
              <a:pPr algn="ctr"/>
              <a:r>
                <a:rPr lang="ru-RU" sz="8000" b="1" dirty="0">
                  <a:solidFill>
                    <a:srgbClr val="000000"/>
                  </a:solidFill>
                  <a:latin typeface="PF DinDisplay Pro" panose="02000506030000020004" pitchFamily="2" charset="0"/>
                  <a:cs typeface="Open Sans"/>
                </a:rPr>
                <a:t>Мониторинг</a:t>
              </a:r>
              <a:endParaRPr lang="id-ID" sz="8000" b="1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1412311" y="2470667"/>
              <a:ext cx="1553038" cy="9143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339" tIns="45672" rIns="91339" bIns="45672" rtlCol="0" anchor="ctr"/>
            <a:lstStyle/>
            <a:p>
              <a:pPr algn="ctr"/>
              <a:endParaRPr lang="en-US" dirty="0">
                <a:solidFill>
                  <a:schemeClr val="accent2"/>
                </a:solidFill>
                <a:latin typeface="PF DinDisplay Pro" panose="02000506030000020004" pitchFamily="2" charset="0"/>
              </a:endParaRPr>
            </a:p>
          </p:txBody>
        </p:sp>
        <p:sp>
          <p:nvSpPr>
            <p:cNvPr id="35" name="Subtitle 2"/>
            <p:cNvSpPr txBox="1">
              <a:spLocks/>
            </p:cNvSpPr>
            <p:nvPr/>
          </p:nvSpPr>
          <p:spPr>
            <a:xfrm>
              <a:off x="6361236" y="1634834"/>
              <a:ext cx="11655185" cy="839116"/>
            </a:xfrm>
            <a:prstGeom prst="rect">
              <a:avLst/>
            </a:prstGeom>
          </p:spPr>
          <p:txBody>
            <a:bodyPr vert="horz" lIns="217490" tIns="108745" rIns="217490" bIns="108745" rtlCol="0">
              <a:norm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Open Sans"/>
                <a:buNone/>
                <a:defRPr sz="2400" kern="1200">
                  <a:solidFill>
                    <a:schemeClr val="tx2"/>
                  </a:solidFill>
                  <a:latin typeface="Open Sans"/>
                  <a:ea typeface="+mn-ea"/>
                  <a:cs typeface="Open Sans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31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endParaRPr>
            </a:p>
          </p:txBody>
        </p:sp>
      </p:grpSp>
      <p:sp>
        <p:nvSpPr>
          <p:cNvPr id="17" name="Content Placeholder 2">
            <a:extLst>
              <a:ext uri="{FF2B5EF4-FFF2-40B4-BE49-F238E27FC236}">
                <a16:creationId xmlns="" xmlns:a16="http://schemas.microsoft.com/office/drawing/2014/main" id="{655D268E-C67B-41FF-BCDC-1144DBA9811B}"/>
              </a:ext>
            </a:extLst>
          </p:cNvPr>
          <p:cNvSpPr txBox="1">
            <a:spLocks/>
          </p:cNvSpPr>
          <p:nvPr/>
        </p:nvSpPr>
        <p:spPr bwMode="auto">
          <a:xfrm>
            <a:off x="10578546" y="13259226"/>
            <a:ext cx="3282370" cy="490431"/>
          </a:xfrm>
          <a:prstGeom prst="rect">
            <a:avLst/>
          </a:prstGeom>
        </p:spPr>
        <p:txBody>
          <a:bodyPr wrap="square" lIns="182843" tIns="91422" rIns="182843" bIns="91422" numCol="1" anchor="t" anchorCtr="0" compatLnSpc="1">
            <a:prstTxWarp prst="textNoShape">
              <a:avLst/>
            </a:prstTxWarp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Open Sans"/>
                <a:cs typeface="Open Sans"/>
              </a:rPr>
              <a:t>wbooster.ru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="" xmlns:a16="http://schemas.microsoft.com/office/drawing/2014/main" id="{096E1E1C-42FD-4B10-AFAC-95EFF8947E27}"/>
              </a:ext>
            </a:extLst>
          </p:cNvPr>
          <p:cNvSpPr txBox="1">
            <a:spLocks/>
          </p:cNvSpPr>
          <p:nvPr/>
        </p:nvSpPr>
        <p:spPr>
          <a:xfrm>
            <a:off x="2306942" y="1629951"/>
            <a:ext cx="19741083" cy="839116"/>
          </a:xfrm>
          <a:prstGeom prst="rect">
            <a:avLst/>
          </a:prstGeom>
        </p:spPr>
        <p:txBody>
          <a:bodyPr vert="horz" lIns="217490" tIns="108745" rIns="217490" bIns="108745" rtlCol="0">
            <a:norm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Open Sans"/>
              <a:buNone/>
              <a:defRPr sz="240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100" b="1" dirty="0">
                <a:solidFill>
                  <a:schemeClr val="bg2">
                    <a:lumMod val="65000"/>
                  </a:schemeClr>
                </a:solidFill>
                <a:latin typeface="PF DinDisplay Pro" panose="02000506030000020004" pitchFamily="2" charset="0"/>
                <a:cs typeface="Open Sans"/>
              </a:rPr>
              <a:t>Тег: </a:t>
            </a:r>
            <a:r>
              <a:rPr lang="en-US" sz="3100" b="1" dirty="0">
                <a:solidFill>
                  <a:schemeClr val="bg2">
                    <a:lumMod val="65000"/>
                  </a:schemeClr>
                </a:solidFill>
                <a:latin typeface="PF DinDisplay Pro" panose="02000506030000020004" pitchFamily="2" charset="0"/>
                <a:cs typeface="Open Sans"/>
              </a:rPr>
              <a:t>PR</a:t>
            </a:r>
            <a:endParaRPr lang="ru-RU" sz="3100" b="1" dirty="0">
              <a:solidFill>
                <a:schemeClr val="bg2">
                  <a:lumMod val="65000"/>
                </a:schemeClr>
              </a:solidFill>
              <a:latin typeface="PF DinDisplay Pro" panose="02000506030000020004" pitchFamily="2" charset="0"/>
              <a:cs typeface="Open Sans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2270348" y="2572107"/>
            <a:ext cx="20640449" cy="5447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В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исследуемом периоде 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RUFLEX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и конкуренты 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упоминались в информационном пространстве в контексте участия в различных мероприятиях: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обучающие семинары,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выступления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экспертов, благотворительные мероприятия и т.п.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За период был выявлен 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201  пост  с тегом «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PR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».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Лидер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по числу поминаний, связанных с 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PR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-активностями – 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Tegola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 (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89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%). </a:t>
            </a:r>
            <a:endParaRPr lang="ru-RU" sz="2400" dirty="0">
              <a:solidFill>
                <a:srgbClr val="000000"/>
              </a:solidFill>
              <a:latin typeface="PF DinDisplay Pro" panose="02000506030000020004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Самая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большая аудитория постов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у 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Tegola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 (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892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тыс. чел.),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самое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большое число просмотров 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также у 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Tegola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(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99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тыс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.).</a:t>
            </a:r>
            <a:endParaRPr lang="en-US" sz="2400" dirty="0" smtClean="0">
              <a:solidFill>
                <a:srgbClr val="000000"/>
              </a:solidFill>
              <a:latin typeface="PF DinDisplay Pro" panose="02000506030000020004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Бренды-конкуренты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активно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участвуют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в различных мероприятиях, которые освещаются/анонсируются в разных источниках: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выставки, семинары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PF DinDisplay Pro" panose="02000506030000020004" pitchFamily="2" charset="0"/>
              </a:rPr>
              <a:t>вебинары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, выступления представителей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 компании и др.</a:t>
            </a:r>
            <a:endParaRPr lang="ru-RU" sz="2400" dirty="0">
              <a:solidFill>
                <a:srgbClr val="000000"/>
              </a:solidFill>
              <a:latin typeface="PF DinDisplay Pro" panose="02000506030000020004" pitchFamily="2" charset="0"/>
            </a:endParaRPr>
          </a:p>
          <a:p>
            <a:pPr algn="just"/>
            <a:endParaRPr lang="ru-RU" sz="2400" b="1" dirty="0">
              <a:solidFill>
                <a:srgbClr val="000000"/>
              </a:solidFill>
              <a:latin typeface="PF DinDisplay Pro" panose="02000506030000020004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b="1" u="sng" dirty="0">
                <a:solidFill>
                  <a:srgbClr val="000000"/>
                </a:solidFill>
                <a:latin typeface="PF DinDisplay Pro" panose="02000506030000020004" pitchFamily="2" charset="0"/>
              </a:rPr>
              <a:t>Рекомендация</a:t>
            </a:r>
            <a:r>
              <a:rPr lang="ru-RU" sz="2400" u="sng" dirty="0">
                <a:solidFill>
                  <a:srgbClr val="000000"/>
                </a:solidFill>
                <a:latin typeface="PF DinDisplay Pro" panose="02000506030000020004" pitchFamily="2" charset="0"/>
              </a:rPr>
              <a:t>: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 освещать участие в мероприятиях и анонсировать эту информацию на своих страницах в социальных сетях. Вести коммуникацию с участниками мероприятий, организованных 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RUFLEX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. Изучать опыт конкурентов и использовать удачные приёмы для продвижения собственного  бренда.</a:t>
            </a:r>
          </a:p>
        </p:txBody>
      </p:sp>
      <p:graphicFrame>
        <p:nvGraphicFramePr>
          <p:cNvPr id="14" name="Диаграмма 1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3825931"/>
              </p:ext>
            </p:extLst>
          </p:nvPr>
        </p:nvGraphicFramePr>
        <p:xfrm>
          <a:off x="2523825" y="8379550"/>
          <a:ext cx="8054721" cy="39485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6" name="Диаграмма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37447969"/>
              </p:ext>
            </p:extLst>
          </p:nvPr>
        </p:nvGraphicFramePr>
        <p:xfrm>
          <a:off x="12590571" y="8516710"/>
          <a:ext cx="10106143" cy="40399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713152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14:reveal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/>
          <p:cNvGrpSpPr/>
          <p:nvPr/>
        </p:nvGrpSpPr>
        <p:grpSpPr>
          <a:xfrm>
            <a:off x="493485" y="483017"/>
            <a:ext cx="23367999" cy="2079087"/>
            <a:chOff x="5312170" y="483017"/>
            <a:chExt cx="13796525" cy="2079087"/>
          </a:xfrm>
        </p:grpSpPr>
        <p:sp>
          <p:nvSpPr>
            <p:cNvPr id="33" name="TextBox 32"/>
            <p:cNvSpPr txBox="1"/>
            <p:nvPr/>
          </p:nvSpPr>
          <p:spPr>
            <a:xfrm>
              <a:off x="5312170" y="483017"/>
              <a:ext cx="13796525" cy="1323421"/>
            </a:xfrm>
            <a:prstGeom prst="rect">
              <a:avLst/>
            </a:prstGeom>
            <a:noFill/>
          </p:spPr>
          <p:txBody>
            <a:bodyPr wrap="square" lIns="91422" tIns="45711" rIns="91422" bIns="45711" rtlCol="0">
              <a:spAutoFit/>
            </a:bodyPr>
            <a:lstStyle/>
            <a:p>
              <a:pPr algn="ctr"/>
              <a:r>
                <a:rPr lang="ru-RU" sz="8000" b="1" dirty="0">
                  <a:solidFill>
                    <a:srgbClr val="000000"/>
                  </a:solidFill>
                  <a:latin typeface="PF DinDisplay Pro" panose="02000506030000020004" pitchFamily="2" charset="0"/>
                  <a:cs typeface="Open Sans"/>
                </a:rPr>
                <a:t>Мониторинг</a:t>
              </a:r>
              <a:endParaRPr lang="id-ID" sz="8000" b="1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1412311" y="2470667"/>
              <a:ext cx="1553038" cy="9143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339" tIns="45672" rIns="91339" bIns="45672" rtlCol="0" anchor="ctr"/>
            <a:lstStyle/>
            <a:p>
              <a:pPr algn="ctr"/>
              <a:endParaRPr lang="en-US" dirty="0">
                <a:solidFill>
                  <a:schemeClr val="accent2"/>
                </a:solidFill>
                <a:latin typeface="PF DinDisplay Pro" panose="02000506030000020004" pitchFamily="2" charset="0"/>
              </a:endParaRPr>
            </a:p>
          </p:txBody>
        </p:sp>
        <p:sp>
          <p:nvSpPr>
            <p:cNvPr id="35" name="Subtitle 2"/>
            <p:cNvSpPr txBox="1">
              <a:spLocks/>
            </p:cNvSpPr>
            <p:nvPr/>
          </p:nvSpPr>
          <p:spPr>
            <a:xfrm>
              <a:off x="6361236" y="1634834"/>
              <a:ext cx="11655185" cy="839116"/>
            </a:xfrm>
            <a:prstGeom prst="rect">
              <a:avLst/>
            </a:prstGeom>
          </p:spPr>
          <p:txBody>
            <a:bodyPr vert="horz" lIns="217490" tIns="108745" rIns="217490" bIns="108745" rtlCol="0">
              <a:norm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Open Sans"/>
                <a:buNone/>
                <a:defRPr sz="2400" kern="1200">
                  <a:solidFill>
                    <a:schemeClr val="tx2"/>
                  </a:solidFill>
                  <a:latin typeface="Open Sans"/>
                  <a:ea typeface="+mn-ea"/>
                  <a:cs typeface="Open Sans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31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endParaRPr>
            </a:p>
          </p:txBody>
        </p:sp>
      </p:grpSp>
      <p:sp>
        <p:nvSpPr>
          <p:cNvPr id="17" name="Content Placeholder 2">
            <a:extLst>
              <a:ext uri="{FF2B5EF4-FFF2-40B4-BE49-F238E27FC236}">
                <a16:creationId xmlns="" xmlns:a16="http://schemas.microsoft.com/office/drawing/2014/main" id="{655D268E-C67B-41FF-BCDC-1144DBA9811B}"/>
              </a:ext>
            </a:extLst>
          </p:cNvPr>
          <p:cNvSpPr txBox="1">
            <a:spLocks/>
          </p:cNvSpPr>
          <p:nvPr/>
        </p:nvSpPr>
        <p:spPr bwMode="auto">
          <a:xfrm>
            <a:off x="10578546" y="13259226"/>
            <a:ext cx="3282370" cy="490431"/>
          </a:xfrm>
          <a:prstGeom prst="rect">
            <a:avLst/>
          </a:prstGeom>
        </p:spPr>
        <p:txBody>
          <a:bodyPr wrap="square" lIns="182843" tIns="91422" rIns="182843" bIns="91422" numCol="1" anchor="t" anchorCtr="0" compatLnSpc="1">
            <a:prstTxWarp prst="textNoShape">
              <a:avLst/>
            </a:prstTxWarp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Open Sans"/>
                <a:cs typeface="Open Sans"/>
              </a:rPr>
              <a:t>wbooster.ru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="" xmlns:a16="http://schemas.microsoft.com/office/drawing/2014/main" id="{096E1E1C-42FD-4B10-AFAC-95EFF8947E27}"/>
              </a:ext>
            </a:extLst>
          </p:cNvPr>
          <p:cNvSpPr txBox="1">
            <a:spLocks/>
          </p:cNvSpPr>
          <p:nvPr/>
        </p:nvSpPr>
        <p:spPr>
          <a:xfrm>
            <a:off x="2270350" y="1689413"/>
            <a:ext cx="19741083" cy="839116"/>
          </a:xfrm>
          <a:prstGeom prst="rect">
            <a:avLst/>
          </a:prstGeom>
        </p:spPr>
        <p:txBody>
          <a:bodyPr vert="horz" lIns="217490" tIns="108745" rIns="217490" bIns="108745" rtlCol="0">
            <a:norm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Open Sans"/>
              <a:buNone/>
              <a:defRPr sz="240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100" b="1" dirty="0">
                <a:solidFill>
                  <a:schemeClr val="bg2">
                    <a:lumMod val="65000"/>
                  </a:schemeClr>
                </a:solidFill>
                <a:latin typeface="PF DinDisplay Pro" panose="02000506030000020004" pitchFamily="2" charset="0"/>
                <a:cs typeface="Open Sans"/>
              </a:rPr>
              <a:t>Тег: ЗМК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689316" y="2851809"/>
            <a:ext cx="2124817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В исследуемом периоде в социальных сетях, блогах, на форумах размещались посты и комментарии от пользователей с упоминанием бренда 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RUFLEX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и конкурентов.</a:t>
            </a:r>
            <a:endParaRPr lang="en-US" sz="2400" dirty="0">
              <a:solidFill>
                <a:srgbClr val="000000"/>
              </a:solidFill>
              <a:latin typeface="PF DinDisplay Pro" panose="02000506030000020004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Выявлено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 140  упоминаний  брендов в «живых» обсуждениях пользователей.</a:t>
            </a:r>
            <a:endParaRPr lang="ru-RU" sz="2400" dirty="0">
              <a:solidFill>
                <a:srgbClr val="000000"/>
              </a:solidFill>
              <a:latin typeface="PF DinDisplay Pro" panose="02000506030000020004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Лидер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ы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по числу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«</a:t>
            </a:r>
            <a:r>
              <a:rPr lang="ru-RU" sz="2400" dirty="0" err="1" smtClean="0">
                <a:solidFill>
                  <a:srgbClr val="000000"/>
                </a:solidFill>
                <a:latin typeface="PF DinDisplay Pro" panose="02000506030000020004" pitchFamily="2" charset="0"/>
              </a:rPr>
              <a:t>живых»и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 сообщений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– 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Docke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 (114  сообщений), на втором месте - 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Tegola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(9 сообщений), на третьем месте – </a:t>
            </a:r>
            <a:r>
              <a:rPr lang="en-US" sz="2400" dirty="0" err="1" smtClean="0">
                <a:solidFill>
                  <a:srgbClr val="000000"/>
                </a:solidFill>
                <a:latin typeface="PF DinDisplay Pro" panose="02000506030000020004" pitchFamily="2" charset="0"/>
              </a:rPr>
              <a:t>Faracs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 (8 сообщений). 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Больше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всего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как позитивных , так и негативных упоминаний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у 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Docke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. </a:t>
            </a:r>
            <a:endParaRPr lang="en-US" sz="2400" dirty="0" smtClean="0">
              <a:solidFill>
                <a:srgbClr val="000000"/>
              </a:solidFill>
              <a:latin typeface="PF DinDisplay Pro" panose="02000506030000020004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u="sng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Самый </a:t>
            </a:r>
            <a:r>
              <a:rPr lang="ru-RU" sz="2400" u="sng" dirty="0">
                <a:solidFill>
                  <a:srgbClr val="000000"/>
                </a:solidFill>
                <a:latin typeface="PF DinDisplay Pro" panose="02000506030000020004" pitchFamily="2" charset="0"/>
              </a:rPr>
              <a:t>высокий индекс лояльности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(отношение кол-ва позитивных упоминаний к негативным) у </a:t>
            </a:r>
            <a:r>
              <a:rPr lang="en-US" sz="2400" dirty="0" err="1">
                <a:solidFill>
                  <a:srgbClr val="000000"/>
                </a:solidFill>
                <a:latin typeface="PF DinDisplay Pro" panose="02000506030000020004" pitchFamily="2" charset="0"/>
              </a:rPr>
              <a:t>Faracs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 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-  показатель  равен  8.</a:t>
            </a:r>
            <a:endParaRPr lang="ru-RU" sz="2400" dirty="0">
              <a:solidFill>
                <a:srgbClr val="000000"/>
              </a:solidFill>
              <a:latin typeface="PF DinDisplay Pro" panose="02000506030000020004" pitchFamily="2" charset="0"/>
            </a:endParaRPr>
          </a:p>
        </p:txBody>
      </p:sp>
      <p:graphicFrame>
        <p:nvGraphicFramePr>
          <p:cNvPr id="10" name="Диаграмма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22999809"/>
              </p:ext>
            </p:extLst>
          </p:nvPr>
        </p:nvGraphicFramePr>
        <p:xfrm>
          <a:off x="1868929" y="6825344"/>
          <a:ext cx="5397285" cy="594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Диаграмма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01453386"/>
              </p:ext>
            </p:extLst>
          </p:nvPr>
        </p:nvGraphicFramePr>
        <p:xfrm>
          <a:off x="7756070" y="6678387"/>
          <a:ext cx="8686801" cy="57966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Диаграмма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36185218"/>
              </p:ext>
            </p:extLst>
          </p:nvPr>
        </p:nvGraphicFramePr>
        <p:xfrm>
          <a:off x="16916400" y="6792688"/>
          <a:ext cx="5894614" cy="55224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775651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14:reveal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/>
          <p:cNvGrpSpPr/>
          <p:nvPr/>
        </p:nvGrpSpPr>
        <p:grpSpPr>
          <a:xfrm>
            <a:off x="493485" y="483017"/>
            <a:ext cx="23367999" cy="2079087"/>
            <a:chOff x="5312170" y="483017"/>
            <a:chExt cx="13796525" cy="2079087"/>
          </a:xfrm>
        </p:grpSpPr>
        <p:sp>
          <p:nvSpPr>
            <p:cNvPr id="33" name="TextBox 32"/>
            <p:cNvSpPr txBox="1"/>
            <p:nvPr/>
          </p:nvSpPr>
          <p:spPr>
            <a:xfrm>
              <a:off x="5312170" y="483017"/>
              <a:ext cx="13796525" cy="1323421"/>
            </a:xfrm>
            <a:prstGeom prst="rect">
              <a:avLst/>
            </a:prstGeom>
            <a:noFill/>
          </p:spPr>
          <p:txBody>
            <a:bodyPr wrap="square" lIns="91422" tIns="45711" rIns="91422" bIns="45711" rtlCol="0">
              <a:spAutoFit/>
            </a:bodyPr>
            <a:lstStyle/>
            <a:p>
              <a:pPr algn="ctr"/>
              <a:r>
                <a:rPr lang="ru-RU" sz="8000" b="1" dirty="0">
                  <a:solidFill>
                    <a:srgbClr val="000000"/>
                  </a:solidFill>
                  <a:latin typeface="PF DinDisplay Pro" panose="02000506030000020004" pitchFamily="2" charset="0"/>
                  <a:cs typeface="Open Sans"/>
                </a:rPr>
                <a:t>Мониторинг</a:t>
              </a:r>
              <a:endParaRPr lang="id-ID" sz="8000" b="1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1412311" y="2470667"/>
              <a:ext cx="1553038" cy="9143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339" tIns="45672" rIns="91339" bIns="45672" rtlCol="0" anchor="ctr"/>
            <a:lstStyle/>
            <a:p>
              <a:pPr algn="ctr"/>
              <a:endParaRPr lang="en-US" dirty="0">
                <a:solidFill>
                  <a:schemeClr val="accent2"/>
                </a:solidFill>
                <a:latin typeface="PF DinDisplay Pro" panose="02000506030000020004" pitchFamily="2" charset="0"/>
              </a:endParaRPr>
            </a:p>
          </p:txBody>
        </p:sp>
        <p:sp>
          <p:nvSpPr>
            <p:cNvPr id="35" name="Subtitle 2"/>
            <p:cNvSpPr txBox="1">
              <a:spLocks/>
            </p:cNvSpPr>
            <p:nvPr/>
          </p:nvSpPr>
          <p:spPr>
            <a:xfrm>
              <a:off x="6361236" y="1634834"/>
              <a:ext cx="11655185" cy="839116"/>
            </a:xfrm>
            <a:prstGeom prst="rect">
              <a:avLst/>
            </a:prstGeom>
          </p:spPr>
          <p:txBody>
            <a:bodyPr vert="horz" lIns="217490" tIns="108745" rIns="217490" bIns="108745" rtlCol="0">
              <a:norm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Open Sans"/>
                <a:buNone/>
                <a:defRPr sz="2400" kern="1200">
                  <a:solidFill>
                    <a:schemeClr val="tx2"/>
                  </a:solidFill>
                  <a:latin typeface="Open Sans"/>
                  <a:ea typeface="+mn-ea"/>
                  <a:cs typeface="Open Sans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31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endParaRPr>
            </a:p>
          </p:txBody>
        </p:sp>
      </p:grpSp>
      <p:sp>
        <p:nvSpPr>
          <p:cNvPr id="17" name="Content Placeholder 2">
            <a:extLst>
              <a:ext uri="{FF2B5EF4-FFF2-40B4-BE49-F238E27FC236}">
                <a16:creationId xmlns="" xmlns:a16="http://schemas.microsoft.com/office/drawing/2014/main" id="{655D268E-C67B-41FF-BCDC-1144DBA9811B}"/>
              </a:ext>
            </a:extLst>
          </p:cNvPr>
          <p:cNvSpPr txBox="1">
            <a:spLocks/>
          </p:cNvSpPr>
          <p:nvPr/>
        </p:nvSpPr>
        <p:spPr bwMode="auto">
          <a:xfrm>
            <a:off x="10578546" y="13259226"/>
            <a:ext cx="3282370" cy="490431"/>
          </a:xfrm>
          <a:prstGeom prst="rect">
            <a:avLst/>
          </a:prstGeom>
        </p:spPr>
        <p:txBody>
          <a:bodyPr wrap="square" lIns="182843" tIns="91422" rIns="182843" bIns="91422" numCol="1" anchor="t" anchorCtr="0" compatLnSpc="1">
            <a:prstTxWarp prst="textNoShape">
              <a:avLst/>
            </a:prstTxWarp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Open Sans"/>
                <a:cs typeface="Open Sans"/>
              </a:rPr>
              <a:t>wbooster.ru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="" xmlns:a16="http://schemas.microsoft.com/office/drawing/2014/main" id="{096E1E1C-42FD-4B10-AFAC-95EFF8947E27}"/>
              </a:ext>
            </a:extLst>
          </p:cNvPr>
          <p:cNvSpPr txBox="1">
            <a:spLocks/>
          </p:cNvSpPr>
          <p:nvPr/>
        </p:nvSpPr>
        <p:spPr>
          <a:xfrm>
            <a:off x="2270350" y="1689413"/>
            <a:ext cx="19741083" cy="839116"/>
          </a:xfrm>
          <a:prstGeom prst="rect">
            <a:avLst/>
          </a:prstGeom>
        </p:spPr>
        <p:txBody>
          <a:bodyPr vert="horz" lIns="217490" tIns="108745" rIns="217490" bIns="108745" rtlCol="0">
            <a:norm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Open Sans"/>
              <a:buNone/>
              <a:defRPr sz="240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100" b="1" dirty="0">
                <a:solidFill>
                  <a:schemeClr val="bg2">
                    <a:lumMod val="65000"/>
                  </a:schemeClr>
                </a:solidFill>
                <a:latin typeface="PF DinDisplay Pro" panose="02000506030000020004" pitchFamily="2" charset="0"/>
                <a:cs typeface="Open Sans"/>
              </a:rPr>
              <a:t>Тег: ЗМК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2004218" y="2769725"/>
            <a:ext cx="2065043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«Живые» упоминания брендов размещались на различных площадках.</a:t>
            </a:r>
          </a:p>
          <a:p>
            <a:pPr algn="just">
              <a:lnSpc>
                <a:spcPct val="150000"/>
              </a:lnSpc>
            </a:pP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Самые активные площадки для размещения  отзывов/обсуждений брендов - 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wildberries.ru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, 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vk.com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, 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telegram.org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, 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youtube.com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, 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market.yandex.ru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instagram.com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, 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pikabu.ru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Также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размещаются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 отзывы/обсуждения на отзовиках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: 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2gis.ru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, 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otzovikon.com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, 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flamp.ru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, 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yell.ru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 и др.</a:t>
            </a:r>
            <a:endParaRPr lang="ru-RU" sz="2400" dirty="0">
              <a:solidFill>
                <a:srgbClr val="000000"/>
              </a:solidFill>
              <a:latin typeface="PF DinDisplay Pro" panose="02000506030000020004" pitchFamily="2" charset="0"/>
            </a:endParaRPr>
          </a:p>
        </p:txBody>
      </p:sp>
      <p:graphicFrame>
        <p:nvGraphicFramePr>
          <p:cNvPr id="10" name="Диаграмма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65665743"/>
              </p:ext>
            </p:extLst>
          </p:nvPr>
        </p:nvGraphicFramePr>
        <p:xfrm>
          <a:off x="4266718" y="4996544"/>
          <a:ext cx="16125430" cy="72988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1209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14:reveal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/>
          <p:cNvGrpSpPr/>
          <p:nvPr/>
        </p:nvGrpSpPr>
        <p:grpSpPr>
          <a:xfrm>
            <a:off x="493485" y="483017"/>
            <a:ext cx="23367999" cy="2079087"/>
            <a:chOff x="5312170" y="483017"/>
            <a:chExt cx="13796525" cy="2079087"/>
          </a:xfrm>
        </p:grpSpPr>
        <p:sp>
          <p:nvSpPr>
            <p:cNvPr id="33" name="TextBox 32"/>
            <p:cNvSpPr txBox="1"/>
            <p:nvPr/>
          </p:nvSpPr>
          <p:spPr>
            <a:xfrm>
              <a:off x="5312170" y="483017"/>
              <a:ext cx="13796525" cy="1323421"/>
            </a:xfrm>
            <a:prstGeom prst="rect">
              <a:avLst/>
            </a:prstGeom>
            <a:noFill/>
          </p:spPr>
          <p:txBody>
            <a:bodyPr wrap="square" lIns="91422" tIns="45711" rIns="91422" bIns="45711" rtlCol="0">
              <a:spAutoFit/>
            </a:bodyPr>
            <a:lstStyle/>
            <a:p>
              <a:pPr algn="ctr"/>
              <a:r>
                <a:rPr lang="ru-RU" sz="8000" b="1" dirty="0">
                  <a:solidFill>
                    <a:srgbClr val="000000"/>
                  </a:solidFill>
                  <a:latin typeface="PF DinDisplay Pro" panose="02000506030000020004" pitchFamily="2" charset="0"/>
                  <a:cs typeface="Open Sans"/>
                </a:rPr>
                <a:t>Заключение</a:t>
              </a:r>
              <a:endParaRPr lang="id-ID" sz="8000" b="1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1412311" y="2470667"/>
              <a:ext cx="1553038" cy="9143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339" tIns="45672" rIns="91339" bIns="45672" rtlCol="0" anchor="ctr"/>
            <a:lstStyle/>
            <a:p>
              <a:pPr algn="ctr"/>
              <a:endParaRPr lang="en-US" dirty="0">
                <a:solidFill>
                  <a:schemeClr val="accent2"/>
                </a:solidFill>
                <a:latin typeface="PF DinDisplay Pro" panose="02000506030000020004" pitchFamily="2" charset="0"/>
              </a:endParaRPr>
            </a:p>
          </p:txBody>
        </p:sp>
        <p:sp>
          <p:nvSpPr>
            <p:cNvPr id="35" name="Subtitle 2"/>
            <p:cNvSpPr txBox="1">
              <a:spLocks/>
            </p:cNvSpPr>
            <p:nvPr/>
          </p:nvSpPr>
          <p:spPr>
            <a:xfrm>
              <a:off x="6361236" y="1634834"/>
              <a:ext cx="11655185" cy="839116"/>
            </a:xfrm>
            <a:prstGeom prst="rect">
              <a:avLst/>
            </a:prstGeom>
          </p:spPr>
          <p:txBody>
            <a:bodyPr vert="horz" lIns="217490" tIns="108745" rIns="217490" bIns="108745" rtlCol="0">
              <a:norm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Open Sans"/>
                <a:buNone/>
                <a:defRPr sz="2400" kern="1200">
                  <a:solidFill>
                    <a:schemeClr val="tx2"/>
                  </a:solidFill>
                  <a:latin typeface="Open Sans"/>
                  <a:ea typeface="+mn-ea"/>
                  <a:cs typeface="Open Sans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31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endParaRPr>
            </a:p>
          </p:txBody>
        </p:sp>
      </p:grpSp>
      <p:sp>
        <p:nvSpPr>
          <p:cNvPr id="17" name="Content Placeholder 2">
            <a:extLst>
              <a:ext uri="{FF2B5EF4-FFF2-40B4-BE49-F238E27FC236}">
                <a16:creationId xmlns="" xmlns:a16="http://schemas.microsoft.com/office/drawing/2014/main" id="{655D268E-C67B-41FF-BCDC-1144DBA9811B}"/>
              </a:ext>
            </a:extLst>
          </p:cNvPr>
          <p:cNvSpPr txBox="1">
            <a:spLocks/>
          </p:cNvSpPr>
          <p:nvPr/>
        </p:nvSpPr>
        <p:spPr bwMode="auto">
          <a:xfrm>
            <a:off x="10578546" y="13259226"/>
            <a:ext cx="3282370" cy="490431"/>
          </a:xfrm>
          <a:prstGeom prst="rect">
            <a:avLst/>
          </a:prstGeom>
        </p:spPr>
        <p:txBody>
          <a:bodyPr wrap="square" lIns="182843" tIns="91422" rIns="182843" bIns="91422" numCol="1" anchor="t" anchorCtr="0" compatLnSpc="1">
            <a:prstTxWarp prst="textNoShape">
              <a:avLst/>
            </a:prstTxWarp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Open Sans"/>
                <a:cs typeface="Open Sans"/>
              </a:rPr>
              <a:t>wbooster.ru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CD248DE5-7E71-48E4-80CF-685AFDFD78FD}"/>
              </a:ext>
            </a:extLst>
          </p:cNvPr>
          <p:cNvSpPr txBox="1"/>
          <p:nvPr/>
        </p:nvSpPr>
        <p:spPr>
          <a:xfrm>
            <a:off x="2501658" y="2867211"/>
            <a:ext cx="21097644" cy="8494597"/>
          </a:xfrm>
          <a:prstGeom prst="rect">
            <a:avLst/>
          </a:prstGeom>
          <a:noFill/>
        </p:spPr>
        <p:txBody>
          <a:bodyPr wrap="square" lIns="182843" tIns="91422" rIns="182843" bIns="91422" rtlCol="0">
            <a:spAutoFit/>
          </a:bodyPr>
          <a:lstStyle/>
          <a:p>
            <a:pPr marL="228600" indent="-228600">
              <a:lnSpc>
                <a:spcPct val="250000"/>
              </a:lnSpc>
              <a:buFont typeface="Open Sans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В результате исследования было обработано (вычитано и помечено тегами)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1027 упоминаний 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RUFLEX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и конкурентов  за период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01.07.2026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–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31.07.2026г </a:t>
            </a:r>
            <a:endParaRPr lang="ru-RU" sz="2400" dirty="0">
              <a:solidFill>
                <a:srgbClr val="000000"/>
              </a:solidFill>
              <a:latin typeface="PF DinDisplay Pro" panose="02000506030000020004" pitchFamily="2" charset="0"/>
              <a:cs typeface="Open Sans"/>
            </a:endParaRPr>
          </a:p>
          <a:p>
            <a:pPr marL="228600" indent="-228600">
              <a:lnSpc>
                <a:spcPct val="250000"/>
              </a:lnSpc>
              <a:buFont typeface="Open Sans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Обнаружены активности конкурентов по продвижению бренда: конкурсы, полезные материалы, обучающие семинары, экскурсии.</a:t>
            </a:r>
          </a:p>
          <a:p>
            <a:pPr marL="228600" indent="-228600">
              <a:lnSpc>
                <a:spcPct val="250000"/>
              </a:lnSpc>
              <a:buFont typeface="Open Sans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Собраны отзывы по продуктам бренда и конкурентов.</a:t>
            </a:r>
          </a:p>
          <a:p>
            <a:pPr marL="228600" indent="-228600">
              <a:lnSpc>
                <a:spcPct val="250000"/>
              </a:lnSpc>
              <a:buFont typeface="Open Sans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Собраны площадки, на которых были упомянуты исследуемые бренды.</a:t>
            </a:r>
          </a:p>
          <a:p>
            <a:pPr marL="228600" indent="-228600">
              <a:lnSpc>
                <a:spcPct val="250000"/>
              </a:lnSpc>
              <a:buFont typeface="Open Sans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Собраны темы упоминаний брендов в интернет-СМИ.</a:t>
            </a:r>
          </a:p>
          <a:p>
            <a:pPr marL="228600" indent="-228600">
              <a:lnSpc>
                <a:spcPct val="250000"/>
              </a:lnSpc>
              <a:buFont typeface="Open Sans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Составлен список профилей строительных и монтажных компаний в социальных сетях.</a:t>
            </a:r>
          </a:p>
          <a:p>
            <a:pPr marL="228600" indent="-228600">
              <a:lnSpc>
                <a:spcPct val="250000"/>
              </a:lnSpc>
              <a:buFont typeface="Open Sans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Составлен список профилей магазинов кровельных покрытий и строительных материалов.</a:t>
            </a:r>
          </a:p>
          <a:p>
            <a:pPr marL="228600" indent="-228600">
              <a:lnSpc>
                <a:spcPct val="250000"/>
              </a:lnSpc>
              <a:buFont typeface="Open Sans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Составлен список блогеров, специализирующихся на строительной тематике</a:t>
            </a:r>
          </a:p>
          <a:p>
            <a:pPr marL="228600" indent="-228600">
              <a:lnSpc>
                <a:spcPct val="250000"/>
              </a:lnSpc>
              <a:buFont typeface="Open Sans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Составлен список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актуальных социальных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сетей  брендов-конкурентов.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9742699" y="1805006"/>
            <a:ext cx="551785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solidFill>
                  <a:schemeClr val="bg2">
                    <a:lumMod val="65000"/>
                  </a:schemeClr>
                </a:solidFill>
                <a:latin typeface="PF DinDisplay Pro" panose="02000506030000020004" pitchFamily="2" charset="0"/>
                <a:cs typeface="Open Sans"/>
              </a:rPr>
              <a:t>Результаты исследования</a:t>
            </a:r>
          </a:p>
        </p:txBody>
      </p:sp>
    </p:spTree>
    <p:extLst>
      <p:ext uri="{BB962C8B-B14F-4D97-AF65-F5344CB8AC3E}">
        <p14:creationId xmlns:p14="http://schemas.microsoft.com/office/powerpoint/2010/main" val="3192573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14:reveal/>
      </p:transition>
    </mc:Choice>
    <mc:Fallback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/>
          <p:cNvGrpSpPr/>
          <p:nvPr/>
        </p:nvGrpSpPr>
        <p:grpSpPr>
          <a:xfrm>
            <a:off x="493485" y="483017"/>
            <a:ext cx="23367999" cy="2079087"/>
            <a:chOff x="5312170" y="483017"/>
            <a:chExt cx="13796525" cy="2079087"/>
          </a:xfrm>
        </p:grpSpPr>
        <p:sp>
          <p:nvSpPr>
            <p:cNvPr id="33" name="TextBox 32"/>
            <p:cNvSpPr txBox="1"/>
            <p:nvPr/>
          </p:nvSpPr>
          <p:spPr>
            <a:xfrm>
              <a:off x="5312170" y="483017"/>
              <a:ext cx="13796525" cy="1323421"/>
            </a:xfrm>
            <a:prstGeom prst="rect">
              <a:avLst/>
            </a:prstGeom>
            <a:noFill/>
          </p:spPr>
          <p:txBody>
            <a:bodyPr wrap="square" lIns="91422" tIns="45711" rIns="91422" bIns="45711" rtlCol="0">
              <a:spAutoFit/>
            </a:bodyPr>
            <a:lstStyle/>
            <a:p>
              <a:pPr algn="ctr"/>
              <a:r>
                <a:rPr lang="ru-RU" sz="8000" b="1" dirty="0">
                  <a:solidFill>
                    <a:srgbClr val="000000"/>
                  </a:solidFill>
                  <a:latin typeface="PF DinDisplay Pro" panose="02000506030000020004" pitchFamily="2" charset="0"/>
                  <a:cs typeface="Open Sans"/>
                </a:rPr>
                <a:t>Заключение</a:t>
              </a:r>
              <a:endParaRPr lang="id-ID" sz="8000" b="1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1412311" y="2470667"/>
              <a:ext cx="1553038" cy="9143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339" tIns="45672" rIns="91339" bIns="45672" rtlCol="0" anchor="ctr"/>
            <a:lstStyle/>
            <a:p>
              <a:pPr algn="ctr"/>
              <a:endParaRPr lang="en-US" dirty="0">
                <a:solidFill>
                  <a:schemeClr val="accent2"/>
                </a:solidFill>
                <a:latin typeface="PF DinDisplay Pro" panose="02000506030000020004" pitchFamily="2" charset="0"/>
              </a:endParaRPr>
            </a:p>
          </p:txBody>
        </p:sp>
        <p:sp>
          <p:nvSpPr>
            <p:cNvPr id="35" name="Subtitle 2"/>
            <p:cNvSpPr txBox="1">
              <a:spLocks/>
            </p:cNvSpPr>
            <p:nvPr/>
          </p:nvSpPr>
          <p:spPr>
            <a:xfrm>
              <a:off x="6361236" y="1634834"/>
              <a:ext cx="11655185" cy="839116"/>
            </a:xfrm>
            <a:prstGeom prst="rect">
              <a:avLst/>
            </a:prstGeom>
          </p:spPr>
          <p:txBody>
            <a:bodyPr vert="horz" lIns="217490" tIns="108745" rIns="217490" bIns="108745" rtlCol="0">
              <a:norm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Open Sans"/>
                <a:buNone/>
                <a:defRPr sz="2400" kern="1200">
                  <a:solidFill>
                    <a:schemeClr val="tx2"/>
                  </a:solidFill>
                  <a:latin typeface="Open Sans"/>
                  <a:ea typeface="+mn-ea"/>
                  <a:cs typeface="Open Sans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31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endParaRPr>
            </a:p>
          </p:txBody>
        </p:sp>
      </p:grpSp>
      <p:sp>
        <p:nvSpPr>
          <p:cNvPr id="17" name="Content Placeholder 2">
            <a:extLst>
              <a:ext uri="{FF2B5EF4-FFF2-40B4-BE49-F238E27FC236}">
                <a16:creationId xmlns="" xmlns:a16="http://schemas.microsoft.com/office/drawing/2014/main" id="{655D268E-C67B-41FF-BCDC-1144DBA9811B}"/>
              </a:ext>
            </a:extLst>
          </p:cNvPr>
          <p:cNvSpPr txBox="1">
            <a:spLocks/>
          </p:cNvSpPr>
          <p:nvPr/>
        </p:nvSpPr>
        <p:spPr bwMode="auto">
          <a:xfrm>
            <a:off x="10578546" y="13259226"/>
            <a:ext cx="3282370" cy="490431"/>
          </a:xfrm>
          <a:prstGeom prst="rect">
            <a:avLst/>
          </a:prstGeom>
        </p:spPr>
        <p:txBody>
          <a:bodyPr wrap="square" lIns="182843" tIns="91422" rIns="182843" bIns="91422" numCol="1" anchor="t" anchorCtr="0" compatLnSpc="1">
            <a:prstTxWarp prst="textNoShape">
              <a:avLst/>
            </a:prstTxWarp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Open Sans"/>
                <a:cs typeface="Open Sans"/>
              </a:rPr>
              <a:t>wbooster.ru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="" xmlns:a16="http://schemas.microsoft.com/office/drawing/2014/main" id="{096E1E1C-42FD-4B10-AFAC-95EFF8947E27}"/>
              </a:ext>
            </a:extLst>
          </p:cNvPr>
          <p:cNvSpPr txBox="1">
            <a:spLocks/>
          </p:cNvSpPr>
          <p:nvPr/>
        </p:nvSpPr>
        <p:spPr>
          <a:xfrm>
            <a:off x="2366216" y="1596860"/>
            <a:ext cx="19741083" cy="839116"/>
          </a:xfrm>
          <a:prstGeom prst="rect">
            <a:avLst/>
          </a:prstGeom>
        </p:spPr>
        <p:txBody>
          <a:bodyPr vert="horz" lIns="217490" tIns="108745" rIns="217490" bIns="108745" rtlCol="0">
            <a:norm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Open Sans"/>
              <a:buNone/>
              <a:defRPr sz="240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200" b="1" dirty="0">
                <a:solidFill>
                  <a:schemeClr val="bg2">
                    <a:lumMod val="65000"/>
                  </a:schemeClr>
                </a:solidFill>
                <a:latin typeface="PF DinDisplay Pro" panose="02000506030000020004" pitchFamily="2" charset="0"/>
                <a:cs typeface="Open Sans"/>
              </a:rPr>
              <a:t>Мониторинг: тезисы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FC2417A2-BA38-42D6-915B-475E6FABAFD3}"/>
              </a:ext>
            </a:extLst>
          </p:cNvPr>
          <p:cNvSpPr txBox="1"/>
          <p:nvPr/>
        </p:nvSpPr>
        <p:spPr>
          <a:xfrm>
            <a:off x="1469571" y="2470667"/>
            <a:ext cx="21488400" cy="10802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За период с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01.07.2026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по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31.07.2026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г. обработано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1027 упоминаний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в интернет-пространстве по теме кровельных покрытий с упоминаниями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брендов.</a:t>
            </a:r>
            <a:endParaRPr lang="ru-RU" sz="2400" dirty="0">
              <a:solidFill>
                <a:srgbClr val="000000"/>
              </a:solidFill>
              <a:latin typeface="PF DinDisplay Pro" panose="02000506030000020004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2. </a:t>
            </a:r>
            <a:r>
              <a:rPr lang="ru-RU" sz="2400" u="sng" dirty="0">
                <a:solidFill>
                  <a:srgbClr val="000000"/>
                </a:solidFill>
                <a:latin typeface="PF DinDisplay Pro" panose="02000506030000020004" pitchFamily="2" charset="0"/>
              </a:rPr>
              <a:t>По количеству упоминаний 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лидером является 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Docke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– 453 упоминания или 47%, на втором месте – 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Tegola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 –  351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упоминание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или 36%, на третьем – 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RUFLEX –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80  упоминаний  или  8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%. </a:t>
            </a:r>
            <a:r>
              <a:rPr lang="ru-RU" sz="2400" u="sng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По </a:t>
            </a:r>
            <a:r>
              <a:rPr lang="ru-RU" sz="2400" u="sng" dirty="0">
                <a:solidFill>
                  <a:srgbClr val="000000"/>
                </a:solidFill>
                <a:latin typeface="PF DinDisplay Pro" panose="02000506030000020004" pitchFamily="2" charset="0"/>
              </a:rPr>
              <a:t>сравнению с июнем  доля упоминаний  среди указанных конкурентов у </a:t>
            </a:r>
            <a:r>
              <a:rPr lang="en-US" sz="2400" u="sng" dirty="0">
                <a:solidFill>
                  <a:srgbClr val="000000"/>
                </a:solidFill>
                <a:latin typeface="PF DinDisplay Pro" panose="02000506030000020004" pitchFamily="2" charset="0"/>
              </a:rPr>
              <a:t>RUFLEX </a:t>
            </a:r>
            <a:r>
              <a:rPr lang="ru-RU" sz="2400" u="sng" dirty="0">
                <a:solidFill>
                  <a:srgbClr val="000000"/>
                </a:solidFill>
                <a:latin typeface="PF DinDisplay Pro" panose="02000506030000020004" pitchFamily="2" charset="0"/>
              </a:rPr>
              <a:t> снизилась на 5% - с 14 до 8% </a:t>
            </a:r>
          </a:p>
          <a:p>
            <a:pPr algn="just">
              <a:lnSpc>
                <a:spcPct val="150000"/>
              </a:lnSpc>
            </a:pPr>
            <a:r>
              <a:rPr lang="ru-RU" sz="2400" u="sng" dirty="0">
                <a:solidFill>
                  <a:srgbClr val="000000"/>
                </a:solidFill>
                <a:latin typeface="PF DinDisplay Pro" panose="02000506030000020004" pitchFamily="2" charset="0"/>
              </a:rPr>
              <a:t>По сравнению с июлем  2025г  число упоминаний </a:t>
            </a:r>
            <a:r>
              <a:rPr lang="en-US" sz="2400" u="sng" dirty="0">
                <a:solidFill>
                  <a:srgbClr val="000000"/>
                </a:solidFill>
                <a:latin typeface="PF DinDisplay Pro" panose="02000506030000020004" pitchFamily="2" charset="0"/>
              </a:rPr>
              <a:t>RUFLEX </a:t>
            </a:r>
            <a:r>
              <a:rPr lang="ru-RU" sz="2400" u="sng" dirty="0">
                <a:solidFill>
                  <a:srgbClr val="000000"/>
                </a:solidFill>
                <a:latin typeface="PF DinDisplay Pro" panose="02000506030000020004" pitchFamily="2" charset="0"/>
              </a:rPr>
              <a:t> меньше на 34%.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3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. Самым популярным типом контента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у </a:t>
            </a:r>
            <a:r>
              <a:rPr lang="en-US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RUFLEX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за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исследуемый период стали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посты в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социальных сетях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бренда.</a:t>
            </a:r>
            <a:endParaRPr lang="en-US" sz="2400" dirty="0" smtClean="0">
              <a:solidFill>
                <a:srgbClr val="000000"/>
              </a:solidFill>
              <a:latin typeface="PF DinDisplay Pro" panose="02000506030000020004" pitchFamily="2" charset="0"/>
            </a:endParaRPr>
          </a:p>
          <a:p>
            <a:pPr algn="just">
              <a:lnSpc>
                <a:spcPct val="200000"/>
              </a:lnSpc>
            </a:pP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4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.  С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реди источников по общему числу упоминаний лидируют социальные сети, самая популярная площадка - 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vk.com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5. Анализ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в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разрезе по брендам показал, что самая большая  потенциальная аудитория  в исследуемом периоде у бренда 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Docke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– 2,4 млн. чел., на втором месте – 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Tegola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 –  2,3 тыс. чел., на третьем месте 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Quiet Tile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 – 160 тыс. чел. Самый маленький показатель – у – </a:t>
            </a:r>
            <a:r>
              <a:rPr lang="en-US" sz="2400" dirty="0" err="1">
                <a:solidFill>
                  <a:srgbClr val="000000"/>
                </a:solidFill>
                <a:latin typeface="PF DinDisplay Pro" panose="02000506030000020004" pitchFamily="2" charset="0"/>
              </a:rPr>
              <a:t>Faracs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– 72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тыс. человек.</a:t>
            </a:r>
          </a:p>
          <a:p>
            <a:pPr algn="just">
              <a:lnSpc>
                <a:spcPct val="150000"/>
              </a:lnSpc>
            </a:pPr>
            <a:r>
              <a:rPr lang="ru-RU" sz="2400" u="sng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Самая </a:t>
            </a:r>
            <a:r>
              <a:rPr lang="ru-RU" sz="2400" u="sng" dirty="0">
                <a:solidFill>
                  <a:srgbClr val="000000"/>
                </a:solidFill>
                <a:latin typeface="PF DinDisplay Pro" panose="02000506030000020004" pitchFamily="2" charset="0"/>
              </a:rPr>
              <a:t>высокая активность аудитории  (число просмотров и вовлеченность)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связана с  упоминаниями  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Docke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и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Tegola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.</a:t>
            </a:r>
          </a:p>
          <a:p>
            <a:pPr algn="just" defTabSz="914400">
              <a:lnSpc>
                <a:spcPct val="150000"/>
              </a:lnSpc>
            </a:pP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6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. </a:t>
            </a:r>
            <a:r>
              <a:rPr lang="ru-RU" sz="2400" dirty="0">
                <a:solidFill>
                  <a:prstClr val="black"/>
                </a:solidFill>
                <a:latin typeface="PF DinDisplay Pro" panose="02000506030000020004" pitchFamily="2" charset="0"/>
              </a:rPr>
              <a:t>У большинства брендов</a:t>
            </a:r>
            <a:r>
              <a:rPr lang="en-US" sz="2400" dirty="0">
                <a:solidFill>
                  <a:prstClr val="black"/>
                </a:solidFill>
                <a:latin typeface="PF DinDisplay Pro" panose="02000506030000020004" pitchFamily="2" charset="0"/>
              </a:rPr>
              <a:t> </a:t>
            </a:r>
            <a:r>
              <a:rPr lang="ru-RU" sz="2400" dirty="0">
                <a:solidFill>
                  <a:prstClr val="black"/>
                </a:solidFill>
                <a:latin typeface="PF DinDisplay Pro" panose="02000506030000020004" pitchFamily="2" charset="0"/>
              </a:rPr>
              <a:t> авторами большинства упоминаний </a:t>
            </a:r>
            <a:r>
              <a:rPr lang="en-US" sz="2400" dirty="0">
                <a:solidFill>
                  <a:prstClr val="black"/>
                </a:solidFill>
                <a:latin typeface="PF DinDisplay Pro" panose="02000506030000020004" pitchFamily="2" charset="0"/>
              </a:rPr>
              <a:t> </a:t>
            </a:r>
            <a:r>
              <a:rPr lang="ru-RU" sz="2400" dirty="0">
                <a:solidFill>
                  <a:prstClr val="black"/>
                </a:solidFill>
                <a:latin typeface="PF DinDisplay Pro" panose="02000506030000020004" pitchFamily="2" charset="0"/>
              </a:rPr>
              <a:t>брендов являются мужчины, у </a:t>
            </a:r>
            <a:r>
              <a:rPr lang="en-US" sz="2400" dirty="0" err="1">
                <a:solidFill>
                  <a:prstClr val="black"/>
                </a:solidFill>
                <a:latin typeface="PF DinDisplay Pro" panose="02000506030000020004" pitchFamily="2" charset="0"/>
              </a:rPr>
              <a:t>Faracs</a:t>
            </a:r>
            <a:r>
              <a:rPr lang="en-US" sz="2400" dirty="0">
                <a:solidFill>
                  <a:prstClr val="black"/>
                </a:solidFill>
                <a:latin typeface="PF DinDisplay Pro" panose="02000506030000020004" pitchFamily="2" charset="0"/>
              </a:rPr>
              <a:t> </a:t>
            </a:r>
            <a:r>
              <a:rPr lang="ru-RU" sz="2400" dirty="0">
                <a:solidFill>
                  <a:prstClr val="black"/>
                </a:solidFill>
                <a:latin typeface="PF DinDisplay Pro" panose="02000506030000020004" pitchFamily="2" charset="0"/>
              </a:rPr>
              <a:t>и </a:t>
            </a:r>
            <a:r>
              <a:rPr lang="en-US" sz="2400" dirty="0">
                <a:solidFill>
                  <a:prstClr val="black"/>
                </a:solidFill>
                <a:latin typeface="PF DinDisplay Pro" panose="02000506030000020004" pitchFamily="2" charset="0"/>
              </a:rPr>
              <a:t>Tegola</a:t>
            </a:r>
            <a:r>
              <a:rPr lang="ru-RU" sz="2400" dirty="0">
                <a:solidFill>
                  <a:prstClr val="black"/>
                </a:solidFill>
                <a:latin typeface="PF DinDisplay Pro" panose="02000506030000020004" pitchFamily="2" charset="0"/>
              </a:rPr>
              <a:t> – женщины (в связи с большим кол-вом постов об архитектуре и дизайне</a:t>
            </a:r>
            <a:r>
              <a:rPr lang="ru-RU" sz="2400" dirty="0" smtClean="0">
                <a:solidFill>
                  <a:prstClr val="black"/>
                </a:solidFill>
                <a:latin typeface="PF DinDisplay Pro" panose="02000506030000020004" pitchFamily="2" charset="0"/>
              </a:rPr>
              <a:t>). Преобладающий </a:t>
            </a:r>
            <a:r>
              <a:rPr lang="ru-RU" sz="2400" dirty="0">
                <a:solidFill>
                  <a:prstClr val="black"/>
                </a:solidFill>
                <a:latin typeface="PF DinDisplay Pro" panose="02000506030000020004" pitchFamily="2" charset="0"/>
              </a:rPr>
              <a:t>возраст аудитории: у </a:t>
            </a:r>
            <a:r>
              <a:rPr lang="en-US" sz="2400" dirty="0">
                <a:solidFill>
                  <a:prstClr val="black"/>
                </a:solidFill>
                <a:latin typeface="PF DinDisplay Pro" panose="02000506030000020004" pitchFamily="2" charset="0"/>
              </a:rPr>
              <a:t>Docke </a:t>
            </a:r>
            <a:r>
              <a:rPr lang="ru-RU" sz="2400" dirty="0">
                <a:solidFill>
                  <a:prstClr val="black"/>
                </a:solidFill>
                <a:latin typeface="PF DinDisplay Pro" panose="02000506030000020004" pitchFamily="2" charset="0"/>
              </a:rPr>
              <a:t>- 35-44, у </a:t>
            </a:r>
            <a:r>
              <a:rPr lang="en-US" sz="2400" dirty="0">
                <a:solidFill>
                  <a:prstClr val="black"/>
                </a:solidFill>
                <a:latin typeface="PF DinDisplay Pro" panose="02000506030000020004" pitchFamily="2" charset="0"/>
              </a:rPr>
              <a:t>Tegola</a:t>
            </a:r>
            <a:r>
              <a:rPr lang="ru-RU" sz="2400" dirty="0">
                <a:solidFill>
                  <a:prstClr val="black"/>
                </a:solidFill>
                <a:latin typeface="PF DinDisplay Pro" panose="02000506030000020004" pitchFamily="2" charset="0"/>
              </a:rPr>
              <a:t>, </a:t>
            </a:r>
            <a:r>
              <a:rPr lang="en-US" sz="2400" dirty="0" err="1">
                <a:solidFill>
                  <a:prstClr val="black"/>
                </a:solidFill>
                <a:latin typeface="PF DinDisplay Pro" panose="02000506030000020004" pitchFamily="2" charset="0"/>
              </a:rPr>
              <a:t>Faracs</a:t>
            </a:r>
            <a:r>
              <a:rPr lang="ru-RU" sz="2400" dirty="0">
                <a:solidFill>
                  <a:prstClr val="black"/>
                </a:solidFill>
                <a:latin typeface="PF DinDisplay Pro" panose="02000506030000020004" pitchFamily="2" charset="0"/>
              </a:rPr>
              <a:t>, </a:t>
            </a:r>
            <a:r>
              <a:rPr lang="en-US" sz="2400" dirty="0">
                <a:solidFill>
                  <a:prstClr val="black"/>
                </a:solidFill>
                <a:latin typeface="PF DinDisplay Pro" panose="02000506030000020004" pitchFamily="2" charset="0"/>
              </a:rPr>
              <a:t>RUFLEX</a:t>
            </a:r>
            <a:r>
              <a:rPr lang="ru-RU" sz="2400" dirty="0">
                <a:solidFill>
                  <a:prstClr val="black"/>
                </a:solidFill>
                <a:latin typeface="PF DinDisplay Pro" panose="02000506030000020004" pitchFamily="2" charset="0"/>
              </a:rPr>
              <a:t>  </a:t>
            </a:r>
            <a:r>
              <a:rPr lang="en-US" sz="2400" dirty="0">
                <a:solidFill>
                  <a:prstClr val="black"/>
                </a:solidFill>
                <a:latin typeface="PF DinDisplay Pro" panose="02000506030000020004" pitchFamily="2" charset="0"/>
              </a:rPr>
              <a:t>– </a:t>
            </a:r>
            <a:r>
              <a:rPr lang="ru-RU" sz="2400" dirty="0">
                <a:solidFill>
                  <a:prstClr val="black"/>
                </a:solidFill>
                <a:latin typeface="PF DinDisplay Pro" panose="02000506030000020004" pitchFamily="2" charset="0"/>
              </a:rPr>
              <a:t>45-54 , у </a:t>
            </a:r>
            <a:r>
              <a:rPr lang="en-US" sz="2400" dirty="0" err="1">
                <a:solidFill>
                  <a:prstClr val="black"/>
                </a:solidFill>
                <a:latin typeface="PF DinDisplay Pro" panose="02000506030000020004" pitchFamily="2" charset="0"/>
              </a:rPr>
              <a:t>Roofshield</a:t>
            </a:r>
            <a:r>
              <a:rPr lang="ru-RU" sz="2400" dirty="0">
                <a:solidFill>
                  <a:prstClr val="black"/>
                </a:solidFill>
                <a:latin typeface="PF DinDisplay Pro" panose="02000506030000020004" pitchFamily="2" charset="0"/>
              </a:rPr>
              <a:t> – 25-34 лет.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7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. Упоминания размещены авторами из 43 регионов и  96 городов Российской Федерации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. Анализ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по регионам показал, что больше всего упоминаний брендов было размещено авторами из Москвы, Рязанской области,  Калужской области, Московской области, Челябинской области, Санкт-Петербурга, Тульской области.</a:t>
            </a:r>
          </a:p>
          <a:p>
            <a:pPr algn="just">
              <a:lnSpc>
                <a:spcPct val="150000"/>
              </a:lnSpc>
            </a:pPr>
            <a:r>
              <a:rPr lang="ru-RU" sz="2400" u="sng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География </a:t>
            </a:r>
            <a:r>
              <a:rPr lang="ru-RU" sz="2400" u="sng" dirty="0">
                <a:solidFill>
                  <a:srgbClr val="000000"/>
                </a:solidFill>
                <a:latin typeface="PF DinDisplay Pro" panose="02000506030000020004" pitchFamily="2" charset="0"/>
              </a:rPr>
              <a:t>по </a:t>
            </a:r>
            <a:r>
              <a:rPr lang="en-US" sz="2400" u="sng" dirty="0">
                <a:solidFill>
                  <a:srgbClr val="000000"/>
                </a:solidFill>
                <a:latin typeface="PF DinDisplay Pro" panose="02000506030000020004" pitchFamily="2" charset="0"/>
              </a:rPr>
              <a:t>RUFLEX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: 5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 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регионов и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6 городов. Больше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всего упоминаний авторами из  Москвы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и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Московской области .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8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.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Лидеры по числу «</a:t>
            </a:r>
            <a:r>
              <a:rPr lang="ru-RU" sz="2400" dirty="0" err="1">
                <a:solidFill>
                  <a:srgbClr val="000000"/>
                </a:solidFill>
                <a:latin typeface="PF DinDisplay Pro" panose="02000506030000020004" pitchFamily="2" charset="0"/>
              </a:rPr>
              <a:t>живых»и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 сообщений – 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Docke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 (114  сообщений), на втором месте - 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Tegola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(9 сообщений), на третьем месте – </a:t>
            </a:r>
            <a:r>
              <a:rPr lang="en-US" sz="2400" dirty="0" err="1">
                <a:solidFill>
                  <a:srgbClr val="000000"/>
                </a:solidFill>
                <a:latin typeface="PF DinDisplay Pro" panose="02000506030000020004" pitchFamily="2" charset="0"/>
              </a:rPr>
              <a:t>Faracs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 (8 сообщений). </a:t>
            </a:r>
          </a:p>
          <a:p>
            <a:pPr algn="just">
              <a:lnSpc>
                <a:spcPct val="150000"/>
              </a:lnSpc>
            </a:pPr>
            <a:r>
              <a:rPr lang="ru-RU" sz="2400" u="sng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9. Самый </a:t>
            </a:r>
            <a:r>
              <a:rPr lang="ru-RU" sz="2400" u="sng" dirty="0">
                <a:solidFill>
                  <a:srgbClr val="000000"/>
                </a:solidFill>
                <a:latin typeface="PF DinDisplay Pro" panose="02000506030000020004" pitchFamily="2" charset="0"/>
              </a:rPr>
              <a:t>высокий индекс лояльности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(отношение кол-ва позитивных упоминаний к негативным) у </a:t>
            </a:r>
            <a:r>
              <a:rPr lang="en-US" sz="2400" dirty="0" err="1">
                <a:solidFill>
                  <a:srgbClr val="000000"/>
                </a:solidFill>
                <a:latin typeface="PF DinDisplay Pro" panose="02000506030000020004" pitchFamily="2" charset="0"/>
              </a:rPr>
              <a:t>Faracs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 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-  показатель  равен  8.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10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. </a:t>
            </a:r>
            <a:r>
              <a:rPr lang="ru-RU" sz="2400" u="sng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Активность брендов в соцсетях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: Больше всего публикаций в совокупности по всем соцсетям у 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Docke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и 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RUFLEX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 (76 и 57).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По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величине аудитории и числу просмотров  лидирует 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Docke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, по вовлеченности (сумме лайков, репостов и комментариев) – 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Tegola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По 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RUFLEX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аудитория – 6,1 тыс. чел, число просмотров – 1,4 тыс., вовлеченность – 162.</a:t>
            </a:r>
          </a:p>
        </p:txBody>
      </p:sp>
    </p:spTree>
    <p:extLst>
      <p:ext uri="{BB962C8B-B14F-4D97-AF65-F5344CB8AC3E}">
        <p14:creationId xmlns:p14="http://schemas.microsoft.com/office/powerpoint/2010/main" val="3623368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14:reveal/>
      </p:transition>
    </mc:Choice>
    <mc:Fallback xmlns=""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/>
          <p:cNvGrpSpPr/>
          <p:nvPr/>
        </p:nvGrpSpPr>
        <p:grpSpPr>
          <a:xfrm>
            <a:off x="493485" y="483017"/>
            <a:ext cx="23367999" cy="2079087"/>
            <a:chOff x="5312170" y="483017"/>
            <a:chExt cx="13796525" cy="2079087"/>
          </a:xfrm>
        </p:grpSpPr>
        <p:sp>
          <p:nvSpPr>
            <p:cNvPr id="33" name="TextBox 32"/>
            <p:cNvSpPr txBox="1"/>
            <p:nvPr/>
          </p:nvSpPr>
          <p:spPr>
            <a:xfrm>
              <a:off x="5312170" y="483017"/>
              <a:ext cx="13796525" cy="1323421"/>
            </a:xfrm>
            <a:prstGeom prst="rect">
              <a:avLst/>
            </a:prstGeom>
            <a:noFill/>
          </p:spPr>
          <p:txBody>
            <a:bodyPr wrap="square" lIns="91422" tIns="45711" rIns="91422" bIns="45711" rtlCol="0">
              <a:spAutoFit/>
            </a:bodyPr>
            <a:lstStyle/>
            <a:p>
              <a:pPr algn="ctr"/>
              <a:r>
                <a:rPr lang="ru-RU" sz="8000" b="1" dirty="0">
                  <a:solidFill>
                    <a:srgbClr val="000000"/>
                  </a:solidFill>
                  <a:latin typeface="PF DinDisplay Pro" panose="02000506030000020004" pitchFamily="2" charset="0"/>
                  <a:cs typeface="Open Sans"/>
                </a:rPr>
                <a:t>Заключение</a:t>
              </a:r>
              <a:endParaRPr lang="id-ID" sz="8000" b="1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1412311" y="2470667"/>
              <a:ext cx="1553038" cy="9143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339" tIns="45672" rIns="91339" bIns="45672" rtlCol="0" anchor="ctr"/>
            <a:lstStyle/>
            <a:p>
              <a:pPr algn="ctr"/>
              <a:endParaRPr lang="en-US" dirty="0">
                <a:solidFill>
                  <a:schemeClr val="accent2"/>
                </a:solidFill>
                <a:latin typeface="PF DinDisplay Pro" panose="02000506030000020004" pitchFamily="2" charset="0"/>
              </a:endParaRPr>
            </a:p>
          </p:txBody>
        </p:sp>
        <p:sp>
          <p:nvSpPr>
            <p:cNvPr id="35" name="Subtitle 2"/>
            <p:cNvSpPr txBox="1">
              <a:spLocks/>
            </p:cNvSpPr>
            <p:nvPr/>
          </p:nvSpPr>
          <p:spPr>
            <a:xfrm>
              <a:off x="6361236" y="1634834"/>
              <a:ext cx="11655185" cy="839116"/>
            </a:xfrm>
            <a:prstGeom prst="rect">
              <a:avLst/>
            </a:prstGeom>
          </p:spPr>
          <p:txBody>
            <a:bodyPr vert="horz" lIns="217490" tIns="108745" rIns="217490" bIns="108745" rtlCol="0">
              <a:norm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Open Sans"/>
                <a:buNone/>
                <a:defRPr sz="2400" kern="1200">
                  <a:solidFill>
                    <a:schemeClr val="tx2"/>
                  </a:solidFill>
                  <a:latin typeface="Open Sans"/>
                  <a:ea typeface="+mn-ea"/>
                  <a:cs typeface="Open Sans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Open Sans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Open Sans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31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endParaRPr>
            </a:p>
          </p:txBody>
        </p:sp>
      </p:grpSp>
      <p:sp>
        <p:nvSpPr>
          <p:cNvPr id="17" name="Content Placeholder 2">
            <a:extLst>
              <a:ext uri="{FF2B5EF4-FFF2-40B4-BE49-F238E27FC236}">
                <a16:creationId xmlns="" xmlns:a16="http://schemas.microsoft.com/office/drawing/2014/main" id="{655D268E-C67B-41FF-BCDC-1144DBA9811B}"/>
              </a:ext>
            </a:extLst>
          </p:cNvPr>
          <p:cNvSpPr txBox="1">
            <a:spLocks/>
          </p:cNvSpPr>
          <p:nvPr/>
        </p:nvSpPr>
        <p:spPr bwMode="auto">
          <a:xfrm>
            <a:off x="10578546" y="13259226"/>
            <a:ext cx="3282370" cy="490431"/>
          </a:xfrm>
          <a:prstGeom prst="rect">
            <a:avLst/>
          </a:prstGeom>
        </p:spPr>
        <p:txBody>
          <a:bodyPr wrap="square" lIns="182843" tIns="91422" rIns="182843" bIns="91422" numCol="1" anchor="t" anchorCtr="0" compatLnSpc="1">
            <a:prstTxWarp prst="textNoShape">
              <a:avLst/>
            </a:prstTxWarp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Open Sans"/>
              <a:buNone/>
              <a:defRPr sz="1200" kern="1200">
                <a:solidFill>
                  <a:schemeClr val="accent4"/>
                </a:solidFill>
                <a:latin typeface="Open Sans"/>
                <a:ea typeface="+mn-ea"/>
                <a:cs typeface="Open San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Open Sans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Open Sans"/>
                <a:cs typeface="Open Sans"/>
              </a:rPr>
              <a:t>wbooster.ru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="" xmlns:a16="http://schemas.microsoft.com/office/drawing/2014/main" id="{096E1E1C-42FD-4B10-AFAC-95EFF8947E27}"/>
              </a:ext>
            </a:extLst>
          </p:cNvPr>
          <p:cNvSpPr txBox="1">
            <a:spLocks/>
          </p:cNvSpPr>
          <p:nvPr/>
        </p:nvSpPr>
        <p:spPr>
          <a:xfrm>
            <a:off x="2366216" y="1596860"/>
            <a:ext cx="19741083" cy="839116"/>
          </a:xfrm>
          <a:prstGeom prst="rect">
            <a:avLst/>
          </a:prstGeom>
        </p:spPr>
        <p:txBody>
          <a:bodyPr vert="horz" lIns="217490" tIns="108745" rIns="217490" bIns="108745" rtlCol="0">
            <a:norm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Open Sans"/>
              <a:buNone/>
              <a:defRPr sz="240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Open Sans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Open Sans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200" b="1" dirty="0">
                <a:solidFill>
                  <a:schemeClr val="bg2">
                    <a:lumMod val="65000"/>
                  </a:schemeClr>
                </a:solidFill>
                <a:latin typeface="PF DinDisplay Pro" panose="02000506030000020004" pitchFamily="2" charset="0"/>
                <a:cs typeface="Open Sans"/>
              </a:rPr>
              <a:t>Рекомендации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FC2417A2-BA38-42D6-915B-475E6FABAFD3}"/>
              </a:ext>
            </a:extLst>
          </p:cNvPr>
          <p:cNvSpPr txBox="1"/>
          <p:nvPr/>
        </p:nvSpPr>
        <p:spPr>
          <a:xfrm>
            <a:off x="2270351" y="2490567"/>
            <a:ext cx="20720278" cy="10433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200000"/>
              </a:lnSpc>
              <a:buFont typeface="+mj-lt"/>
              <a:buAutoNum type="arabicPeriod"/>
            </a:pP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Регулярно отслеживать в сети Интернет упоминания бренда и конкурентов, анализировать полученную информацию.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Это позволит своевременно получать сведения о проблемах пользователей, сильных и слабых сторонах продукции бренда и конкурентов, об интересующих аудиторию темах. </a:t>
            </a:r>
          </a:p>
          <a:p>
            <a:pPr algn="just">
              <a:lnSpc>
                <a:spcPct val="200000"/>
              </a:lnSpc>
            </a:pP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2. Размещать  позитивные отзывы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от агентов влияния  на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отзовиках и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геосервисах, а также в соцсетях (комментарии под постами и создание дискуссий).</a:t>
            </a:r>
            <a:endParaRPr lang="en-US" sz="2400" dirty="0">
              <a:solidFill>
                <a:srgbClr val="000000"/>
              </a:solidFill>
              <a:latin typeface="PF DinDisplay Pro" panose="02000506030000020004" pitchFamily="2" charset="0"/>
              <a:cs typeface="Open Sans"/>
            </a:endParaRPr>
          </a:p>
          <a:p>
            <a:pPr algn="just">
              <a:lnSpc>
                <a:spcPct val="200000"/>
              </a:lnSpc>
            </a:pP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3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.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Продолжить размещение публикаций на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популярных площадках, где представлены конкуренты (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vk.com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, 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dzen.ru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, 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rutube.ru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). Размещать различный контент, что поможет увеличить число упоминаний бренда, и расширить аудиторию. </a:t>
            </a:r>
          </a:p>
          <a:p>
            <a:pPr algn="just">
              <a:lnSpc>
                <a:spcPct val="200000"/>
              </a:lnSpc>
            </a:pP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4. Освещать в социальных сетях информации об участии бренда в различных мероприятиях (розыгрыши, скидки, конференции, выставки, спонсорские мероприятия, экскурсии и т.п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.). </a:t>
            </a:r>
            <a:endParaRPr lang="ru-RU" sz="2400" dirty="0">
              <a:solidFill>
                <a:srgbClr val="000000"/>
              </a:solidFill>
              <a:latin typeface="PF DinDisplay Pro" panose="02000506030000020004" pitchFamily="2" charset="0"/>
              <a:cs typeface="Open Sans"/>
            </a:endParaRPr>
          </a:p>
          <a:p>
            <a:pPr algn="just">
              <a:lnSpc>
                <a:spcPct val="200000"/>
              </a:lnSpc>
            </a:pP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ea typeface="Open Sans" panose="020F0502020204030204" pitchFamily="34" charset="0"/>
                <a:cs typeface="Open Sans" panose="02020603050405020304" pitchFamily="18" charset="0"/>
              </a:rPr>
              <a:t>5. 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  <a:ea typeface="Open Sans" panose="020F0502020204030204" pitchFamily="34" charset="0"/>
                <a:cs typeface="Open Sans" panose="02020603050405020304" pitchFamily="18" charset="0"/>
              </a:rPr>
              <a:t>По возможности вести 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ea typeface="Open Sans" panose="020F0502020204030204" pitchFamily="34" charset="0"/>
                <a:cs typeface="Open Sans" panose="02020603050405020304" pitchFamily="18" charset="0"/>
              </a:rPr>
              <a:t>коммуникацию от лица бренда на популярных площадках.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  <a:cs typeface="Open Sans"/>
              </a:rPr>
              <a:t>  Это способствует п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опуляризации бренда и поддержанию  позитивного репутационного  фона, привлекает новых подписчиков.</a:t>
            </a:r>
            <a:endParaRPr lang="en-US" sz="2400" dirty="0">
              <a:solidFill>
                <a:srgbClr val="000000"/>
              </a:solidFill>
              <a:latin typeface="PF DinDisplay Pro" panose="02000506030000020004" pitchFamily="2" charset="0"/>
              <a:cs typeface="Open Sans"/>
            </a:endParaRPr>
          </a:p>
          <a:p>
            <a:pPr algn="just">
              <a:lnSpc>
                <a:spcPct val="200000"/>
              </a:lnSpc>
            </a:pP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6. Размещать в социальных сетях ссылки на позитивные отзывы о продукции </a:t>
            </a:r>
            <a:r>
              <a:rPr lang="en-US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RUFLEX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 или мероприятиях с участием бренда. Делать </a:t>
            </a:r>
            <a:r>
              <a:rPr lang="ru-RU" sz="2400" dirty="0" err="1">
                <a:solidFill>
                  <a:srgbClr val="000000"/>
                </a:solidFill>
                <a:latin typeface="PF DinDisplay Pro" panose="02000506030000020004" pitchFamily="2" charset="0"/>
              </a:rPr>
              <a:t>репосты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 со страниц пользователей, стимулируя лояльных клиентов высказывать позитив о бренде.</a:t>
            </a:r>
          </a:p>
          <a:p>
            <a:pPr algn="just">
              <a:lnSpc>
                <a:spcPct val="200000"/>
              </a:lnSpc>
            </a:pP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7. Размещать в социальных сетях полезный контент – статьи / посты о выборе и правильном монтаже черепицы, преимуществах продукта по сравнению с продуктами конкурентов, полезных сервисах и т.п.  Полезный контент с неявной рекламой распространяется лучше, чем очевидная реклама – пользователи активно </a:t>
            </a:r>
            <a:r>
              <a:rPr lang="ru-RU" sz="2400" dirty="0" err="1">
                <a:solidFill>
                  <a:srgbClr val="000000"/>
                </a:solidFill>
                <a:latin typeface="PF DinDisplay Pro" panose="02000506030000020004" pitchFamily="2" charset="0"/>
              </a:rPr>
              <a:t>репостят</a:t>
            </a:r>
            <a:r>
              <a:rPr lang="ru-RU" sz="2400" dirty="0">
                <a:solidFill>
                  <a:srgbClr val="000000"/>
                </a:solidFill>
                <a:latin typeface="PF DinDisplay Pro" panose="02000506030000020004" pitchFamily="2" charset="0"/>
              </a:rPr>
              <a:t> данные публикации, увеличивая аудиторию просмотров сообществ бренда</a:t>
            </a:r>
            <a:r>
              <a:rPr lang="ru-RU" sz="2400" dirty="0" smtClean="0">
                <a:solidFill>
                  <a:srgbClr val="000000"/>
                </a:solidFill>
                <a:latin typeface="PF DinDisplay Pro" panose="02000506030000020004" pitchFamily="2" charset="0"/>
              </a:rPr>
              <a:t>.</a:t>
            </a:r>
            <a:endParaRPr lang="ru-RU" sz="2400" dirty="0">
              <a:solidFill>
                <a:srgbClr val="000000"/>
              </a:solidFill>
              <a:latin typeface="PF DinDisplay Pro" panose="0200050603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7991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efault Theme">
  <a:themeElements>
    <a:clrScheme name="motagua light prueba">
      <a:dk1>
        <a:srgbClr val="445469"/>
      </a:dk1>
      <a:lt1>
        <a:sysClr val="window" lastClr="FFFFFF"/>
      </a:lt1>
      <a:dk2>
        <a:srgbClr val="445469"/>
      </a:dk2>
      <a:lt2>
        <a:srgbClr val="FFFFFF"/>
      </a:lt2>
      <a:accent1>
        <a:srgbClr val="1EA185"/>
      </a:accent1>
      <a:accent2>
        <a:srgbClr val="9BBB5C"/>
      </a:accent2>
      <a:accent3>
        <a:srgbClr val="F29B26"/>
      </a:accent3>
      <a:accent4>
        <a:srgbClr val="BD392F"/>
      </a:accent4>
      <a:accent5>
        <a:srgbClr val="445469"/>
      </a:accent5>
      <a:accent6>
        <a:srgbClr val="445469"/>
      </a:accent6>
      <a:hlink>
        <a:srgbClr val="F33B48"/>
      </a:hlink>
      <a:folHlink>
        <a:srgbClr val="FFC000"/>
      </a:folHlink>
    </a:clrScheme>
    <a:fontScheme name="Custom 1">
      <a:majorFont>
        <a:latin typeface="Lato"/>
        <a:ea typeface=""/>
        <a:cs typeface=""/>
      </a:majorFont>
      <a:minorFont>
        <a:latin typeface="Lat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Foundry.thmx</Template>
  <TotalTime>82287</TotalTime>
  <Words>5702</Words>
  <Application>Microsoft Office PowerPoint</Application>
  <PresentationFormat>Произвольный</PresentationFormat>
  <Paragraphs>959</Paragraphs>
  <Slides>61</Slides>
  <Notes>5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61</vt:i4>
      </vt:variant>
    </vt:vector>
  </HeadingPairs>
  <TitlesOfParts>
    <vt:vector size="62" baseType="lpstr">
      <vt:lpstr>Default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user1</dc:creator>
  <cp:lastModifiedBy>Olga</cp:lastModifiedBy>
  <cp:revision>15602</cp:revision>
  <dcterms:created xsi:type="dcterms:W3CDTF">2014-11-12T21:47:38Z</dcterms:created>
  <dcterms:modified xsi:type="dcterms:W3CDTF">2026-08-17T05:54:23Z</dcterms:modified>
</cp:coreProperties>
</file>